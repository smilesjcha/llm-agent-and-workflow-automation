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7b6252eb6748ea" /><Relationship Type="http://schemas.openxmlformats.org/officeDocument/2006/relationships/extended-properties" Target="/docProps/app.xml" Id="Re3cbd963633849ef" /><Relationship Type="http://schemas.openxmlformats.org/officeDocument/2006/relationships/officeDocument" Target="/ppt/presentation.xml" Id="R7fd55aa6be2e4948" /></Relationships>
</file>

<file path=ppt/presentation.xml><?xml version="1.0" encoding="utf-8"?>
<p:presentation xmlns:p="http://schemas.openxmlformats.org/presentationml/2006/main">
  <p:sldMasterIdLst>
    <p:sldMasterId xmlns:r="http://schemas.openxmlformats.org/officeDocument/2006/relationships" id="2147483648" r:id="R643fa299c8184d29"/>
  </p:sldMasterIdLst>
  <p:notesMasterIdLst>
    <p:notesMasterId xmlns:r="http://schemas.openxmlformats.org/officeDocument/2006/relationships" r:id="R44b0e1bb27214c2b"/>
  </p:notesMasterIdLst>
  <p:sldIdLst>
    <p:sldId xmlns:r="http://schemas.openxmlformats.org/officeDocument/2006/relationships" id="256" r:id="R871ce86a69ca497a"/>
    <p:sldId xmlns:r="http://schemas.openxmlformats.org/officeDocument/2006/relationships" id="257" r:id="Re98fb7e03aaa4280"/>
    <p:sldId xmlns:r="http://schemas.openxmlformats.org/officeDocument/2006/relationships" id="258" r:id="R15e89611af29447c"/>
    <p:sldId xmlns:r="http://schemas.openxmlformats.org/officeDocument/2006/relationships" id="259" r:id="R6179904a76bc41af"/>
    <p:sldId xmlns:r="http://schemas.openxmlformats.org/officeDocument/2006/relationships" id="260" r:id="R387b8abf0313423b"/>
    <p:sldId xmlns:r="http://schemas.openxmlformats.org/officeDocument/2006/relationships" id="261" r:id="R429a5e04b5b44b40"/>
    <p:sldId xmlns:r="http://schemas.openxmlformats.org/officeDocument/2006/relationships" id="262" r:id="Rf3f61aa5e5f4472e"/>
    <p:sldId xmlns:r="http://schemas.openxmlformats.org/officeDocument/2006/relationships" id="263" r:id="R982282774ee14da5"/>
    <p:sldId xmlns:r="http://schemas.openxmlformats.org/officeDocument/2006/relationships" id="264" r:id="R1a72aa4034564c94"/>
    <p:sldId xmlns:r="http://schemas.openxmlformats.org/officeDocument/2006/relationships" id="265" r:id="R3700783576a944f3"/>
    <p:sldId xmlns:r="http://schemas.openxmlformats.org/officeDocument/2006/relationships" id="266" r:id="R0de9290a5bdd4a36"/>
    <p:sldId xmlns:r="http://schemas.openxmlformats.org/officeDocument/2006/relationships" id="267" r:id="R1a84a3b303024cef"/>
    <p:sldId xmlns:r="http://schemas.openxmlformats.org/officeDocument/2006/relationships" id="268" r:id="R220bee31f93e49ed"/>
    <p:sldId xmlns:r="http://schemas.openxmlformats.org/officeDocument/2006/relationships" id="269" r:id="Rdf74f5a379bb4027"/>
    <p:sldId xmlns:r="http://schemas.openxmlformats.org/officeDocument/2006/relationships" id="270" r:id="Rd741498513f84ab8"/>
    <p:sldId xmlns:r="http://schemas.openxmlformats.org/officeDocument/2006/relationships" id="271" r:id="Rfce9364ab2d64b2d"/>
    <p:sldId xmlns:r="http://schemas.openxmlformats.org/officeDocument/2006/relationships" id="272" r:id="Rc1dffb21b32841d6"/>
    <p:sldId xmlns:r="http://schemas.openxmlformats.org/officeDocument/2006/relationships" id="273" r:id="R0b8ab4d857994cd8"/>
    <p:sldId xmlns:r="http://schemas.openxmlformats.org/officeDocument/2006/relationships" id="274" r:id="Re5cd22c4693049aa"/>
    <p:sldId xmlns:r="http://schemas.openxmlformats.org/officeDocument/2006/relationships" id="275" r:id="R2da11247586c4f5a"/>
    <p:sldId xmlns:r="http://schemas.openxmlformats.org/officeDocument/2006/relationships" id="276" r:id="Rf15b3d23fce54a23"/>
    <p:sldId xmlns:r="http://schemas.openxmlformats.org/officeDocument/2006/relationships" id="277" r:id="Rc53f52ad76ff4a6f"/>
    <p:sldId xmlns:r="http://schemas.openxmlformats.org/officeDocument/2006/relationships" id="278" r:id="R1d12cd3a579c4a22"/>
    <p:sldId xmlns:r="http://schemas.openxmlformats.org/officeDocument/2006/relationships" id="279" r:id="R5b5c19e5b7f34a9b"/>
    <p:sldId xmlns:r="http://schemas.openxmlformats.org/officeDocument/2006/relationships" id="280" r:id="R9c664f407fbd4406"/>
    <p:sldId xmlns:r="http://schemas.openxmlformats.org/officeDocument/2006/relationships" id="281" r:id="Rd75acde66efb43d4"/>
    <p:sldId xmlns:r="http://schemas.openxmlformats.org/officeDocument/2006/relationships" id="282" r:id="Rcb4c033b33024246"/>
    <p:sldId xmlns:r="http://schemas.openxmlformats.org/officeDocument/2006/relationships" id="283" r:id="R7982800ab1054300"/>
    <p:sldId xmlns:r="http://schemas.openxmlformats.org/officeDocument/2006/relationships" id="284" r:id="R04d1c47be5574a53"/>
    <p:sldId xmlns:r="http://schemas.openxmlformats.org/officeDocument/2006/relationships" id="285" r:id="R2dc4dd32a35b472f"/>
    <p:sldId xmlns:r="http://schemas.openxmlformats.org/officeDocument/2006/relationships" id="286" r:id="R65a9e78a470f48f2"/>
    <p:sldId xmlns:r="http://schemas.openxmlformats.org/officeDocument/2006/relationships" id="287" r:id="R60014351cab94d10"/>
    <p:sldId xmlns:r="http://schemas.openxmlformats.org/officeDocument/2006/relationships" id="288" r:id="Ra6df40a3051f4718"/>
    <p:sldId xmlns:r="http://schemas.openxmlformats.org/officeDocument/2006/relationships" id="289" r:id="R2c4bd19a28e14977"/>
    <p:sldId xmlns:r="http://schemas.openxmlformats.org/officeDocument/2006/relationships" id="290" r:id="R352e4374afff4c73"/>
    <p:sldId xmlns:r="http://schemas.openxmlformats.org/officeDocument/2006/relationships" id="291" r:id="Rf2b647e7ce3a48e8"/>
    <p:sldId xmlns:r="http://schemas.openxmlformats.org/officeDocument/2006/relationships" id="292" r:id="Rcfcf636a2d8a4e79"/>
    <p:sldId xmlns:r="http://schemas.openxmlformats.org/officeDocument/2006/relationships" id="293" r:id="R3b81c25f3e4d4d11"/>
    <p:sldId xmlns:r="http://schemas.openxmlformats.org/officeDocument/2006/relationships" id="294" r:id="R83813ed8f9ee40f7"/>
    <p:sldId xmlns:r="http://schemas.openxmlformats.org/officeDocument/2006/relationships" id="295" r:id="Re417dd6b5eba4bbe"/>
    <p:sldId xmlns:r="http://schemas.openxmlformats.org/officeDocument/2006/relationships" id="296" r:id="R154186dda385461f"/>
    <p:sldId xmlns:r="http://schemas.openxmlformats.org/officeDocument/2006/relationships" id="297" r:id="R94855b748f40474e"/>
    <p:sldId xmlns:r="http://schemas.openxmlformats.org/officeDocument/2006/relationships" id="298" r:id="R42efa6ec7b5940cd"/>
    <p:sldId xmlns:r="http://schemas.openxmlformats.org/officeDocument/2006/relationships" id="299" r:id="Rf47a011d65124710"/>
    <p:sldId xmlns:r="http://schemas.openxmlformats.org/officeDocument/2006/relationships" id="300" r:id="R3165f74965514a3c"/>
    <p:sldId xmlns:r="http://schemas.openxmlformats.org/officeDocument/2006/relationships" id="301" r:id="R981f73e870eb4074"/>
    <p:sldId xmlns:r="http://schemas.openxmlformats.org/officeDocument/2006/relationships" id="302" r:id="R6990c5b4aa46430f"/>
    <p:sldId xmlns:r="http://schemas.openxmlformats.org/officeDocument/2006/relationships" id="303" r:id="Re0aee33c225f471e"/>
    <p:sldId xmlns:r="http://schemas.openxmlformats.org/officeDocument/2006/relationships" id="304" r:id="R9fcc28e9b7e64f40"/>
    <p:sldId xmlns:r="http://schemas.openxmlformats.org/officeDocument/2006/relationships" id="305" r:id="Ra9ae595ef4744368"/>
    <p:sldId xmlns:r="http://schemas.openxmlformats.org/officeDocument/2006/relationships" id="306" r:id="Rf2b68dca23944113"/>
    <p:sldId xmlns:r="http://schemas.openxmlformats.org/officeDocument/2006/relationships" id="307" r:id="Rb23ad3ea76624554"/>
    <p:sldId xmlns:r="http://schemas.openxmlformats.org/officeDocument/2006/relationships" id="308" r:id="Rfac469f346b245a4"/>
    <p:sldId xmlns:r="http://schemas.openxmlformats.org/officeDocument/2006/relationships" id="309" r:id="R10a2570cdeea4ed9"/>
    <p:sldId xmlns:r="http://schemas.openxmlformats.org/officeDocument/2006/relationships" id="310" r:id="R2572275d1e8b427d"/>
    <p:sldId xmlns:r="http://schemas.openxmlformats.org/officeDocument/2006/relationships" id="311" r:id="Rb9294b3b453b48cc"/>
    <p:sldId xmlns:r="http://schemas.openxmlformats.org/officeDocument/2006/relationships" id="312" r:id="Rc6988522e20a40d7"/>
    <p:sldId xmlns:r="http://schemas.openxmlformats.org/officeDocument/2006/relationships" id="313" r:id="Raceece3f86b14406"/>
    <p:sldId xmlns:r="http://schemas.openxmlformats.org/officeDocument/2006/relationships" id="314" r:id="R895ad96f6159464c"/>
    <p:sldId xmlns:r="http://schemas.openxmlformats.org/officeDocument/2006/relationships" id="315" r:id="R780b252684b34f0b"/>
    <p:sldId xmlns:r="http://schemas.openxmlformats.org/officeDocument/2006/relationships" id="316" r:id="Rd11e8298cc6f49f9"/>
    <p:sldId xmlns:r="http://schemas.openxmlformats.org/officeDocument/2006/relationships" id="317" r:id="Rb4bc697acb634e57"/>
    <p:sldId xmlns:r="http://schemas.openxmlformats.org/officeDocument/2006/relationships" id="318" r:id="R2de977cb08d04861"/>
    <p:sldId xmlns:r="http://schemas.openxmlformats.org/officeDocument/2006/relationships" id="319" r:id="R51b7cee558ac4a59"/>
    <p:sldId xmlns:r="http://schemas.openxmlformats.org/officeDocument/2006/relationships" id="320" r:id="R301a5b773b7f44e3"/>
    <p:sldId xmlns:r="http://schemas.openxmlformats.org/officeDocument/2006/relationships" id="321" r:id="Rffc8265663fc48f5"/>
    <p:sldId xmlns:r="http://schemas.openxmlformats.org/officeDocument/2006/relationships" id="322" r:id="Rb7c0b724f7c94786"/>
    <p:sldId xmlns:r="http://schemas.openxmlformats.org/officeDocument/2006/relationships" id="323" r:id="R3cbaa2ab83df43e5"/>
    <p:sldId xmlns:r="http://schemas.openxmlformats.org/officeDocument/2006/relationships" id="324" r:id="Re3e9bc8af79b44a2"/>
    <p:sldId xmlns:r="http://schemas.openxmlformats.org/officeDocument/2006/relationships" id="325" r:id="Rbe5d0de3a9d841ca"/>
    <p:sldId xmlns:r="http://schemas.openxmlformats.org/officeDocument/2006/relationships" id="326" r:id="Reb00851cf2f94eb7"/>
    <p:sldId xmlns:r="http://schemas.openxmlformats.org/officeDocument/2006/relationships" id="327" r:id="R120537dd43c34d90"/>
    <p:sldId xmlns:r="http://schemas.openxmlformats.org/officeDocument/2006/relationships" id="328" r:id="R89b07ca87d694960"/>
    <p:sldId xmlns:r="http://schemas.openxmlformats.org/officeDocument/2006/relationships" id="329" r:id="Rd35bf50ddff14e3a"/>
    <p:sldId xmlns:r="http://schemas.openxmlformats.org/officeDocument/2006/relationships" id="330" r:id="Rde3d1b01b8334127"/>
    <p:sldId xmlns:r="http://schemas.openxmlformats.org/officeDocument/2006/relationships" id="331" r:id="Rb124b105887e4396"/>
    <p:sldId xmlns:r="http://schemas.openxmlformats.org/officeDocument/2006/relationships" id="332" r:id="Re229dad70fc6446b"/>
    <p:sldId xmlns:r="http://schemas.openxmlformats.org/officeDocument/2006/relationships" id="333" r:id="R123c284411ba43d4"/>
    <p:sldId xmlns:r="http://schemas.openxmlformats.org/officeDocument/2006/relationships" id="334" r:id="Rb212d036df2643bd"/>
    <p:sldId xmlns:r="http://schemas.openxmlformats.org/officeDocument/2006/relationships" id="335" r:id="R27c555f308fb48fe"/>
    <p:sldId xmlns:r="http://schemas.openxmlformats.org/officeDocument/2006/relationships" id="336" r:id="Rd9aa8bc3565c47e6"/>
    <p:sldId xmlns:r="http://schemas.openxmlformats.org/officeDocument/2006/relationships" id="337" r:id="R088e470cb1f44e31"/>
    <p:sldId xmlns:r="http://schemas.openxmlformats.org/officeDocument/2006/relationships" id="338" r:id="R53b247c26d18424f"/>
    <p:sldId xmlns:r="http://schemas.openxmlformats.org/officeDocument/2006/relationships" id="339" r:id="R3f1ddd9a5ef440b4"/>
    <p:sldId xmlns:r="http://schemas.openxmlformats.org/officeDocument/2006/relationships" id="340" r:id="R5946c9f44bc641d7"/>
    <p:sldId xmlns:r="http://schemas.openxmlformats.org/officeDocument/2006/relationships" id="341" r:id="R4aa3b9b238f54923"/>
    <p:sldId xmlns:r="http://schemas.openxmlformats.org/officeDocument/2006/relationships" id="342" r:id="Rd18c4cd538f0426e"/>
    <p:sldId xmlns:r="http://schemas.openxmlformats.org/officeDocument/2006/relationships" id="343" r:id="Ra13ec330c6b74b28"/>
    <p:sldId xmlns:r="http://schemas.openxmlformats.org/officeDocument/2006/relationships" id="344" r:id="R3e00ed7c63ab40d3"/>
    <p:sldId xmlns:r="http://schemas.openxmlformats.org/officeDocument/2006/relationships" id="345" r:id="Rafcc2d1c149e4e62"/>
    <p:sldId xmlns:r="http://schemas.openxmlformats.org/officeDocument/2006/relationships" id="346" r:id="Re3a1df9f07654478"/>
    <p:sldId xmlns:r="http://schemas.openxmlformats.org/officeDocument/2006/relationships" id="347" r:id="R01fc612c69b340be"/>
    <p:sldId xmlns:r="http://schemas.openxmlformats.org/officeDocument/2006/relationships" id="348" r:id="Rafc2656a8f4a41a4"/>
    <p:sldId xmlns:r="http://schemas.openxmlformats.org/officeDocument/2006/relationships" id="349" r:id="R8ce13ea08b6b4df7"/>
    <p:sldId xmlns:r="http://schemas.openxmlformats.org/officeDocument/2006/relationships" id="350" r:id="Rdba2dc25fcac4678"/>
    <p:sldId xmlns:r="http://schemas.openxmlformats.org/officeDocument/2006/relationships" id="351" r:id="R62f7822d2637411e"/>
    <p:sldId xmlns:r="http://schemas.openxmlformats.org/officeDocument/2006/relationships" id="352" r:id="Rff0e769b3fe144c2"/>
    <p:sldId xmlns:r="http://schemas.openxmlformats.org/officeDocument/2006/relationships" id="353" r:id="R8b0e247cebab494e"/>
    <p:sldId xmlns:r="http://schemas.openxmlformats.org/officeDocument/2006/relationships" id="354" r:id="R4c8ba693f3504ec7"/>
    <p:sldId xmlns:r="http://schemas.openxmlformats.org/officeDocument/2006/relationships" id="355" r:id="R073f3833b5834595"/>
    <p:sldId xmlns:r="http://schemas.openxmlformats.org/officeDocument/2006/relationships" id="356" r:id="Rd81d102767054a2c"/>
    <p:sldId xmlns:r="http://schemas.openxmlformats.org/officeDocument/2006/relationships" id="357" r:id="Rb0b1c2ebe0224e8f"/>
    <p:sldId xmlns:r="http://schemas.openxmlformats.org/officeDocument/2006/relationships" id="358" r:id="R5af0069d5d9a4d2e"/>
    <p:sldId xmlns:r="http://schemas.openxmlformats.org/officeDocument/2006/relationships" id="359" r:id="R010f8f4dbcaa4541"/>
    <p:sldId xmlns:r="http://schemas.openxmlformats.org/officeDocument/2006/relationships" id="360" r:id="Rc79c1f91b35f4728"/>
    <p:sldId xmlns:r="http://schemas.openxmlformats.org/officeDocument/2006/relationships" id="361" r:id="Rc379428e015d4670"/>
    <p:sldId xmlns:r="http://schemas.openxmlformats.org/officeDocument/2006/relationships" id="362" r:id="Re8a39113562944cc"/>
    <p:sldId xmlns:r="http://schemas.openxmlformats.org/officeDocument/2006/relationships" id="363" r:id="R05c4e8c6118b40ef"/>
    <p:sldId xmlns:r="http://schemas.openxmlformats.org/officeDocument/2006/relationships" id="364" r:id="R9dd8ecf426a4403f"/>
    <p:sldId xmlns:r="http://schemas.openxmlformats.org/officeDocument/2006/relationships" id="365" r:id="R80d2b435ba2b42f2"/>
    <p:sldId xmlns:r="http://schemas.openxmlformats.org/officeDocument/2006/relationships" id="366" r:id="R0809f5e5fd914c58"/>
    <p:sldId xmlns:r="http://schemas.openxmlformats.org/officeDocument/2006/relationships" id="367" r:id="Rfff0c056c4734f92"/>
    <p:sldId xmlns:r="http://schemas.openxmlformats.org/officeDocument/2006/relationships" id="368" r:id="Rcacf28352f4946d8"/>
    <p:sldId xmlns:r="http://schemas.openxmlformats.org/officeDocument/2006/relationships" id="369" r:id="R688dcfa437bc4ec9"/>
    <p:sldId xmlns:r="http://schemas.openxmlformats.org/officeDocument/2006/relationships" id="370" r:id="R5bb4321de7744bcf"/>
    <p:sldId xmlns:r="http://schemas.openxmlformats.org/officeDocument/2006/relationships" id="371" r:id="Rbe1c0d62b47a454d"/>
    <p:sldId xmlns:r="http://schemas.openxmlformats.org/officeDocument/2006/relationships" id="372" r:id="Re4dbca7120164090"/>
    <p:sldId xmlns:r="http://schemas.openxmlformats.org/officeDocument/2006/relationships" id="373" r:id="R800d56119176480d"/>
    <p:sldId xmlns:r="http://schemas.openxmlformats.org/officeDocument/2006/relationships" id="374" r:id="R153c024b55664ef1"/>
    <p:sldId xmlns:r="http://schemas.openxmlformats.org/officeDocument/2006/relationships" id="375" r:id="R91da55f071d54fc7"/>
    <p:sldId xmlns:r="http://schemas.openxmlformats.org/officeDocument/2006/relationships" id="376" r:id="Rf304cbf4de2a486b"/>
    <p:sldId xmlns:r="http://schemas.openxmlformats.org/officeDocument/2006/relationships" id="377" r:id="Rc37f554ae77b4f04"/>
    <p:sldId xmlns:r="http://schemas.openxmlformats.org/officeDocument/2006/relationships" id="378" r:id="R916c11c5089d4ffc"/>
    <p:sldId xmlns:r="http://schemas.openxmlformats.org/officeDocument/2006/relationships" id="379" r:id="R1f49e6c1bd9b4f75"/>
    <p:sldId xmlns:r="http://schemas.openxmlformats.org/officeDocument/2006/relationships" id="380" r:id="Rb6bd8e8ea649495c"/>
    <p:sldId xmlns:r="http://schemas.openxmlformats.org/officeDocument/2006/relationships" id="381" r:id="Ra53c5ffd4f854d23"/>
    <p:sldId xmlns:r="http://schemas.openxmlformats.org/officeDocument/2006/relationships" id="382" r:id="R2ecfa00262644b00"/>
    <p:sldId xmlns:r="http://schemas.openxmlformats.org/officeDocument/2006/relationships" id="383" r:id="R4b716f41a6fb4869"/>
    <p:sldId xmlns:r="http://schemas.openxmlformats.org/officeDocument/2006/relationships" id="384" r:id="R385909a8aede4d40"/>
    <p:sldId xmlns:r="http://schemas.openxmlformats.org/officeDocument/2006/relationships" id="385" r:id="R2a1a4cb2d233494c"/>
    <p:sldId xmlns:r="http://schemas.openxmlformats.org/officeDocument/2006/relationships" id="386" r:id="R9c46acc11e5e402b"/>
    <p:sldId xmlns:r="http://schemas.openxmlformats.org/officeDocument/2006/relationships" id="387" r:id="Rcaec0183657f4ac8"/>
    <p:sldId xmlns:r="http://schemas.openxmlformats.org/officeDocument/2006/relationships" id="388" r:id="R61b8b28c84664b01"/>
    <p:sldId xmlns:r="http://schemas.openxmlformats.org/officeDocument/2006/relationships" id="389" r:id="R49b914ed660d471f"/>
    <p:sldId xmlns:r="http://schemas.openxmlformats.org/officeDocument/2006/relationships" id="390" r:id="R035653e6d5b7448c"/>
    <p:sldId xmlns:r="http://schemas.openxmlformats.org/officeDocument/2006/relationships" id="391" r:id="R5bc439c430ee4947"/>
    <p:sldId xmlns:r="http://schemas.openxmlformats.org/officeDocument/2006/relationships" id="392" r:id="R07d5343e67b84a57"/>
    <p:sldId xmlns:r="http://schemas.openxmlformats.org/officeDocument/2006/relationships" id="393" r:id="R8ebb14fb71d6450f"/>
    <p:sldId xmlns:r="http://schemas.openxmlformats.org/officeDocument/2006/relationships" id="394" r:id="R8e33056299ff449b"/>
    <p:sldId xmlns:r="http://schemas.openxmlformats.org/officeDocument/2006/relationships" id="395" r:id="R98e257609ab04005"/>
    <p:sldId xmlns:r="http://schemas.openxmlformats.org/officeDocument/2006/relationships" id="396" r:id="R7e73d1265a4149f2"/>
    <p:sldId xmlns:r="http://schemas.openxmlformats.org/officeDocument/2006/relationships" id="397" r:id="Rc9bb67fed05644fa"/>
    <p:sldId xmlns:r="http://schemas.openxmlformats.org/officeDocument/2006/relationships" id="398" r:id="Rd2be94cad6044aad"/>
    <p:sldId xmlns:r="http://schemas.openxmlformats.org/officeDocument/2006/relationships" id="399" r:id="R28c5c1d39dc84680"/>
    <p:sldId xmlns:r="http://schemas.openxmlformats.org/officeDocument/2006/relationships" id="400" r:id="R3d33fdfe792c4980"/>
    <p:sldId xmlns:r="http://schemas.openxmlformats.org/officeDocument/2006/relationships" id="401" r:id="R6c4d3cb5f6b64dfb"/>
    <p:sldId xmlns:r="http://schemas.openxmlformats.org/officeDocument/2006/relationships" id="402" r:id="R70eb8a7226504216"/>
    <p:sldId xmlns:r="http://schemas.openxmlformats.org/officeDocument/2006/relationships" id="403" r:id="Rdb9b9f3203d44f49"/>
    <p:sldId xmlns:r="http://schemas.openxmlformats.org/officeDocument/2006/relationships" id="404" r:id="R4b02046d87ba4419"/>
    <p:sldId xmlns:r="http://schemas.openxmlformats.org/officeDocument/2006/relationships" id="405" r:id="Re5ec7b9ef6bf4d88"/>
    <p:sldId xmlns:r="http://schemas.openxmlformats.org/officeDocument/2006/relationships" id="406" r:id="R5f95355cef274af2"/>
    <p:sldId xmlns:r="http://schemas.openxmlformats.org/officeDocument/2006/relationships" id="407" r:id="Rb8b3d1ce44ec4f32"/>
    <p:sldId xmlns:r="http://schemas.openxmlformats.org/officeDocument/2006/relationships" id="408" r:id="Ra74c030587ae43bc"/>
    <p:sldId xmlns:r="http://schemas.openxmlformats.org/officeDocument/2006/relationships" id="409" r:id="Rffa42318a49f4189"/>
    <p:sldId xmlns:r="http://schemas.openxmlformats.org/officeDocument/2006/relationships" id="410" r:id="R09788612621341ce"/>
    <p:sldId xmlns:r="http://schemas.openxmlformats.org/officeDocument/2006/relationships" id="411" r:id="Rbd7affb967ca42de"/>
    <p:sldId xmlns:r="http://schemas.openxmlformats.org/officeDocument/2006/relationships" id="412" r:id="Rcdb9c2cf44fe46aa"/>
    <p:sldId xmlns:r="http://schemas.openxmlformats.org/officeDocument/2006/relationships" id="413" r:id="R37898e30b1f34b9b"/>
    <p:sldId xmlns:r="http://schemas.openxmlformats.org/officeDocument/2006/relationships" id="414" r:id="R58dc8df8fcff4337"/>
    <p:sldId xmlns:r="http://schemas.openxmlformats.org/officeDocument/2006/relationships" id="415" r:id="Rcec73d7ac56347ff"/>
    <p:sldId xmlns:r="http://schemas.openxmlformats.org/officeDocument/2006/relationships" id="416" r:id="Rb35986a756bb408a"/>
    <p:sldId xmlns:r="http://schemas.openxmlformats.org/officeDocument/2006/relationships" id="417" r:id="R7b40fa0446d8402b"/>
    <p:sldId xmlns:r="http://schemas.openxmlformats.org/officeDocument/2006/relationships" id="418" r:id="R9c18a2ee701a4be1"/>
    <p:sldId xmlns:r="http://schemas.openxmlformats.org/officeDocument/2006/relationships" id="419" r:id="Rdc57c7ec5cff4102"/>
    <p:sldId xmlns:r="http://schemas.openxmlformats.org/officeDocument/2006/relationships" id="420" r:id="Rb86ff385371042b4"/>
    <p:sldId xmlns:r="http://schemas.openxmlformats.org/officeDocument/2006/relationships" id="421" r:id="R642dce44b14d4574"/>
    <p:sldId xmlns:r="http://schemas.openxmlformats.org/officeDocument/2006/relationships" id="422" r:id="R1ef012bc96d84ee1"/>
    <p:sldId xmlns:r="http://schemas.openxmlformats.org/officeDocument/2006/relationships" id="423" r:id="R53757b1bfec44920"/>
    <p:sldId xmlns:r="http://schemas.openxmlformats.org/officeDocument/2006/relationships" id="424" r:id="Rf1284cddaa0e4164"/>
    <p:sldId xmlns:r="http://schemas.openxmlformats.org/officeDocument/2006/relationships" id="425" r:id="R207121dca6474141"/>
    <p:sldId xmlns:r="http://schemas.openxmlformats.org/officeDocument/2006/relationships" id="426" r:id="R5a0aea893ec646c8"/>
    <p:sldId xmlns:r="http://schemas.openxmlformats.org/officeDocument/2006/relationships" id="427" r:id="R1399dd6f04a549be"/>
    <p:sldId xmlns:r="http://schemas.openxmlformats.org/officeDocument/2006/relationships" id="428" r:id="R49d1daac966b49ee"/>
    <p:sldId xmlns:r="http://schemas.openxmlformats.org/officeDocument/2006/relationships" id="429" r:id="R9bf23c3389f54862"/>
    <p:sldId xmlns:r="http://schemas.openxmlformats.org/officeDocument/2006/relationships" id="430" r:id="Ra939c0ef19d1471a"/>
    <p:sldId xmlns:r="http://schemas.openxmlformats.org/officeDocument/2006/relationships" id="431" r:id="Rd53ce78cb8f94184"/>
    <p:sldId xmlns:r="http://schemas.openxmlformats.org/officeDocument/2006/relationships" id="432" r:id="Re7c58855d5114a41"/>
    <p:sldId xmlns:r="http://schemas.openxmlformats.org/officeDocument/2006/relationships" id="433" r:id="Rd1c98ede28b44d95"/>
    <p:sldId xmlns:r="http://schemas.openxmlformats.org/officeDocument/2006/relationships" id="434" r:id="Rb4675b981fa244c8"/>
    <p:sldId xmlns:r="http://schemas.openxmlformats.org/officeDocument/2006/relationships" id="435" r:id="R7cd236daf67a4f9f"/>
    <p:sldId xmlns:r="http://schemas.openxmlformats.org/officeDocument/2006/relationships" id="436" r:id="R9f7e16b31d6f41c9"/>
    <p:sldId xmlns:r="http://schemas.openxmlformats.org/officeDocument/2006/relationships" id="437" r:id="R89b5211f7dc24751"/>
    <p:sldId xmlns:r="http://schemas.openxmlformats.org/officeDocument/2006/relationships" id="438" r:id="Rf67f63eb6515438a"/>
    <p:sldId xmlns:r="http://schemas.openxmlformats.org/officeDocument/2006/relationships" id="439" r:id="Rdc33c856f6d542bd"/>
    <p:sldId xmlns:r="http://schemas.openxmlformats.org/officeDocument/2006/relationships" id="440" r:id="R443e0f841815412f"/>
    <p:sldId xmlns:r="http://schemas.openxmlformats.org/officeDocument/2006/relationships" id="441" r:id="R4f4fc6c13d6a47cc"/>
    <p:sldId xmlns:r="http://schemas.openxmlformats.org/officeDocument/2006/relationships" id="442" r:id="R6a45a983a9c24a38"/>
    <p:sldId xmlns:r="http://schemas.openxmlformats.org/officeDocument/2006/relationships" id="443" r:id="R169e43be8750456f"/>
    <p:sldId xmlns:r="http://schemas.openxmlformats.org/officeDocument/2006/relationships" id="444" r:id="R6edb5ca3d4324c9a"/>
    <p:sldId xmlns:r="http://schemas.openxmlformats.org/officeDocument/2006/relationships" id="445" r:id="Rebd92095c96941b6"/>
    <p:sldId xmlns:r="http://schemas.openxmlformats.org/officeDocument/2006/relationships" id="446" r:id="Ra1222299eee84f95"/>
    <p:sldId xmlns:r="http://schemas.openxmlformats.org/officeDocument/2006/relationships" id="447" r:id="R3ae216c2091e49c7"/>
    <p:sldId xmlns:r="http://schemas.openxmlformats.org/officeDocument/2006/relationships" id="448" r:id="Re7c2d718033d4494"/>
    <p:sldId xmlns:r="http://schemas.openxmlformats.org/officeDocument/2006/relationships" id="449" r:id="R50ab8587f3184620"/>
    <p:sldId xmlns:r="http://schemas.openxmlformats.org/officeDocument/2006/relationships" id="450" r:id="Rf5f56a7178e044c2"/>
    <p:sldId xmlns:r="http://schemas.openxmlformats.org/officeDocument/2006/relationships" id="451" r:id="R0ad56706e0594fd4"/>
    <p:sldId xmlns:r="http://schemas.openxmlformats.org/officeDocument/2006/relationships" id="452" r:id="R77eace9bf86e4754"/>
    <p:sldId xmlns:r="http://schemas.openxmlformats.org/officeDocument/2006/relationships" id="453" r:id="Rb2b85eaed41841f5"/>
    <p:sldId xmlns:r="http://schemas.openxmlformats.org/officeDocument/2006/relationships" id="454" r:id="R5faa15f7e22a47b8"/>
    <p:sldId xmlns:r="http://schemas.openxmlformats.org/officeDocument/2006/relationships" id="455" r:id="R5588ddab650e4e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9adfda89794c4a" /><Relationship Type="http://schemas.openxmlformats.org/officeDocument/2006/relationships/slideMaster" Target="/ppt/slideMasters/slideMaster1.xml" Id="R643fa299c8184d29" /><Relationship Type="http://schemas.openxmlformats.org/officeDocument/2006/relationships/notesMaster" Target="/ppt/notesMasters/notesMaster1.xml" Id="R44b0e1bb27214c2b" /><Relationship Type="http://schemas.openxmlformats.org/officeDocument/2006/relationships/presProps" Target="/ppt/presProps.xml" Id="Rf6aaa45e6d2b4d77" /><Relationship Type="http://schemas.openxmlformats.org/officeDocument/2006/relationships/tableStyles" Target="/ppt/tableStyles.xml" Id="R9a16b97d7e2e441d" /><Relationship Type="http://schemas.openxmlformats.org/officeDocument/2006/relationships/slide" Target="/ppt/slides/slide1.xml" Id="R871ce86a69ca497a" /><Relationship Type="http://schemas.openxmlformats.org/officeDocument/2006/relationships/slide" Target="/ppt/slides/slide2.xml" Id="Re98fb7e03aaa4280" /><Relationship Type="http://schemas.openxmlformats.org/officeDocument/2006/relationships/slide" Target="/ppt/slides/slide3.xml" Id="R15e89611af29447c" /><Relationship Type="http://schemas.openxmlformats.org/officeDocument/2006/relationships/slide" Target="/ppt/slides/slide4.xml" Id="R6179904a76bc41af" /><Relationship Type="http://schemas.openxmlformats.org/officeDocument/2006/relationships/slide" Target="/ppt/slides/slide5.xml" Id="R387b8abf0313423b" /><Relationship Type="http://schemas.openxmlformats.org/officeDocument/2006/relationships/slide" Target="/ppt/slides/slide6.xml" Id="R429a5e04b5b44b40" /><Relationship Type="http://schemas.openxmlformats.org/officeDocument/2006/relationships/slide" Target="/ppt/slides/slide7.xml" Id="Rf3f61aa5e5f4472e" /><Relationship Type="http://schemas.openxmlformats.org/officeDocument/2006/relationships/slide" Target="/ppt/slides/slide8.xml" Id="R982282774ee14da5" /><Relationship Type="http://schemas.openxmlformats.org/officeDocument/2006/relationships/slide" Target="/ppt/slides/slide9.xml" Id="R1a72aa4034564c94" /><Relationship Type="http://schemas.openxmlformats.org/officeDocument/2006/relationships/slide" Target="/ppt/slides/slide10.xml" Id="R3700783576a944f3" /><Relationship Type="http://schemas.openxmlformats.org/officeDocument/2006/relationships/slide" Target="/ppt/slides/slide11.xml" Id="R0de9290a5bdd4a36" /><Relationship Type="http://schemas.openxmlformats.org/officeDocument/2006/relationships/slide" Target="/ppt/slides/slide12.xml" Id="R1a84a3b303024cef" /><Relationship Type="http://schemas.openxmlformats.org/officeDocument/2006/relationships/slide" Target="/ppt/slides/slide13.xml" Id="R220bee31f93e49ed" /><Relationship Type="http://schemas.openxmlformats.org/officeDocument/2006/relationships/slide" Target="/ppt/slides/slide14.xml" Id="Rdf74f5a379bb4027" /><Relationship Type="http://schemas.openxmlformats.org/officeDocument/2006/relationships/slide" Target="/ppt/slides/slide15.xml" Id="Rd741498513f84ab8" /><Relationship Type="http://schemas.openxmlformats.org/officeDocument/2006/relationships/slide" Target="/ppt/slides/slide16.xml" Id="Rfce9364ab2d64b2d" /><Relationship Type="http://schemas.openxmlformats.org/officeDocument/2006/relationships/slide" Target="/ppt/slides/slide17.xml" Id="Rc1dffb21b32841d6" /><Relationship Type="http://schemas.openxmlformats.org/officeDocument/2006/relationships/slide" Target="/ppt/slides/slide18.xml" Id="R0b8ab4d857994cd8" /><Relationship Type="http://schemas.openxmlformats.org/officeDocument/2006/relationships/slide" Target="/ppt/slides/slide19.xml" Id="Re5cd22c4693049aa" /><Relationship Type="http://schemas.openxmlformats.org/officeDocument/2006/relationships/slide" Target="/ppt/slides/slide20.xml" Id="R2da11247586c4f5a" /><Relationship Type="http://schemas.openxmlformats.org/officeDocument/2006/relationships/slide" Target="/ppt/slides/slide21.xml" Id="Rf15b3d23fce54a23" /><Relationship Type="http://schemas.openxmlformats.org/officeDocument/2006/relationships/slide" Target="/ppt/slides/slide22.xml" Id="Rc53f52ad76ff4a6f" /><Relationship Type="http://schemas.openxmlformats.org/officeDocument/2006/relationships/slide" Target="/ppt/slides/slide23.xml" Id="R1d12cd3a579c4a22" /><Relationship Type="http://schemas.openxmlformats.org/officeDocument/2006/relationships/slide" Target="/ppt/slides/slide24.xml" Id="R5b5c19e5b7f34a9b" /><Relationship Type="http://schemas.openxmlformats.org/officeDocument/2006/relationships/slide" Target="/ppt/slides/slide25.xml" Id="R9c664f407fbd4406" /><Relationship Type="http://schemas.openxmlformats.org/officeDocument/2006/relationships/slide" Target="/ppt/slides/slide26.xml" Id="Rd75acde66efb43d4" /><Relationship Type="http://schemas.openxmlformats.org/officeDocument/2006/relationships/slide" Target="/ppt/slides/slide27.xml" Id="Rcb4c033b33024246" /><Relationship Type="http://schemas.openxmlformats.org/officeDocument/2006/relationships/slide" Target="/ppt/slides/slide28.xml" Id="R7982800ab1054300" /><Relationship Type="http://schemas.openxmlformats.org/officeDocument/2006/relationships/slide" Target="/ppt/slides/slide29.xml" Id="R04d1c47be5574a53" /><Relationship Type="http://schemas.openxmlformats.org/officeDocument/2006/relationships/slide" Target="/ppt/slides/slide30.xml" Id="R2dc4dd32a35b472f" /><Relationship Type="http://schemas.openxmlformats.org/officeDocument/2006/relationships/slide" Target="/ppt/slides/slide31.xml" Id="R65a9e78a470f48f2" /><Relationship Type="http://schemas.openxmlformats.org/officeDocument/2006/relationships/slide" Target="/ppt/slides/slide32.xml" Id="R60014351cab94d10" /><Relationship Type="http://schemas.openxmlformats.org/officeDocument/2006/relationships/slide" Target="/ppt/slides/slide33.xml" Id="Ra6df40a3051f4718" /><Relationship Type="http://schemas.openxmlformats.org/officeDocument/2006/relationships/slide" Target="/ppt/slides/slide34.xml" Id="R2c4bd19a28e14977" /><Relationship Type="http://schemas.openxmlformats.org/officeDocument/2006/relationships/slide" Target="/ppt/slides/slide35.xml" Id="R352e4374afff4c73" /><Relationship Type="http://schemas.openxmlformats.org/officeDocument/2006/relationships/slide" Target="/ppt/slides/slide36.xml" Id="Rf2b647e7ce3a48e8" /><Relationship Type="http://schemas.openxmlformats.org/officeDocument/2006/relationships/slide" Target="/ppt/slides/slide37.xml" Id="Rcfcf636a2d8a4e79" /><Relationship Type="http://schemas.openxmlformats.org/officeDocument/2006/relationships/slide" Target="/ppt/slides/slide38.xml" Id="R3b81c25f3e4d4d11" /><Relationship Type="http://schemas.openxmlformats.org/officeDocument/2006/relationships/slide" Target="/ppt/slides/slide39.xml" Id="R83813ed8f9ee40f7" /><Relationship Type="http://schemas.openxmlformats.org/officeDocument/2006/relationships/slide" Target="/ppt/slides/slide40.xml" Id="Re417dd6b5eba4bbe" /><Relationship Type="http://schemas.openxmlformats.org/officeDocument/2006/relationships/slide" Target="/ppt/slides/slide41.xml" Id="R154186dda385461f" /><Relationship Type="http://schemas.openxmlformats.org/officeDocument/2006/relationships/slide" Target="/ppt/slides/slide42.xml" Id="R94855b748f40474e" /><Relationship Type="http://schemas.openxmlformats.org/officeDocument/2006/relationships/slide" Target="/ppt/slides/slide43.xml" Id="R42efa6ec7b5940cd" /><Relationship Type="http://schemas.openxmlformats.org/officeDocument/2006/relationships/slide" Target="/ppt/slides/slide44.xml" Id="Rf47a011d65124710" /><Relationship Type="http://schemas.openxmlformats.org/officeDocument/2006/relationships/slide" Target="/ppt/slides/slide45.xml" Id="R3165f74965514a3c" /><Relationship Type="http://schemas.openxmlformats.org/officeDocument/2006/relationships/slide" Target="/ppt/slides/slide46.xml" Id="R981f73e870eb4074" /><Relationship Type="http://schemas.openxmlformats.org/officeDocument/2006/relationships/slide" Target="/ppt/slides/slide47.xml" Id="R6990c5b4aa46430f" /><Relationship Type="http://schemas.openxmlformats.org/officeDocument/2006/relationships/slide" Target="/ppt/slides/slide48.xml" Id="Re0aee33c225f471e" /><Relationship Type="http://schemas.openxmlformats.org/officeDocument/2006/relationships/slide" Target="/ppt/slides/slide49.xml" Id="R9fcc28e9b7e64f40" /><Relationship Type="http://schemas.openxmlformats.org/officeDocument/2006/relationships/slide" Target="/ppt/slides/slide50.xml" Id="Ra9ae595ef4744368" /><Relationship Type="http://schemas.openxmlformats.org/officeDocument/2006/relationships/slide" Target="/ppt/slides/slide51.xml" Id="Rf2b68dca23944113" /><Relationship Type="http://schemas.openxmlformats.org/officeDocument/2006/relationships/slide" Target="/ppt/slides/slide52.xml" Id="Rb23ad3ea76624554" /><Relationship Type="http://schemas.openxmlformats.org/officeDocument/2006/relationships/slide" Target="/ppt/slides/slide53.xml" Id="Rfac469f346b245a4" /><Relationship Type="http://schemas.openxmlformats.org/officeDocument/2006/relationships/slide" Target="/ppt/slides/slide54.xml" Id="R10a2570cdeea4ed9" /><Relationship Type="http://schemas.openxmlformats.org/officeDocument/2006/relationships/slide" Target="/ppt/slides/slide55.xml" Id="R2572275d1e8b427d" /><Relationship Type="http://schemas.openxmlformats.org/officeDocument/2006/relationships/slide" Target="/ppt/slides/slide56.xml" Id="Rb9294b3b453b48cc" /><Relationship Type="http://schemas.openxmlformats.org/officeDocument/2006/relationships/slide" Target="/ppt/slides/slide57.xml" Id="Rc6988522e20a40d7" /><Relationship Type="http://schemas.openxmlformats.org/officeDocument/2006/relationships/slide" Target="/ppt/slides/slide58.xml" Id="Raceece3f86b14406" /><Relationship Type="http://schemas.openxmlformats.org/officeDocument/2006/relationships/slide" Target="/ppt/slides/slide59.xml" Id="R895ad96f6159464c" /><Relationship Type="http://schemas.openxmlformats.org/officeDocument/2006/relationships/slide" Target="/ppt/slides/slide60.xml" Id="R780b252684b34f0b" /><Relationship Type="http://schemas.openxmlformats.org/officeDocument/2006/relationships/slide" Target="/ppt/slides/slide61.xml" Id="Rd11e8298cc6f49f9" /><Relationship Type="http://schemas.openxmlformats.org/officeDocument/2006/relationships/slide" Target="/ppt/slides/slide62.xml" Id="Rb4bc697acb634e57" /><Relationship Type="http://schemas.openxmlformats.org/officeDocument/2006/relationships/slide" Target="/ppt/slides/slide63.xml" Id="R2de977cb08d04861" /><Relationship Type="http://schemas.openxmlformats.org/officeDocument/2006/relationships/slide" Target="/ppt/slides/slide64.xml" Id="R51b7cee558ac4a59" /><Relationship Type="http://schemas.openxmlformats.org/officeDocument/2006/relationships/slide" Target="/ppt/slides/slide65.xml" Id="R301a5b773b7f44e3" /><Relationship Type="http://schemas.openxmlformats.org/officeDocument/2006/relationships/slide" Target="/ppt/slides/slide66.xml" Id="Rffc8265663fc48f5" /><Relationship Type="http://schemas.openxmlformats.org/officeDocument/2006/relationships/slide" Target="/ppt/slides/slide67.xml" Id="Rb7c0b724f7c94786" /><Relationship Type="http://schemas.openxmlformats.org/officeDocument/2006/relationships/slide" Target="/ppt/slides/slide68.xml" Id="R3cbaa2ab83df43e5" /><Relationship Type="http://schemas.openxmlformats.org/officeDocument/2006/relationships/slide" Target="/ppt/slides/slide69.xml" Id="Re3e9bc8af79b44a2" /><Relationship Type="http://schemas.openxmlformats.org/officeDocument/2006/relationships/slide" Target="/ppt/slides/slide70.xml" Id="Rbe5d0de3a9d841ca" /><Relationship Type="http://schemas.openxmlformats.org/officeDocument/2006/relationships/slide" Target="/ppt/slides/slide71.xml" Id="Reb00851cf2f94eb7" /><Relationship Type="http://schemas.openxmlformats.org/officeDocument/2006/relationships/slide" Target="/ppt/slides/slide72.xml" Id="R120537dd43c34d90" /><Relationship Type="http://schemas.openxmlformats.org/officeDocument/2006/relationships/slide" Target="/ppt/slides/slide73.xml" Id="R89b07ca87d694960" /><Relationship Type="http://schemas.openxmlformats.org/officeDocument/2006/relationships/slide" Target="/ppt/slides/slide74.xml" Id="Rd35bf50ddff14e3a" /><Relationship Type="http://schemas.openxmlformats.org/officeDocument/2006/relationships/slide" Target="/ppt/slides/slide75.xml" Id="Rde3d1b01b8334127" /><Relationship Type="http://schemas.openxmlformats.org/officeDocument/2006/relationships/slide" Target="/ppt/slides/slide76.xml" Id="Rb124b105887e4396" /><Relationship Type="http://schemas.openxmlformats.org/officeDocument/2006/relationships/slide" Target="/ppt/slides/slide77.xml" Id="Re229dad70fc6446b" /><Relationship Type="http://schemas.openxmlformats.org/officeDocument/2006/relationships/slide" Target="/ppt/slides/slide78.xml" Id="R123c284411ba43d4" /><Relationship Type="http://schemas.openxmlformats.org/officeDocument/2006/relationships/slide" Target="/ppt/slides/slide79.xml" Id="Rb212d036df2643bd" /><Relationship Type="http://schemas.openxmlformats.org/officeDocument/2006/relationships/slide" Target="/ppt/slides/slide80.xml" Id="R27c555f308fb48fe" /><Relationship Type="http://schemas.openxmlformats.org/officeDocument/2006/relationships/slide" Target="/ppt/slides/slide81.xml" Id="Rd9aa8bc3565c47e6" /><Relationship Type="http://schemas.openxmlformats.org/officeDocument/2006/relationships/slide" Target="/ppt/slides/slide82.xml" Id="R088e470cb1f44e31" /><Relationship Type="http://schemas.openxmlformats.org/officeDocument/2006/relationships/slide" Target="/ppt/slides/slide83.xml" Id="R53b247c26d18424f" /><Relationship Type="http://schemas.openxmlformats.org/officeDocument/2006/relationships/slide" Target="/ppt/slides/slide84.xml" Id="R3f1ddd9a5ef440b4" /><Relationship Type="http://schemas.openxmlformats.org/officeDocument/2006/relationships/slide" Target="/ppt/slides/slide85.xml" Id="R5946c9f44bc641d7" /><Relationship Type="http://schemas.openxmlformats.org/officeDocument/2006/relationships/slide" Target="/ppt/slides/slide86.xml" Id="R4aa3b9b238f54923" /><Relationship Type="http://schemas.openxmlformats.org/officeDocument/2006/relationships/slide" Target="/ppt/slides/slide87.xml" Id="Rd18c4cd538f0426e" /><Relationship Type="http://schemas.openxmlformats.org/officeDocument/2006/relationships/slide" Target="/ppt/slides/slide88.xml" Id="Ra13ec330c6b74b28" /><Relationship Type="http://schemas.openxmlformats.org/officeDocument/2006/relationships/slide" Target="/ppt/slides/slide89.xml" Id="R3e00ed7c63ab40d3" /><Relationship Type="http://schemas.openxmlformats.org/officeDocument/2006/relationships/slide" Target="/ppt/slides/slide90.xml" Id="Rafcc2d1c149e4e62" /><Relationship Type="http://schemas.openxmlformats.org/officeDocument/2006/relationships/slide" Target="/ppt/slides/slide91.xml" Id="Re3a1df9f07654478" /><Relationship Type="http://schemas.openxmlformats.org/officeDocument/2006/relationships/slide" Target="/ppt/slides/slide92.xml" Id="R01fc612c69b340be" /><Relationship Type="http://schemas.openxmlformats.org/officeDocument/2006/relationships/slide" Target="/ppt/slides/slide93.xml" Id="Rafc2656a8f4a41a4" /><Relationship Type="http://schemas.openxmlformats.org/officeDocument/2006/relationships/slide" Target="/ppt/slides/slide94.xml" Id="R8ce13ea08b6b4df7" /><Relationship Type="http://schemas.openxmlformats.org/officeDocument/2006/relationships/slide" Target="/ppt/slides/slide95.xml" Id="Rdba2dc25fcac4678" /><Relationship Type="http://schemas.openxmlformats.org/officeDocument/2006/relationships/slide" Target="/ppt/slides/slide96.xml" Id="R62f7822d2637411e" /><Relationship Type="http://schemas.openxmlformats.org/officeDocument/2006/relationships/slide" Target="/ppt/slides/slide97.xml" Id="Rff0e769b3fe144c2" /><Relationship Type="http://schemas.openxmlformats.org/officeDocument/2006/relationships/slide" Target="/ppt/slides/slide98.xml" Id="R8b0e247cebab494e" /><Relationship Type="http://schemas.openxmlformats.org/officeDocument/2006/relationships/slide" Target="/ppt/slides/slide99.xml" Id="R4c8ba693f3504ec7" /><Relationship Type="http://schemas.openxmlformats.org/officeDocument/2006/relationships/slide" Target="/ppt/slides/slide100.xml" Id="R073f3833b5834595" /><Relationship Type="http://schemas.openxmlformats.org/officeDocument/2006/relationships/slide" Target="/ppt/slides/slide101.xml" Id="Rd81d102767054a2c" /><Relationship Type="http://schemas.openxmlformats.org/officeDocument/2006/relationships/slide" Target="/ppt/slides/slide102.xml" Id="Rb0b1c2ebe0224e8f" /><Relationship Type="http://schemas.openxmlformats.org/officeDocument/2006/relationships/slide" Target="/ppt/slides/slide103.xml" Id="R5af0069d5d9a4d2e" /><Relationship Type="http://schemas.openxmlformats.org/officeDocument/2006/relationships/slide" Target="/ppt/slides/slide104.xml" Id="R010f8f4dbcaa4541" /><Relationship Type="http://schemas.openxmlformats.org/officeDocument/2006/relationships/slide" Target="/ppt/slides/slide105.xml" Id="Rc79c1f91b35f4728" /><Relationship Type="http://schemas.openxmlformats.org/officeDocument/2006/relationships/slide" Target="/ppt/slides/slide106.xml" Id="Rc379428e015d4670" /><Relationship Type="http://schemas.openxmlformats.org/officeDocument/2006/relationships/slide" Target="/ppt/slides/slide107.xml" Id="Re8a39113562944cc" /><Relationship Type="http://schemas.openxmlformats.org/officeDocument/2006/relationships/slide" Target="/ppt/slides/slide108.xml" Id="R05c4e8c6118b40ef" /><Relationship Type="http://schemas.openxmlformats.org/officeDocument/2006/relationships/slide" Target="/ppt/slides/slide109.xml" Id="R9dd8ecf426a4403f" /><Relationship Type="http://schemas.openxmlformats.org/officeDocument/2006/relationships/slide" Target="/ppt/slides/slide110.xml" Id="R80d2b435ba2b42f2" /><Relationship Type="http://schemas.openxmlformats.org/officeDocument/2006/relationships/slide" Target="/ppt/slides/slide111.xml" Id="R0809f5e5fd914c58" /><Relationship Type="http://schemas.openxmlformats.org/officeDocument/2006/relationships/slide" Target="/ppt/slides/slide112.xml" Id="Rfff0c056c4734f92" /><Relationship Type="http://schemas.openxmlformats.org/officeDocument/2006/relationships/slide" Target="/ppt/slides/slide113.xml" Id="Rcacf28352f4946d8" /><Relationship Type="http://schemas.openxmlformats.org/officeDocument/2006/relationships/slide" Target="/ppt/slides/slide114.xml" Id="R688dcfa437bc4ec9" /><Relationship Type="http://schemas.openxmlformats.org/officeDocument/2006/relationships/slide" Target="/ppt/slides/slide115.xml" Id="R5bb4321de7744bcf" /><Relationship Type="http://schemas.openxmlformats.org/officeDocument/2006/relationships/slide" Target="/ppt/slides/slide116.xml" Id="Rbe1c0d62b47a454d" /><Relationship Type="http://schemas.openxmlformats.org/officeDocument/2006/relationships/slide" Target="/ppt/slides/slide117.xml" Id="Re4dbca7120164090" /><Relationship Type="http://schemas.openxmlformats.org/officeDocument/2006/relationships/slide" Target="/ppt/slides/slide118.xml" Id="R800d56119176480d" /><Relationship Type="http://schemas.openxmlformats.org/officeDocument/2006/relationships/slide" Target="/ppt/slides/slide119.xml" Id="R153c024b55664ef1" /><Relationship Type="http://schemas.openxmlformats.org/officeDocument/2006/relationships/slide" Target="/ppt/slides/slide120.xml" Id="R91da55f071d54fc7" /><Relationship Type="http://schemas.openxmlformats.org/officeDocument/2006/relationships/slide" Target="/ppt/slides/slide121.xml" Id="Rf304cbf4de2a486b" /><Relationship Type="http://schemas.openxmlformats.org/officeDocument/2006/relationships/slide" Target="/ppt/slides/slide122.xml" Id="Rc37f554ae77b4f04" /><Relationship Type="http://schemas.openxmlformats.org/officeDocument/2006/relationships/slide" Target="/ppt/slides/slide123.xml" Id="R916c11c5089d4ffc" /><Relationship Type="http://schemas.openxmlformats.org/officeDocument/2006/relationships/slide" Target="/ppt/slides/slide124.xml" Id="R1f49e6c1bd9b4f75" /><Relationship Type="http://schemas.openxmlformats.org/officeDocument/2006/relationships/slide" Target="/ppt/slides/slide125.xml" Id="Rb6bd8e8ea649495c" /><Relationship Type="http://schemas.openxmlformats.org/officeDocument/2006/relationships/slide" Target="/ppt/slides/slide126.xml" Id="Ra53c5ffd4f854d23" /><Relationship Type="http://schemas.openxmlformats.org/officeDocument/2006/relationships/slide" Target="/ppt/slides/slide127.xml" Id="R2ecfa00262644b00" /><Relationship Type="http://schemas.openxmlformats.org/officeDocument/2006/relationships/slide" Target="/ppt/slides/slide128.xml" Id="R4b716f41a6fb4869" /><Relationship Type="http://schemas.openxmlformats.org/officeDocument/2006/relationships/slide" Target="/ppt/slides/slide129.xml" Id="R385909a8aede4d40" /><Relationship Type="http://schemas.openxmlformats.org/officeDocument/2006/relationships/slide" Target="/ppt/slides/slide130.xml" Id="R2a1a4cb2d233494c" /><Relationship Type="http://schemas.openxmlformats.org/officeDocument/2006/relationships/slide" Target="/ppt/slides/slide131.xml" Id="R9c46acc11e5e402b" /><Relationship Type="http://schemas.openxmlformats.org/officeDocument/2006/relationships/slide" Target="/ppt/slides/slide132.xml" Id="Rcaec0183657f4ac8" /><Relationship Type="http://schemas.openxmlformats.org/officeDocument/2006/relationships/slide" Target="/ppt/slides/slide133.xml" Id="R61b8b28c84664b01" /><Relationship Type="http://schemas.openxmlformats.org/officeDocument/2006/relationships/slide" Target="/ppt/slides/slide134.xml" Id="R49b914ed660d471f" /><Relationship Type="http://schemas.openxmlformats.org/officeDocument/2006/relationships/slide" Target="/ppt/slides/slide135.xml" Id="R035653e6d5b7448c" /><Relationship Type="http://schemas.openxmlformats.org/officeDocument/2006/relationships/slide" Target="/ppt/slides/slide136.xml" Id="R5bc439c430ee4947" /><Relationship Type="http://schemas.openxmlformats.org/officeDocument/2006/relationships/slide" Target="/ppt/slides/slide137.xml" Id="R07d5343e67b84a57" /><Relationship Type="http://schemas.openxmlformats.org/officeDocument/2006/relationships/slide" Target="/ppt/slides/slide138.xml" Id="R8ebb14fb71d6450f" /><Relationship Type="http://schemas.openxmlformats.org/officeDocument/2006/relationships/slide" Target="/ppt/slides/slide139.xml" Id="R8e33056299ff449b" /><Relationship Type="http://schemas.openxmlformats.org/officeDocument/2006/relationships/slide" Target="/ppt/slides/slide140.xml" Id="R98e257609ab04005" /><Relationship Type="http://schemas.openxmlformats.org/officeDocument/2006/relationships/slide" Target="/ppt/slides/slide141.xml" Id="R7e73d1265a4149f2" /><Relationship Type="http://schemas.openxmlformats.org/officeDocument/2006/relationships/slide" Target="/ppt/slides/slide142.xml" Id="Rc9bb67fed05644fa" /><Relationship Type="http://schemas.openxmlformats.org/officeDocument/2006/relationships/slide" Target="/ppt/slides/slide143.xml" Id="Rd2be94cad6044aad" /><Relationship Type="http://schemas.openxmlformats.org/officeDocument/2006/relationships/slide" Target="/ppt/slides/slide144.xml" Id="R28c5c1d39dc84680" /><Relationship Type="http://schemas.openxmlformats.org/officeDocument/2006/relationships/slide" Target="/ppt/slides/slide145.xml" Id="R3d33fdfe792c4980" /><Relationship Type="http://schemas.openxmlformats.org/officeDocument/2006/relationships/slide" Target="/ppt/slides/slide146.xml" Id="R6c4d3cb5f6b64dfb" /><Relationship Type="http://schemas.openxmlformats.org/officeDocument/2006/relationships/slide" Target="/ppt/slides/slide147.xml" Id="R70eb8a7226504216" /><Relationship Type="http://schemas.openxmlformats.org/officeDocument/2006/relationships/slide" Target="/ppt/slides/slide148.xml" Id="Rdb9b9f3203d44f49" /><Relationship Type="http://schemas.openxmlformats.org/officeDocument/2006/relationships/slide" Target="/ppt/slides/slide149.xml" Id="R4b02046d87ba4419" /><Relationship Type="http://schemas.openxmlformats.org/officeDocument/2006/relationships/slide" Target="/ppt/slides/slide150.xml" Id="Re5ec7b9ef6bf4d88" /><Relationship Type="http://schemas.openxmlformats.org/officeDocument/2006/relationships/slide" Target="/ppt/slides/slide151.xml" Id="R5f95355cef274af2" /><Relationship Type="http://schemas.openxmlformats.org/officeDocument/2006/relationships/slide" Target="/ppt/slides/slide152.xml" Id="Rb8b3d1ce44ec4f32" /><Relationship Type="http://schemas.openxmlformats.org/officeDocument/2006/relationships/slide" Target="/ppt/slides/slide153.xml" Id="Ra74c030587ae43bc" /><Relationship Type="http://schemas.openxmlformats.org/officeDocument/2006/relationships/slide" Target="/ppt/slides/slide154.xml" Id="Rffa42318a49f4189" /><Relationship Type="http://schemas.openxmlformats.org/officeDocument/2006/relationships/slide" Target="/ppt/slides/slide155.xml" Id="R09788612621341ce" /><Relationship Type="http://schemas.openxmlformats.org/officeDocument/2006/relationships/slide" Target="/ppt/slides/slide156.xml" Id="Rbd7affb967ca42de" /><Relationship Type="http://schemas.openxmlformats.org/officeDocument/2006/relationships/slide" Target="/ppt/slides/slide157.xml" Id="Rcdb9c2cf44fe46aa" /><Relationship Type="http://schemas.openxmlformats.org/officeDocument/2006/relationships/slide" Target="/ppt/slides/slide158.xml" Id="R37898e30b1f34b9b" /><Relationship Type="http://schemas.openxmlformats.org/officeDocument/2006/relationships/slide" Target="/ppt/slides/slide159.xml" Id="R58dc8df8fcff4337" /><Relationship Type="http://schemas.openxmlformats.org/officeDocument/2006/relationships/slide" Target="/ppt/slides/slide160.xml" Id="Rcec73d7ac56347ff" /><Relationship Type="http://schemas.openxmlformats.org/officeDocument/2006/relationships/slide" Target="/ppt/slides/slide161.xml" Id="Rb35986a756bb408a" /><Relationship Type="http://schemas.openxmlformats.org/officeDocument/2006/relationships/slide" Target="/ppt/slides/slide162.xml" Id="R7b40fa0446d8402b" /><Relationship Type="http://schemas.openxmlformats.org/officeDocument/2006/relationships/slide" Target="/ppt/slides/slide163.xml" Id="R9c18a2ee701a4be1" /><Relationship Type="http://schemas.openxmlformats.org/officeDocument/2006/relationships/slide" Target="/ppt/slides/slide164.xml" Id="Rdc57c7ec5cff4102" /><Relationship Type="http://schemas.openxmlformats.org/officeDocument/2006/relationships/slide" Target="/ppt/slides/slide165.xml" Id="Rb86ff385371042b4" /><Relationship Type="http://schemas.openxmlformats.org/officeDocument/2006/relationships/slide" Target="/ppt/slides/slide166.xml" Id="R642dce44b14d4574" /><Relationship Type="http://schemas.openxmlformats.org/officeDocument/2006/relationships/slide" Target="/ppt/slides/slide167.xml" Id="R1ef012bc96d84ee1" /><Relationship Type="http://schemas.openxmlformats.org/officeDocument/2006/relationships/slide" Target="/ppt/slides/slide168.xml" Id="R53757b1bfec44920" /><Relationship Type="http://schemas.openxmlformats.org/officeDocument/2006/relationships/slide" Target="/ppt/slides/slide169.xml" Id="Rf1284cddaa0e4164" /><Relationship Type="http://schemas.openxmlformats.org/officeDocument/2006/relationships/slide" Target="/ppt/slides/slide170.xml" Id="R207121dca6474141" /><Relationship Type="http://schemas.openxmlformats.org/officeDocument/2006/relationships/slide" Target="/ppt/slides/slide171.xml" Id="R5a0aea893ec646c8" /><Relationship Type="http://schemas.openxmlformats.org/officeDocument/2006/relationships/slide" Target="/ppt/slides/slide172.xml" Id="R1399dd6f04a549be" /><Relationship Type="http://schemas.openxmlformats.org/officeDocument/2006/relationships/slide" Target="/ppt/slides/slide173.xml" Id="R49d1daac966b49ee" /><Relationship Type="http://schemas.openxmlformats.org/officeDocument/2006/relationships/slide" Target="/ppt/slides/slide174.xml" Id="R9bf23c3389f54862" /><Relationship Type="http://schemas.openxmlformats.org/officeDocument/2006/relationships/slide" Target="/ppt/slides/slide175.xml" Id="Ra939c0ef19d1471a" /><Relationship Type="http://schemas.openxmlformats.org/officeDocument/2006/relationships/slide" Target="/ppt/slides/slide176.xml" Id="Rd53ce78cb8f94184" /><Relationship Type="http://schemas.openxmlformats.org/officeDocument/2006/relationships/slide" Target="/ppt/slides/slide177.xml" Id="Re7c58855d5114a41" /><Relationship Type="http://schemas.openxmlformats.org/officeDocument/2006/relationships/slide" Target="/ppt/slides/slide178.xml" Id="Rd1c98ede28b44d95" /><Relationship Type="http://schemas.openxmlformats.org/officeDocument/2006/relationships/slide" Target="/ppt/slides/slide179.xml" Id="Rb4675b981fa244c8" /><Relationship Type="http://schemas.openxmlformats.org/officeDocument/2006/relationships/slide" Target="/ppt/slides/slide180.xml" Id="R7cd236daf67a4f9f" /><Relationship Type="http://schemas.openxmlformats.org/officeDocument/2006/relationships/slide" Target="/ppt/slides/slide181.xml" Id="R9f7e16b31d6f41c9" /><Relationship Type="http://schemas.openxmlformats.org/officeDocument/2006/relationships/slide" Target="/ppt/slides/slide182.xml" Id="R89b5211f7dc24751" /><Relationship Type="http://schemas.openxmlformats.org/officeDocument/2006/relationships/slide" Target="/ppt/slides/slide183.xml" Id="Rf67f63eb6515438a" /><Relationship Type="http://schemas.openxmlformats.org/officeDocument/2006/relationships/slide" Target="/ppt/slides/slide184.xml" Id="Rdc33c856f6d542bd" /><Relationship Type="http://schemas.openxmlformats.org/officeDocument/2006/relationships/slide" Target="/ppt/slides/slide185.xml" Id="R443e0f841815412f" /><Relationship Type="http://schemas.openxmlformats.org/officeDocument/2006/relationships/slide" Target="/ppt/slides/slide186.xml" Id="R4f4fc6c13d6a47cc" /><Relationship Type="http://schemas.openxmlformats.org/officeDocument/2006/relationships/slide" Target="/ppt/slides/slide187.xml" Id="R6a45a983a9c24a38" /><Relationship Type="http://schemas.openxmlformats.org/officeDocument/2006/relationships/slide" Target="/ppt/slides/slide188.xml" Id="R169e43be8750456f" /><Relationship Type="http://schemas.openxmlformats.org/officeDocument/2006/relationships/slide" Target="/ppt/slides/slide189.xml" Id="R6edb5ca3d4324c9a" /><Relationship Type="http://schemas.openxmlformats.org/officeDocument/2006/relationships/slide" Target="/ppt/slides/slide190.xml" Id="Rebd92095c96941b6" /><Relationship Type="http://schemas.openxmlformats.org/officeDocument/2006/relationships/slide" Target="/ppt/slides/slide191.xml" Id="Ra1222299eee84f95" /><Relationship Type="http://schemas.openxmlformats.org/officeDocument/2006/relationships/slide" Target="/ppt/slides/slide192.xml" Id="R3ae216c2091e49c7" /><Relationship Type="http://schemas.openxmlformats.org/officeDocument/2006/relationships/slide" Target="/ppt/slides/slide193.xml" Id="Re7c2d718033d4494" /><Relationship Type="http://schemas.openxmlformats.org/officeDocument/2006/relationships/slide" Target="/ppt/slides/slide194.xml" Id="R50ab8587f3184620" /><Relationship Type="http://schemas.openxmlformats.org/officeDocument/2006/relationships/slide" Target="/ppt/slides/slide195.xml" Id="Rf5f56a7178e044c2" /><Relationship Type="http://schemas.openxmlformats.org/officeDocument/2006/relationships/slide" Target="/ppt/slides/slide196.xml" Id="R0ad56706e0594fd4" /><Relationship Type="http://schemas.openxmlformats.org/officeDocument/2006/relationships/slide" Target="/ppt/slides/slide197.xml" Id="R77eace9bf86e4754" /><Relationship Type="http://schemas.openxmlformats.org/officeDocument/2006/relationships/slide" Target="/ppt/slides/slide198.xml" Id="Rb2b85eaed41841f5" /><Relationship Type="http://schemas.openxmlformats.org/officeDocument/2006/relationships/slide" Target="/ppt/slides/slide199.xml" Id="R5faa15f7e22a47b8" /><Relationship Type="http://schemas.openxmlformats.org/officeDocument/2006/relationships/slide" Target="/ppt/slides/slide200.xml" Id="R5588ddab650e4e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fc570000504e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a0b9b937424479" /><Relationship Type="http://schemas.openxmlformats.org/officeDocument/2006/relationships/notesMaster" Target="/ppt/notesMasters/notesMaster1.xml" Id="R0977ff8b60964e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e4182001ac4031" /><Relationship Type="http://schemas.openxmlformats.org/officeDocument/2006/relationships/notesMaster" Target="/ppt/notesMasters/notesMaster1.xml" Id="R1d39e6e1f9564a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35301ba3554f79" /><Relationship Type="http://schemas.openxmlformats.org/officeDocument/2006/relationships/notesMaster" Target="/ppt/notesMasters/notesMaster1.xml" Id="R140e6499088945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62596dbe41408f" /><Relationship Type="http://schemas.openxmlformats.org/officeDocument/2006/relationships/notesMaster" Target="/ppt/notesMasters/notesMaster1.xml" Id="R23f525b1c0b843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0244e2e9984c74" /><Relationship Type="http://schemas.openxmlformats.org/officeDocument/2006/relationships/notesMaster" Target="/ppt/notesMasters/notesMaster1.xml" Id="R6a55ce2dd8a944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705b0a18304b3c" /><Relationship Type="http://schemas.openxmlformats.org/officeDocument/2006/relationships/notesMaster" Target="/ppt/notesMasters/notesMaster1.xml" Id="Rf18cce34b28e4d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bbbfc422984967" /><Relationship Type="http://schemas.openxmlformats.org/officeDocument/2006/relationships/notesMaster" Target="/ppt/notesMasters/notesMaster1.xml" Id="R7b2c38f0d1d643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c3fab07f4f437b" /><Relationship Type="http://schemas.openxmlformats.org/officeDocument/2006/relationships/notesMaster" Target="/ppt/notesMasters/notesMaster1.xml" Id="R6235b0f4205b44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ccd91b04854088" /><Relationship Type="http://schemas.openxmlformats.org/officeDocument/2006/relationships/notesMaster" Target="/ppt/notesMasters/notesMaster1.xml" Id="Reda092827c2840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ec4b1fce8e4e5c" /><Relationship Type="http://schemas.openxmlformats.org/officeDocument/2006/relationships/notesMaster" Target="/ppt/notesMasters/notesMaster1.xml" Id="R6dac5dbd071840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dceb09c18646c7" /><Relationship Type="http://schemas.openxmlformats.org/officeDocument/2006/relationships/notesMaster" Target="/ppt/notesMasters/notesMaster1.xml" Id="R9363a072f6244b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825d9bc03a4fde" /><Relationship Type="http://schemas.openxmlformats.org/officeDocument/2006/relationships/notesMaster" Target="/ppt/notesMasters/notesMaster1.xml" Id="Read763db54b44e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15b71726404c8d" /><Relationship Type="http://schemas.openxmlformats.org/officeDocument/2006/relationships/notesMaster" Target="/ppt/notesMasters/notesMaster1.xml" Id="R2a7f5e10783045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be210d9f424cfb" /><Relationship Type="http://schemas.openxmlformats.org/officeDocument/2006/relationships/notesMaster" Target="/ppt/notesMasters/notesMaster1.xml" Id="R65981b5e591b40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2ddbc2d83c4c06" /><Relationship Type="http://schemas.openxmlformats.org/officeDocument/2006/relationships/notesMaster" Target="/ppt/notesMasters/notesMaster1.xml" Id="R4a86bf3d57194d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541dc905504c19" /><Relationship Type="http://schemas.openxmlformats.org/officeDocument/2006/relationships/notesMaster" Target="/ppt/notesMasters/notesMaster1.xml" Id="R84c7b248561547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9f3b89931344f0" /><Relationship Type="http://schemas.openxmlformats.org/officeDocument/2006/relationships/notesMaster" Target="/ppt/notesMasters/notesMaster1.xml" Id="R2187e6b35e5e4e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f58cb99e9d4a1a" /><Relationship Type="http://schemas.openxmlformats.org/officeDocument/2006/relationships/notesMaster" Target="/ppt/notesMasters/notesMaster1.xml" Id="R11f12ba7b0ed49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7a3d9266a841c1" /><Relationship Type="http://schemas.openxmlformats.org/officeDocument/2006/relationships/notesMaster" Target="/ppt/notesMasters/notesMaster1.xml" Id="R0feacd1f82b847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db27cfa5d34aae" /><Relationship Type="http://schemas.openxmlformats.org/officeDocument/2006/relationships/notesMaster" Target="/ppt/notesMasters/notesMaster1.xml" Id="Reb5d00c5d78f4dd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0e6cdf7302542d8" /><Relationship Type="http://schemas.openxmlformats.org/officeDocument/2006/relationships/notesMaster" Target="/ppt/notesMasters/notesMaster1.xml" Id="Rc6f59d9d9d7c405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c514030bb64b9f" /><Relationship Type="http://schemas.openxmlformats.org/officeDocument/2006/relationships/notesMaster" Target="/ppt/notesMasters/notesMaster1.xml" Id="R94d07966777040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3813469bef4065" /><Relationship Type="http://schemas.openxmlformats.org/officeDocument/2006/relationships/notesMaster" Target="/ppt/notesMasters/notesMaster1.xml" Id="Rfda7044e5b424b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f488138f2924dea" /><Relationship Type="http://schemas.openxmlformats.org/officeDocument/2006/relationships/notesMaster" Target="/ppt/notesMasters/notesMaster1.xml" Id="R2573f8b27a7544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58e6fa3c3e461a" /><Relationship Type="http://schemas.openxmlformats.org/officeDocument/2006/relationships/notesMaster" Target="/ppt/notesMasters/notesMaster1.xml" Id="R861bf42de1d34b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383c8cc8ac4563" /><Relationship Type="http://schemas.openxmlformats.org/officeDocument/2006/relationships/notesMaster" Target="/ppt/notesMasters/notesMaster1.xml" Id="R8d7b9075c7794a5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810729b2eb24e35" /><Relationship Type="http://schemas.openxmlformats.org/officeDocument/2006/relationships/notesMaster" Target="/ppt/notesMasters/notesMaster1.xml" Id="R9d94c6699c214a4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5c93cba7b0b4945" /><Relationship Type="http://schemas.openxmlformats.org/officeDocument/2006/relationships/notesMaster" Target="/ppt/notesMasters/notesMaster1.xml" Id="R9b1e6c62658c471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09533a461f040cc" /><Relationship Type="http://schemas.openxmlformats.org/officeDocument/2006/relationships/notesMaster" Target="/ppt/notesMasters/notesMaster1.xml" Id="R1eea5c9f1b95434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62e6054f1942ba" /><Relationship Type="http://schemas.openxmlformats.org/officeDocument/2006/relationships/notesMaster" Target="/ppt/notesMasters/notesMaster1.xml" Id="R3e4e288b44624ae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352a7a4f2e8464d" /><Relationship Type="http://schemas.openxmlformats.org/officeDocument/2006/relationships/notesMaster" Target="/ppt/notesMasters/notesMaster1.xml" Id="R1450963e8ad94f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ffcb2e7ab954a1f" /><Relationship Type="http://schemas.openxmlformats.org/officeDocument/2006/relationships/notesMaster" Target="/ppt/notesMasters/notesMaster1.xml" Id="Ra94c5489e99448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286486d2b5c4d70" /><Relationship Type="http://schemas.openxmlformats.org/officeDocument/2006/relationships/notesMaster" Target="/ppt/notesMasters/notesMaster1.xml" Id="Rac3c83764e794ae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3c2d4a5ec4d41f1" /><Relationship Type="http://schemas.openxmlformats.org/officeDocument/2006/relationships/notesMaster" Target="/ppt/notesMasters/notesMaster1.xml" Id="R3b797ed4b515418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317f5338a34665" /><Relationship Type="http://schemas.openxmlformats.org/officeDocument/2006/relationships/notesMaster" Target="/ppt/notesMasters/notesMaster1.xml" Id="R93dcff093660466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e7f0037dd241d3" /><Relationship Type="http://schemas.openxmlformats.org/officeDocument/2006/relationships/notesMaster" Target="/ppt/notesMasters/notesMaster1.xml" Id="R2b17687cfb324b7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0cae947413b4bc9" /><Relationship Type="http://schemas.openxmlformats.org/officeDocument/2006/relationships/notesMaster" Target="/ppt/notesMasters/notesMaster1.xml" Id="Rc9cd9d404b294dd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e78f655e2004a60" /><Relationship Type="http://schemas.openxmlformats.org/officeDocument/2006/relationships/notesMaster" Target="/ppt/notesMasters/notesMaster1.xml" Id="Rf78383d38103427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c0e715bd11c4707" /><Relationship Type="http://schemas.openxmlformats.org/officeDocument/2006/relationships/notesMaster" Target="/ppt/notesMasters/notesMaster1.xml" Id="R3e028d79fec24d0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fd22ad04ee44221" /><Relationship Type="http://schemas.openxmlformats.org/officeDocument/2006/relationships/notesMaster" Target="/ppt/notesMasters/notesMaster1.xml" Id="Rd11f4589ae094e9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722c4a88fe04a17" /><Relationship Type="http://schemas.openxmlformats.org/officeDocument/2006/relationships/notesMaster" Target="/ppt/notesMasters/notesMaster1.xml" Id="Rb9a9313c24774c1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6f81105ea944a97" /><Relationship Type="http://schemas.openxmlformats.org/officeDocument/2006/relationships/notesMaster" Target="/ppt/notesMasters/notesMaster1.xml" Id="R02e90d0e7d0c422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1fddee714614b29" /><Relationship Type="http://schemas.openxmlformats.org/officeDocument/2006/relationships/notesMaster" Target="/ppt/notesMasters/notesMaster1.xml" Id="R3a3003df9e2a43a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bf7925a05f948e4" /><Relationship Type="http://schemas.openxmlformats.org/officeDocument/2006/relationships/notesMaster" Target="/ppt/notesMasters/notesMaster1.xml" Id="R7e002715cb4e4b7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9777a4cb84b4900" /><Relationship Type="http://schemas.openxmlformats.org/officeDocument/2006/relationships/notesMaster" Target="/ppt/notesMasters/notesMaster1.xml" Id="Rad2ca8a865174e7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77d0b6dd23546e9" /><Relationship Type="http://schemas.openxmlformats.org/officeDocument/2006/relationships/notesMaster" Target="/ppt/notesMasters/notesMaster1.xml" Id="Rfa7650c164fc4f9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2d99742e4574989" /><Relationship Type="http://schemas.openxmlformats.org/officeDocument/2006/relationships/notesMaster" Target="/ppt/notesMasters/notesMaster1.xml" Id="Rc21e94e9916344b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c8516802afb4097" /><Relationship Type="http://schemas.openxmlformats.org/officeDocument/2006/relationships/notesMaster" Target="/ppt/notesMasters/notesMaster1.xml" Id="R928c1717464c433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cec071dbe084d6c" /><Relationship Type="http://schemas.openxmlformats.org/officeDocument/2006/relationships/notesMaster" Target="/ppt/notesMasters/notesMaster1.xml" Id="R8107e28f3b38426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aa87bb936474042" /><Relationship Type="http://schemas.openxmlformats.org/officeDocument/2006/relationships/notesMaster" Target="/ppt/notesMasters/notesMaster1.xml" Id="R8eabfaa98fa9451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aa44c007ea543cb" /><Relationship Type="http://schemas.openxmlformats.org/officeDocument/2006/relationships/notesMaster" Target="/ppt/notesMasters/notesMaster1.xml" Id="Rbeb6fab4781e400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0a56c0d629c4c8e" /><Relationship Type="http://schemas.openxmlformats.org/officeDocument/2006/relationships/notesMaster" Target="/ppt/notesMasters/notesMaster1.xml" Id="R496efe5ec27f470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8ab666dbb1347cb" /><Relationship Type="http://schemas.openxmlformats.org/officeDocument/2006/relationships/notesMaster" Target="/ppt/notesMasters/notesMaster1.xml" Id="Re95fc5fd1815436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58c1de77a874583" /><Relationship Type="http://schemas.openxmlformats.org/officeDocument/2006/relationships/notesMaster" Target="/ppt/notesMasters/notesMaster1.xml" Id="R875c488d5aaa4cf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2d30e8e7f27428b" /><Relationship Type="http://schemas.openxmlformats.org/officeDocument/2006/relationships/notesMaster" Target="/ppt/notesMasters/notesMaster1.xml" Id="Rfec60d67df6243a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2c635a827a74f81" /><Relationship Type="http://schemas.openxmlformats.org/officeDocument/2006/relationships/notesMaster" Target="/ppt/notesMasters/notesMaster1.xml" Id="Rfe1be9715eda45b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e8d922c79b64306" /><Relationship Type="http://schemas.openxmlformats.org/officeDocument/2006/relationships/notesMaster" Target="/ppt/notesMasters/notesMaster1.xml" Id="R197f2d8fc56d4b1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afbdf2eb37b4225" /><Relationship Type="http://schemas.openxmlformats.org/officeDocument/2006/relationships/notesMaster" Target="/ppt/notesMasters/notesMaster1.xml" Id="Rbfd34d76a24e47f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85ea11493274b0a" /><Relationship Type="http://schemas.openxmlformats.org/officeDocument/2006/relationships/notesMaster" Target="/ppt/notesMasters/notesMaster1.xml" Id="R2374a99867264b8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41f16412b024f9d" /><Relationship Type="http://schemas.openxmlformats.org/officeDocument/2006/relationships/notesMaster" Target="/ppt/notesMasters/notesMaster1.xml" Id="Rd490ef422dad408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9fbf3dfccfb40d0" /><Relationship Type="http://schemas.openxmlformats.org/officeDocument/2006/relationships/notesMaster" Target="/ppt/notesMasters/notesMaster1.xml" Id="R19476d897bf142a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6e98eb89efd4159" /><Relationship Type="http://schemas.openxmlformats.org/officeDocument/2006/relationships/notesMaster" Target="/ppt/notesMasters/notesMaster1.xml" Id="Rac94760c6ed1443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c910b86b7094999" /><Relationship Type="http://schemas.openxmlformats.org/officeDocument/2006/relationships/notesMaster" Target="/ppt/notesMasters/notesMaster1.xml" Id="R81273f0069ff40d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d081647e04184748" /><Relationship Type="http://schemas.openxmlformats.org/officeDocument/2006/relationships/notesMaster" Target="/ppt/notesMasters/notesMaster1.xml" Id="R3b468e40effb40b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3bfc611db4a64465" /><Relationship Type="http://schemas.openxmlformats.org/officeDocument/2006/relationships/notesMaster" Target="/ppt/notesMasters/notesMaster1.xml" Id="R560f8cbbe53e4b7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919e26e5959420f" /><Relationship Type="http://schemas.openxmlformats.org/officeDocument/2006/relationships/notesMaster" Target="/ppt/notesMasters/notesMaster1.xml" Id="Rf1ffd4e5b52f475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476a4d225364578" /><Relationship Type="http://schemas.openxmlformats.org/officeDocument/2006/relationships/notesMaster" Target="/ppt/notesMasters/notesMaster1.xml" Id="Ra746674ef9ef434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6b69164d9234142" /><Relationship Type="http://schemas.openxmlformats.org/officeDocument/2006/relationships/notesMaster" Target="/ppt/notesMasters/notesMaster1.xml" Id="Rff284da1561140f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cd36b3825aba4844" /><Relationship Type="http://schemas.openxmlformats.org/officeDocument/2006/relationships/notesMaster" Target="/ppt/notesMasters/notesMaster1.xml" Id="R16735bc826b9409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9c1f8a259c524e0f" /><Relationship Type="http://schemas.openxmlformats.org/officeDocument/2006/relationships/notesMaster" Target="/ppt/notesMasters/notesMaster1.xml" Id="R066bfb80e1b9476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de980e831234e77" /><Relationship Type="http://schemas.openxmlformats.org/officeDocument/2006/relationships/notesMaster" Target="/ppt/notesMasters/notesMaster1.xml" Id="Rd82a1b6ec9c64e9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062c4d0c5624da6" /><Relationship Type="http://schemas.openxmlformats.org/officeDocument/2006/relationships/notesMaster" Target="/ppt/notesMasters/notesMaster1.xml" Id="R4f5f19a7e38243e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345c67eda9746fa" /><Relationship Type="http://schemas.openxmlformats.org/officeDocument/2006/relationships/notesMaster" Target="/ppt/notesMasters/notesMaster1.xml" Id="R295165fa98c3417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643eba155f74047" /><Relationship Type="http://schemas.openxmlformats.org/officeDocument/2006/relationships/notesMaster" Target="/ppt/notesMasters/notesMaster1.xml" Id="Rd1277690f5574ff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713b60ba8b5d4f1a" /><Relationship Type="http://schemas.openxmlformats.org/officeDocument/2006/relationships/notesMaster" Target="/ppt/notesMasters/notesMaster1.xml" Id="Rb77e399581d74f66"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7d54c1f896748b6" /><Relationship Type="http://schemas.openxmlformats.org/officeDocument/2006/relationships/notesMaster" Target="/ppt/notesMasters/notesMaster1.xml" Id="Rd65e90dd66474739"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3fb13e97c274c44" /><Relationship Type="http://schemas.openxmlformats.org/officeDocument/2006/relationships/notesMaster" Target="/ppt/notesMasters/notesMaster1.xml" Id="R9f09725903a34276"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239535aa5ac41ef" /><Relationship Type="http://schemas.openxmlformats.org/officeDocument/2006/relationships/notesMaster" Target="/ppt/notesMasters/notesMaster1.xml" Id="R7ad65983078a46e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8843af4a5ca491b" /><Relationship Type="http://schemas.openxmlformats.org/officeDocument/2006/relationships/notesMaster" Target="/ppt/notesMasters/notesMaster1.xml" Id="Rd73d8259f23b466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c00e880f0bc44cda" /><Relationship Type="http://schemas.openxmlformats.org/officeDocument/2006/relationships/notesMaster" Target="/ppt/notesMasters/notesMaster1.xml" Id="Rfe7181eaf094467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37174bcf3fd4967" /><Relationship Type="http://schemas.openxmlformats.org/officeDocument/2006/relationships/notesMaster" Target="/ppt/notesMasters/notesMaster1.xml" Id="Rcd582e5a5e9c4542"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2a50c0b0b7f438e" /><Relationship Type="http://schemas.openxmlformats.org/officeDocument/2006/relationships/notesMaster" Target="/ppt/notesMasters/notesMaster1.xml" Id="R4b6a469c51cc438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940b085e8a5f499f" /><Relationship Type="http://schemas.openxmlformats.org/officeDocument/2006/relationships/notesMaster" Target="/ppt/notesMasters/notesMaster1.xml" Id="R91bfdc96e18b486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888e7225a0c48a4" /><Relationship Type="http://schemas.openxmlformats.org/officeDocument/2006/relationships/notesMaster" Target="/ppt/notesMasters/notesMaster1.xml" Id="Rcf93df1bfdda491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e28ebbe471d48be" /><Relationship Type="http://schemas.openxmlformats.org/officeDocument/2006/relationships/notesMaster" Target="/ppt/notesMasters/notesMaster1.xml" Id="R5dfa8f3a15004e6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e1b53795bc14b3a" /><Relationship Type="http://schemas.openxmlformats.org/officeDocument/2006/relationships/notesMaster" Target="/ppt/notesMasters/notesMaster1.xml" Id="Rb2d16e3973e84cb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d2c086c8a6374fdd" /><Relationship Type="http://schemas.openxmlformats.org/officeDocument/2006/relationships/notesMaster" Target="/ppt/notesMasters/notesMaster1.xml" Id="Ra3bde7d2cbf34a1c"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25156a5968c44c65" /><Relationship Type="http://schemas.openxmlformats.org/officeDocument/2006/relationships/notesMaster" Target="/ppt/notesMasters/notesMaster1.xml" Id="R32873101e3484e5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7b99680731904865" /><Relationship Type="http://schemas.openxmlformats.org/officeDocument/2006/relationships/notesMaster" Target="/ppt/notesMasters/notesMaster1.xml" Id="R49f76ebc37394e9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f62fedc3ea164814" /><Relationship Type="http://schemas.openxmlformats.org/officeDocument/2006/relationships/notesMaster" Target="/ppt/notesMasters/notesMaster1.xml" Id="Ra662e75aa35b4b2b"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f408bf67f154c21" /><Relationship Type="http://schemas.openxmlformats.org/officeDocument/2006/relationships/notesMaster" Target="/ppt/notesMasters/notesMaster1.xml" Id="R01535b0d7dfa45f6"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f11c064a4b3c4376" /><Relationship Type="http://schemas.openxmlformats.org/officeDocument/2006/relationships/notesMaster" Target="/ppt/notesMasters/notesMaster1.xml" Id="Rbf9f4e71a8864a6f"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70cc60feb8dd47c7" /><Relationship Type="http://schemas.openxmlformats.org/officeDocument/2006/relationships/notesMaster" Target="/ppt/notesMasters/notesMaster1.xml" Id="R2ec29bd74db247c8"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5d0adc9e171c4e34" /><Relationship Type="http://schemas.openxmlformats.org/officeDocument/2006/relationships/notesMaster" Target="/ppt/notesMasters/notesMaster1.xml" Id="Raf6cb8bb35b3469b"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2ca4dbd33a2642c9" /><Relationship Type="http://schemas.openxmlformats.org/officeDocument/2006/relationships/notesMaster" Target="/ppt/notesMasters/notesMaster1.xml" Id="R55ba705bf44c43b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a6a20b201d4f4eba" /><Relationship Type="http://schemas.openxmlformats.org/officeDocument/2006/relationships/notesMaster" Target="/ppt/notesMasters/notesMaster1.xml" Id="R5fac2193baa74fa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fdfc0cabe02b488a" /><Relationship Type="http://schemas.openxmlformats.org/officeDocument/2006/relationships/notesMaster" Target="/ppt/notesMasters/notesMaster1.xml" Id="R529a4232a04243d6"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525b79b045bc47c1" /><Relationship Type="http://schemas.openxmlformats.org/officeDocument/2006/relationships/notesMaster" Target="/ppt/notesMasters/notesMaster1.xml" Id="R40dafae391b045f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bef2ee5aa09440fd" /><Relationship Type="http://schemas.openxmlformats.org/officeDocument/2006/relationships/notesMaster" Target="/ppt/notesMasters/notesMaster1.xml" Id="R6926f0e7dfc944d0"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6ecc3322df924851" /><Relationship Type="http://schemas.openxmlformats.org/officeDocument/2006/relationships/notesMaster" Target="/ppt/notesMasters/notesMaster1.xml" Id="R403059b405324a5b"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42a986762ef4475c" /><Relationship Type="http://schemas.openxmlformats.org/officeDocument/2006/relationships/notesMaster" Target="/ppt/notesMasters/notesMaster1.xml" Id="Rb8569cbb16a14422"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6b65fda60ad04f81" /><Relationship Type="http://schemas.openxmlformats.org/officeDocument/2006/relationships/notesMaster" Target="/ppt/notesMasters/notesMaster1.xml" Id="R82d3c229b5414960"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219d95f043414e44" /><Relationship Type="http://schemas.openxmlformats.org/officeDocument/2006/relationships/notesMaster" Target="/ppt/notesMasters/notesMaster1.xml" Id="Rf84ec19392ea434c"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b535f89648e5401d" /><Relationship Type="http://schemas.openxmlformats.org/officeDocument/2006/relationships/notesMaster" Target="/ppt/notesMasters/notesMaster1.xml" Id="R3793e75a1e4d46e0"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8b45c2d16241409b" /><Relationship Type="http://schemas.openxmlformats.org/officeDocument/2006/relationships/notesMaster" Target="/ppt/notesMasters/notesMaster1.xml" Id="R510d4cc560104322"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ee18af0741cb4472" /><Relationship Type="http://schemas.openxmlformats.org/officeDocument/2006/relationships/notesMaster" Target="/ppt/notesMasters/notesMaster1.xml" Id="R03e8717337d74322"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64805c9e88834cf3" /><Relationship Type="http://schemas.openxmlformats.org/officeDocument/2006/relationships/notesMaster" Target="/ppt/notesMasters/notesMaster1.xml" Id="R9ed18771833e4d53"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6deeb0f9fb1646ef" /><Relationship Type="http://schemas.openxmlformats.org/officeDocument/2006/relationships/notesMaster" Target="/ppt/notesMasters/notesMaster1.xml" Id="Re6ac33ee0c2341a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60a6ec07cf414912" /><Relationship Type="http://schemas.openxmlformats.org/officeDocument/2006/relationships/notesMaster" Target="/ppt/notesMasters/notesMaster1.xml" Id="R5e60e884f71a45d5"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34b73b9fcaba4c9e" /><Relationship Type="http://schemas.openxmlformats.org/officeDocument/2006/relationships/notesMaster" Target="/ppt/notesMasters/notesMaster1.xml" Id="Rd8f352e8315d4cce"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427fde37cab94bdd" /><Relationship Type="http://schemas.openxmlformats.org/officeDocument/2006/relationships/notesMaster" Target="/ppt/notesMasters/notesMaster1.xml" Id="R121864fadb1146f6"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9acfe4e5ea0b4a02" /><Relationship Type="http://schemas.openxmlformats.org/officeDocument/2006/relationships/notesMaster" Target="/ppt/notesMasters/notesMaster1.xml" Id="R4cfa2b74f21d430d"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017ac8e58ffe451b" /><Relationship Type="http://schemas.openxmlformats.org/officeDocument/2006/relationships/notesMaster" Target="/ppt/notesMasters/notesMaster1.xml" Id="R09d367e4f790440d"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3d1737f4d7864f6c" /><Relationship Type="http://schemas.openxmlformats.org/officeDocument/2006/relationships/notesMaster" Target="/ppt/notesMasters/notesMaster1.xml" Id="R7a0a4791cc72465d"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92e23726917b4a81" /><Relationship Type="http://schemas.openxmlformats.org/officeDocument/2006/relationships/notesMaster" Target="/ppt/notesMasters/notesMaster1.xml" Id="R70a9bf248dea496b"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e2bc38feb3c4f64" /><Relationship Type="http://schemas.openxmlformats.org/officeDocument/2006/relationships/notesMaster" Target="/ppt/notesMasters/notesMaster1.xml" Id="Ra5e3d22c2f8746f4"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d339a3d69d9a48c3" /><Relationship Type="http://schemas.openxmlformats.org/officeDocument/2006/relationships/notesMaster" Target="/ppt/notesMasters/notesMaster1.xml" Id="R7e49f3c19ee94a2e"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46a39ac0f1b745a6" /><Relationship Type="http://schemas.openxmlformats.org/officeDocument/2006/relationships/notesMaster" Target="/ppt/notesMasters/notesMaster1.xml" Id="R3664047d005f45d8"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ed0a5132fb37470a" /><Relationship Type="http://schemas.openxmlformats.org/officeDocument/2006/relationships/notesMaster" Target="/ppt/notesMasters/notesMaster1.xml" Id="R4a75d440052e4ebc"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23c8246ebd3c47e6" /><Relationship Type="http://schemas.openxmlformats.org/officeDocument/2006/relationships/notesMaster" Target="/ppt/notesMasters/notesMaster1.xml" Id="R395da51b7c9a4ac5"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f7036470ebfa4021" /><Relationship Type="http://schemas.openxmlformats.org/officeDocument/2006/relationships/notesMaster" Target="/ppt/notesMasters/notesMaster1.xml" Id="Ra844e9ee33c24e64"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ed1692f3bc034e4e" /><Relationship Type="http://schemas.openxmlformats.org/officeDocument/2006/relationships/notesMaster" Target="/ppt/notesMasters/notesMaster1.xml" Id="R166b34983ea64b0b"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f76fff5c1f32484b" /><Relationship Type="http://schemas.openxmlformats.org/officeDocument/2006/relationships/notesMaster" Target="/ppt/notesMasters/notesMaster1.xml" Id="R227efcb4d920413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6c868f95fc134835" /><Relationship Type="http://schemas.openxmlformats.org/officeDocument/2006/relationships/notesMaster" Target="/ppt/notesMasters/notesMaster1.xml" Id="R47ffc0f6963e4c26"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570672c82def4390" /><Relationship Type="http://schemas.openxmlformats.org/officeDocument/2006/relationships/notesMaster" Target="/ppt/notesMasters/notesMaster1.xml" Id="R3c3a4343938f4be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368e29bb972142f7" /><Relationship Type="http://schemas.openxmlformats.org/officeDocument/2006/relationships/notesMaster" Target="/ppt/notesMasters/notesMaster1.xml" Id="Rdded0671e9274457"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782a202e070e4436" /><Relationship Type="http://schemas.openxmlformats.org/officeDocument/2006/relationships/notesMaster" Target="/ppt/notesMasters/notesMaster1.xml" Id="R11060d9508db46e4"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99f500147d7c4577" /><Relationship Type="http://schemas.openxmlformats.org/officeDocument/2006/relationships/notesMaster" Target="/ppt/notesMasters/notesMaster1.xml" Id="Rf6e68183c9234697"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016fbe58fdda4514" /><Relationship Type="http://schemas.openxmlformats.org/officeDocument/2006/relationships/notesMaster" Target="/ppt/notesMasters/notesMaster1.xml" Id="Rd0a5d8e6aa7446fd"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fe0a073e52cb4191" /><Relationship Type="http://schemas.openxmlformats.org/officeDocument/2006/relationships/notesMaster" Target="/ppt/notesMasters/notesMaster1.xml" Id="Rcfdca0341a87486a"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fe1c71e069d14505" /><Relationship Type="http://schemas.openxmlformats.org/officeDocument/2006/relationships/notesMaster" Target="/ppt/notesMasters/notesMaster1.xml" Id="R9f45c49b99274ea5"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c4caf407af9548e3" /><Relationship Type="http://schemas.openxmlformats.org/officeDocument/2006/relationships/notesMaster" Target="/ppt/notesMasters/notesMaster1.xml" Id="R3fd36146f8ab47c1"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dc673cc49dd743ad" /><Relationship Type="http://schemas.openxmlformats.org/officeDocument/2006/relationships/notesMaster" Target="/ppt/notesMasters/notesMaster1.xml" Id="R212b252709024e69"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af9d1e7666154cbe" /><Relationship Type="http://schemas.openxmlformats.org/officeDocument/2006/relationships/notesMaster" Target="/ppt/notesMasters/notesMaster1.xml" Id="R1a4919dc427f4752"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d779991d540346bd" /><Relationship Type="http://schemas.openxmlformats.org/officeDocument/2006/relationships/notesMaster" Target="/ppt/notesMasters/notesMaster1.xml" Id="R5457760841454bbc"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64a8360185414b3b" /><Relationship Type="http://schemas.openxmlformats.org/officeDocument/2006/relationships/notesMaster" Target="/ppt/notesMasters/notesMaster1.xml" Id="Rae8b48d8bfd54af8"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3c592fd7ec3b4041" /><Relationship Type="http://schemas.openxmlformats.org/officeDocument/2006/relationships/notesMaster" Target="/ppt/notesMasters/notesMaster1.xml" Id="R34001bb4cc5b45c7"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391803063a6c46ff" /><Relationship Type="http://schemas.openxmlformats.org/officeDocument/2006/relationships/notesMaster" Target="/ppt/notesMasters/notesMaster1.xml" Id="Re90cf34840c7442a"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c4d7f797cde1400c" /><Relationship Type="http://schemas.openxmlformats.org/officeDocument/2006/relationships/notesMaster" Target="/ppt/notesMasters/notesMaster1.xml" Id="R6c095c8d558d4822"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39d6d3db17e04c17" /><Relationship Type="http://schemas.openxmlformats.org/officeDocument/2006/relationships/notesMaster" Target="/ppt/notesMasters/notesMaster1.xml" Id="Rc9017d6f4788410d"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238dfa9b67e04b2a" /><Relationship Type="http://schemas.openxmlformats.org/officeDocument/2006/relationships/notesMaster" Target="/ppt/notesMasters/notesMaster1.xml" Id="R6c7fd5f1236340f2"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db77b10bee0741a9" /><Relationship Type="http://schemas.openxmlformats.org/officeDocument/2006/relationships/notesMaster" Target="/ppt/notesMasters/notesMaster1.xml" Id="R5f58881bcda64de0"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cc308403cf6840f6" /><Relationship Type="http://schemas.openxmlformats.org/officeDocument/2006/relationships/notesMaster" Target="/ppt/notesMasters/notesMaster1.xml" Id="Rc30fba0952204df7"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9e64ad77cd4d4331" /><Relationship Type="http://schemas.openxmlformats.org/officeDocument/2006/relationships/notesMaster" Target="/ppt/notesMasters/notesMaster1.xml" Id="Ra7284011234649bf"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0f8473b892124c8d" /><Relationship Type="http://schemas.openxmlformats.org/officeDocument/2006/relationships/notesMaster" Target="/ppt/notesMasters/notesMaster1.xml" Id="Rcbc293f044a644d5"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e690cd54dd414ee7" /><Relationship Type="http://schemas.openxmlformats.org/officeDocument/2006/relationships/notesMaster" Target="/ppt/notesMasters/notesMaster1.xml" Id="R1d3dd5cad43645f9"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0228fb49d7e34539" /><Relationship Type="http://schemas.openxmlformats.org/officeDocument/2006/relationships/notesMaster" Target="/ppt/notesMasters/notesMaster1.xml" Id="Rcb71f78fdc004425"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94181854ad0948e7" /><Relationship Type="http://schemas.openxmlformats.org/officeDocument/2006/relationships/notesMaster" Target="/ppt/notesMasters/notesMaster1.xml" Id="Rb71bc35a52f2430e"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fbec8cd6a02b4693" /><Relationship Type="http://schemas.openxmlformats.org/officeDocument/2006/relationships/notesMaster" Target="/ppt/notesMasters/notesMaster1.xml" Id="R7bf98504225949c0"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e1edc09dee4c4ded" /><Relationship Type="http://schemas.openxmlformats.org/officeDocument/2006/relationships/notesMaster" Target="/ppt/notesMasters/notesMaster1.xml" Id="R35977927b384411f"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36ae513516a54ce9" /><Relationship Type="http://schemas.openxmlformats.org/officeDocument/2006/relationships/notesMaster" Target="/ppt/notesMasters/notesMaster1.xml" Id="R2d806f7f1de64ba9"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5e5ebc5748164a94" /><Relationship Type="http://schemas.openxmlformats.org/officeDocument/2006/relationships/notesMaster" Target="/ppt/notesMasters/notesMaster1.xml" Id="Rf3f1e8e864a849a4"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8c461fcc186a4cae" /><Relationship Type="http://schemas.openxmlformats.org/officeDocument/2006/relationships/notesMaster" Target="/ppt/notesMasters/notesMaster1.xml" Id="R42df33e4a72c453e"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546ea1b6df144583" /><Relationship Type="http://schemas.openxmlformats.org/officeDocument/2006/relationships/notesMaster" Target="/ppt/notesMasters/notesMaster1.xml" Id="R2d0e93c9a6764ba2"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ced4bd12e4dc45f6" /><Relationship Type="http://schemas.openxmlformats.org/officeDocument/2006/relationships/notesMaster" Target="/ppt/notesMasters/notesMaster1.xml" Id="R41116c94398f4127"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42f3ad0223a34b14" /><Relationship Type="http://schemas.openxmlformats.org/officeDocument/2006/relationships/notesMaster" Target="/ppt/notesMasters/notesMaster1.xml" Id="Rd2df2b60409b4d9c"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ee77424a0a484e14" /><Relationship Type="http://schemas.openxmlformats.org/officeDocument/2006/relationships/notesMaster" Target="/ppt/notesMasters/notesMaster1.xml" Id="R5542d7195e6d4f36"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2aa06be8d8124d8d" /><Relationship Type="http://schemas.openxmlformats.org/officeDocument/2006/relationships/notesMaster" Target="/ppt/notesMasters/notesMaster1.xml" Id="R7ddd9a8768c24fea"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ee394db572bb438c" /><Relationship Type="http://schemas.openxmlformats.org/officeDocument/2006/relationships/notesMaster" Target="/ppt/notesMasters/notesMaster1.xml" Id="Rdfbbc2a203a64a29"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cbaf5b1330fc4e14" /><Relationship Type="http://schemas.openxmlformats.org/officeDocument/2006/relationships/notesMaster" Target="/ppt/notesMasters/notesMaster1.xml" Id="R75ac845e9e094d5c"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e3b5ac2be5e74134" /><Relationship Type="http://schemas.openxmlformats.org/officeDocument/2006/relationships/notesMaster" Target="/ppt/notesMasters/notesMaster1.xml" Id="Rc7a1f850351245be"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89b81891b5414eab" /><Relationship Type="http://schemas.openxmlformats.org/officeDocument/2006/relationships/notesMaster" Target="/ppt/notesMasters/notesMaster1.xml" Id="R5d02603b5813467c"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73e4acc3e3af4e2c" /><Relationship Type="http://schemas.openxmlformats.org/officeDocument/2006/relationships/notesMaster" Target="/ppt/notesMasters/notesMaster1.xml" Id="Re2a51a48a2bf4cda"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f9abc6d4950240ac" /><Relationship Type="http://schemas.openxmlformats.org/officeDocument/2006/relationships/notesMaster" Target="/ppt/notesMasters/notesMaster1.xml" Id="Rdd3a71f334f44f33"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78066db9805045b4" /><Relationship Type="http://schemas.openxmlformats.org/officeDocument/2006/relationships/notesMaster" Target="/ppt/notesMasters/notesMaster1.xml" Id="Rb4fe797a24d9408f"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50b4e2fb44184d1e" /><Relationship Type="http://schemas.openxmlformats.org/officeDocument/2006/relationships/notesMaster" Target="/ppt/notesMasters/notesMaster1.xml" Id="R36ce561bb5b84c30"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fdc6a6072f044ba4" /><Relationship Type="http://schemas.openxmlformats.org/officeDocument/2006/relationships/notesMaster" Target="/ppt/notesMasters/notesMaster1.xml" Id="Rbe315a71569f40db"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b78465dbccb34a84" /><Relationship Type="http://schemas.openxmlformats.org/officeDocument/2006/relationships/notesMaster" Target="/ppt/notesMasters/notesMaster1.xml" Id="R37e994964198400d"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b0def25928264ef3" /><Relationship Type="http://schemas.openxmlformats.org/officeDocument/2006/relationships/notesMaster" Target="/ppt/notesMasters/notesMaster1.xml" Id="R52bc754ac9024e99"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322477ccba0f46ac" /><Relationship Type="http://schemas.openxmlformats.org/officeDocument/2006/relationships/notesMaster" Target="/ppt/notesMasters/notesMaster1.xml" Id="Rf75e54c16fc04796"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fd6c284448994ef4" /><Relationship Type="http://schemas.openxmlformats.org/officeDocument/2006/relationships/notesMaster" Target="/ppt/notesMasters/notesMaster1.xml" Id="Rb1abca39196c432f"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4635090ca7e84af9" /><Relationship Type="http://schemas.openxmlformats.org/officeDocument/2006/relationships/notesMaster" Target="/ppt/notesMasters/notesMaster1.xml" Id="Rad95f6d0b4a7476b"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e9c8e04d3d2c4309" /><Relationship Type="http://schemas.openxmlformats.org/officeDocument/2006/relationships/notesMaster" Target="/ppt/notesMasters/notesMaster1.xml" Id="R6ccd1d512625431d"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fba6832910d64717" /><Relationship Type="http://schemas.openxmlformats.org/officeDocument/2006/relationships/notesMaster" Target="/ppt/notesMasters/notesMaster1.xml" Id="Re9cbda9979944810"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057ece947b05497d" /><Relationship Type="http://schemas.openxmlformats.org/officeDocument/2006/relationships/notesMaster" Target="/ppt/notesMasters/notesMaster1.xml" Id="R61020fd8d28149aa"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f23c369e9d54478f" /><Relationship Type="http://schemas.openxmlformats.org/officeDocument/2006/relationships/notesMaster" Target="/ppt/notesMasters/notesMaster1.xml" Id="R4f03cdd69ce943d6"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eb2fcac1090941dd" /><Relationship Type="http://schemas.openxmlformats.org/officeDocument/2006/relationships/notesMaster" Target="/ppt/notesMasters/notesMaster1.xml" Id="R728e5a0ebef9450f"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7ca80ad10dc7457d" /><Relationship Type="http://schemas.openxmlformats.org/officeDocument/2006/relationships/notesMaster" Target="/ppt/notesMasters/notesMaster1.xml" Id="R658b02a8958c40bb"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e3dc103457fb42e1" /><Relationship Type="http://schemas.openxmlformats.org/officeDocument/2006/relationships/notesMaster" Target="/ppt/notesMasters/notesMaster1.xml" Id="Rf23cf2b9e6414c3e"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cd0f6a1588434db8" /><Relationship Type="http://schemas.openxmlformats.org/officeDocument/2006/relationships/notesMaster" Target="/ppt/notesMasters/notesMaster1.xml" Id="R38b65693624545b5"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53a939e610bb4ce6" /><Relationship Type="http://schemas.openxmlformats.org/officeDocument/2006/relationships/notesMaster" Target="/ppt/notesMasters/notesMaster1.xml" Id="R6c728e0c2e164321"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5d5b890376244731" /><Relationship Type="http://schemas.openxmlformats.org/officeDocument/2006/relationships/notesMaster" Target="/ppt/notesMasters/notesMaster1.xml" Id="R98c80316f11f4e57"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8f6f2d93bffb4c9b" /><Relationship Type="http://schemas.openxmlformats.org/officeDocument/2006/relationships/notesMaster" Target="/ppt/notesMasters/notesMaster1.xml" Id="Raabc8ebc98b6494d"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8e0bafd60cd64937" /><Relationship Type="http://schemas.openxmlformats.org/officeDocument/2006/relationships/notesMaster" Target="/ppt/notesMasters/notesMaster1.xml" Id="Re5959727ff7b4c9d"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3107e8e98e114abf" /><Relationship Type="http://schemas.openxmlformats.org/officeDocument/2006/relationships/notesMaster" Target="/ppt/notesMasters/notesMaster1.xml" Id="Rb4f832691fcb4e26"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2d41398663674126" /><Relationship Type="http://schemas.openxmlformats.org/officeDocument/2006/relationships/notesMaster" Target="/ppt/notesMasters/notesMaster1.xml" Id="Rabed906d15444730"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9cca06f70e9549b1" /><Relationship Type="http://schemas.openxmlformats.org/officeDocument/2006/relationships/notesMaster" Target="/ppt/notesMasters/notesMaster1.xml" Id="Rf0e9bd5ce8f048d7"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44b54ab8f6094538" /><Relationship Type="http://schemas.openxmlformats.org/officeDocument/2006/relationships/notesMaster" Target="/ppt/notesMasters/notesMaster1.xml" Id="R51f14d7f49f948b6"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3e5759149fe3486b" /><Relationship Type="http://schemas.openxmlformats.org/officeDocument/2006/relationships/notesMaster" Target="/ppt/notesMasters/notesMaster1.xml" Id="R01019f4d2be24bde"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dd250c126c564a49" /><Relationship Type="http://schemas.openxmlformats.org/officeDocument/2006/relationships/notesMaster" Target="/ppt/notesMasters/notesMaster1.xml" Id="R0ba9e0f1f12e42ad"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c2a4e7b7ef9f423e" /><Relationship Type="http://schemas.openxmlformats.org/officeDocument/2006/relationships/notesMaster" Target="/ppt/notesMasters/notesMaster1.xml" Id="Reeac85b200464aeb"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e0b0b3d375fd4540" /><Relationship Type="http://schemas.openxmlformats.org/officeDocument/2006/relationships/notesMaster" Target="/ppt/notesMasters/notesMaster1.xml" Id="Rb463ed5fb5484b3b"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655f695fc48d42d8" /><Relationship Type="http://schemas.openxmlformats.org/officeDocument/2006/relationships/notesMaster" Target="/ppt/notesMasters/notesMaster1.xml" Id="R33560a1ca9b04625"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1617f66d4acf46c8" /><Relationship Type="http://schemas.openxmlformats.org/officeDocument/2006/relationships/notesMaster" Target="/ppt/notesMasters/notesMaster1.xml" Id="R85c2c7a76a4e4837"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604a2e4c4ef5400c" /><Relationship Type="http://schemas.openxmlformats.org/officeDocument/2006/relationships/notesMaster" Target="/ppt/notesMasters/notesMaster1.xml" Id="R7141f1ab41224a07"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f2368b7c486c4182" /><Relationship Type="http://schemas.openxmlformats.org/officeDocument/2006/relationships/notesMaster" Target="/ppt/notesMasters/notesMaster1.xml" Id="R88736811527d4aa0"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6a5ecd505897429b" /><Relationship Type="http://schemas.openxmlformats.org/officeDocument/2006/relationships/notesMaster" Target="/ppt/notesMasters/notesMaster1.xml" Id="R94afb9e7d06d4e9c"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51fb9dd386204d72" /><Relationship Type="http://schemas.openxmlformats.org/officeDocument/2006/relationships/notesMaster" Target="/ppt/notesMasters/notesMaster1.xml" Id="R4b7b0f7361884c1a"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420320350da240f1" /><Relationship Type="http://schemas.openxmlformats.org/officeDocument/2006/relationships/notesMaster" Target="/ppt/notesMasters/notesMaster1.xml" Id="R02f4cc691e2c447b"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b07d241e469e459b" /><Relationship Type="http://schemas.openxmlformats.org/officeDocument/2006/relationships/notesMaster" Target="/ppt/notesMasters/notesMaster1.xml" Id="Rf1a0c6a969254c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PR 리뷰 · 문서 자동화</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4주차 학습 경로</a:t>
            </a:r>
          </a:p>
          <a:p xmlns:a="http://schemas.openxmlformats.org/drawingml/2006/main">
            <a:r>
              <a:t/>
            </a:r>
          </a:p>
          <a:p xmlns:a="http://schemas.openxmlformats.org/drawingml/2006/main">
            <a:r>
              <a:t>앞선 수업을 다시 강의하지 않는다. 이번 주에는 실제 파일의 수정 전후를 보여 주며, AI가 초안을 만들고 소프트웨어가 계산과 검증을 맡는 차이를 연결한다.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하루 시간표</a:t>
            </a:r>
          </a:p>
          <a:p xmlns:a="http://schemas.openxmlformats.org/drawingml/2006/main">
            <a:r>
              <a:t/>
            </a:r>
          </a:p>
          <a:p xmlns:a="http://schemas.openxmlformats.org/drawingml/2006/main">
            <a:r>
              <a:t>4주차는 일반 점심시간 12~13시다. 학습 400분, 휴식 및 Q&amp;A 80분이다. 휴식은 각 연강 구간의 끝에 둔다. 마지막 Q&amp;A 참여는 선택이다.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실습 환경</a:t>
            </a:r>
          </a:p>
          <a:p xmlns:a="http://schemas.openxmlformats.org/drawingml/2006/main">
            <a:r>
              <a:t/>
            </a:r>
          </a:p>
          <a:p xmlns:a="http://schemas.openxmlformats.org/drawingml/2006/main">
            <a:r>
              <a:t>기본 코드는 AI API나 로그인 없이 실행한다. Codex·Claude의 실시간 생성은 별도 계정 조건이 적용된다. 무료 LibreOffice 또는 사용 가능한 Office로 결과를 연다. 회사 자료를 업로드하지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Notebook 시작</a:t>
            </a:r>
          </a:p>
          <a:p xmlns:a="http://schemas.openxmlformats.org/drawingml/2006/main">
            <a:r>
              <a:t/>
            </a:r>
          </a:p>
          <a:p xmlns:a="http://schemas.openxmlformats.org/drawingml/2006/main">
            <a:r>
              <a:t>Mac은 python3 또는 가상환경 Python을 사용한다. Notebook 첫 셀은 현재 커널에 필요한 패키지를 설치한다. 오래된 실행본이 아니라 새 Notebook을 열고 위에서부터 진행한다.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도구별 작업 공간</a:t>
            </a:r>
          </a:p>
          <a:p xmlns:a="http://schemas.openxmlformats.org/drawingml/2006/main">
            <a:r>
              <a:t/>
            </a:r>
          </a:p>
          <a:p xmlns:a="http://schemas.openxmlformats.org/drawingml/2006/main">
            <a:r>
              <a:t>일반 대화창 로그인만으로 PC 전체 파일 접근이나 GitHub 쓰기가 생기는 것은 아니다. 이번 기본 과정은 Python 코드이며, 로컬 Codex/Claude Code는 학생이 가진 환경을 연결한다. 공식 제품 문서 확인 2026-09-12.</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시작 안내 (1차시 50분에 포함)</a:t>
            </a:r>
          </a:p>
          <a:p xmlns:a="http://schemas.openxmlformats.org/drawingml/2006/main">
            <a:r>
              <a:t/>
            </a:r>
          </a:p>
          <a:p xmlns:a="http://schemas.openxmlformats.org/drawingml/2006/main">
            <a:r>
              <a:t>화면 주제: 입력에서 결과 파일까지</a:t>
            </a:r>
          </a:p>
          <a:p xmlns:a="http://schemas.openxmlformats.org/drawingml/2006/main">
            <a:r>
              <a:t/>
            </a:r>
          </a:p>
          <a:p xmlns:a="http://schemas.openxmlformats.org/drawingml/2006/main">
            <a:r>
              <a:t>세 갈래가 서로 다른 일을 한다. PR은 AI 리뷰 초안과 테스트를 연결하고, Excel/PPT는 정해진 계산을 공유하며, Word는 경력 사실과 문장 개선을 비교한다. 모든 경로에 입력 검사와 사람 확인을 두지만 검증 기준은 같지 않다. 원격 전송은 이 그림 밖의 별도 승인 단계다.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https://support.claude.com/en/articles/12111783-create-and-edit-files-with-claude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PR 대상과 변경 코드</a:t>
            </a:r>
          </a:p>
          <a:p xmlns:a="http://schemas.openxmlformats.org/drawingml/2006/main">
            <a:r>
              <a:t/>
            </a:r>
          </a:p>
          <a:p xmlns:a="http://schemas.openxmlformats.org/drawingml/2006/main">
            <a:r>
              <a:t>차시별 자료: pr.json · changes.diff · review.html.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리뷰 결과의 목적지</a:t>
            </a:r>
          </a:p>
          <a:p xmlns:a="http://schemas.openxmlformats.org/drawingml/2006/main">
            <a:r>
              <a:t/>
            </a:r>
          </a:p>
          <a:p xmlns:a="http://schemas.openxmlformats.org/drawingml/2006/main">
            <a:r>
              <a:t>택배 주소 비유로 repo/PR/SHA를 구분한다. PR 제목만 같아도 같은 작업이 아니다. 원격 게시 전 검증해야 할 값을 세 가지로 제한해 설명한다.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PR 구성</a:t>
            </a:r>
          </a:p>
          <a:p xmlns:a="http://schemas.openxmlformats.org/drawingml/2006/main">
            <a:r>
              <a:t/>
            </a:r>
          </a:p>
          <a:p xmlns:a="http://schemas.openxmlformats.org/drawingml/2006/main">
            <a:r>
              <a:t>합성 PR임을 명확히 말한다. 실제 GitHub 화면의 실행 증거가 아니다. 숫자 42와 SHA는 서로 대체할 수 없다.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AI와 코드의 Role</a:t>
            </a:r>
          </a:p>
          <a:p xmlns:a="http://schemas.openxmlformats.org/drawingml/2006/main">
            <a:r>
              <a:t/>
            </a:r>
          </a:p>
          <a:p xmlns:a="http://schemas.openxmlformats.org/drawingml/2006/main">
            <a:r>
              <a:t>한 모델에게 모든 검사를 부탁하면 문장은 그럴듯해도 대상 불일치가 남을 수 있다. 실패 조건이 명확한 부분은 코드로 고정한다.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Diff 읽기</a:t>
            </a:r>
          </a:p>
          <a:p xmlns:a="http://schemas.openxmlformats.org/drawingml/2006/main">
            <a:r>
              <a:t/>
            </a:r>
          </a:p>
          <a:p xmlns:a="http://schemas.openxmlformats.org/drawingml/2006/main">
            <a:r>
              <a:t>원래 정상적인 수량 계산이 쿠폰 추가로 어떻게 바뀌는지 직접 1000×1−5000을 계산한다. 줄 번호는 새 파일의 RIGHT 기준임을 연결한다.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입력 검증의 순서</a:t>
            </a:r>
          </a:p>
          <a:p xmlns:a="http://schemas.openxmlformats.org/drawingml/2006/main">
            <a:r>
              <a:t/>
            </a:r>
          </a:p>
          <a:p xmlns:a="http://schemas.openxmlformats.org/drawingml/2006/main">
            <a:r>
              <a:t>SHA 형식이 맞는 것과 최신 버전이 일치하는 것은 다르다. 경로는 resolve 후 루트 아래인지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PR 리뷰 작업대</a:t>
            </a:r>
          </a:p>
          <a:p xmlns:a="http://schemas.openxmlformats.org/drawingml/2006/main">
            <a:r>
              <a:t/>
            </a:r>
          </a:p>
          <a:p xmlns:a="http://schemas.openxmlformats.org/drawingml/2006/main">
            <a:r>
              <a:t>브라우저 화면에서 변경 코드와 pytest 실패를 짚는다. 빨간 테스트는 준비 실패가 아니라 학생이 고칠 결함이다. 아래 리뷰 초안은 수업용 fixture라고 정확히 구분한다.</a:t>
            </a:r>
          </a:p>
          <a:p xmlns:a="http://schemas.openxmlformats.org/drawingml/2006/main">
            <a:r>
              <a:t/>
            </a:r>
          </a:p>
          <a:p xmlns:a="http://schemas.openxmlformats.org/drawingml/2006/main">
            <a:r>
              <a:t>그림 출처: assets/components/day4/pr-review-workbench.png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합성 PR 로딩</a:t>
            </a:r>
          </a:p>
          <a:p xmlns:a="http://schemas.openxmlformats.org/drawingml/2006/main">
            <a:r>
              <a:t/>
            </a:r>
          </a:p>
          <a:p xmlns:a="http://schemas.openxmlformats.org/drawingml/2006/main">
            <a:r>
              <a:t>실제 키 이름을 pr.json에서 같이 찾고 출력한다. 실패가 있으면 import 경로와 커널의 현재 폴더부터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Notebook 실행 위치</a:t>
            </a:r>
          </a:p>
          <a:p xmlns:a="http://schemas.openxmlformats.org/drawingml/2006/main">
            <a:r>
              <a:t/>
            </a:r>
          </a:p>
          <a:p xmlns:a="http://schemas.openxmlformats.org/drawingml/2006/main">
            <a:r>
              <a:t>Notebook 준비 셀에서 정의한 sys, ROOT, Path를 사용한다. 실행 위치가 materials/day4여도 준비 셀이 상위 프로젝트 폴더를 찾으므로 반드시 잘못된 상태는 아니다. ROOT는 requirements-day4.txt와 labs가 있는 폴더다. NameError는 준비 셀 미실행을, ModuleNotFoundError는 커널과 설치 환경을 먼저 확인한다. 학생이 설치를 반복하기 전에 출력된 Python 경로와 선택 커널을 대조하게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대상 정보 확인</a:t>
            </a:r>
          </a:p>
          <a:p xmlns:a="http://schemas.openxmlformats.org/drawingml/2006/main">
            <a:r>
              <a:t/>
            </a:r>
          </a:p>
          <a:p xmlns:a="http://schemas.openxmlformats.org/drawingml/2006/main">
            <a:r>
              <a:t>첫 작업은 JSON 산출이 아니라 실제 변경 코드를 읽는 준비다. 화면과 파일의 연결을 한 명씩 발표시키지 않고 채팅 질문으로만 받는다.</a:t>
            </a:r>
          </a:p>
          <a:p xmlns:a="http://schemas.openxmlformats.org/drawingml/2006/main">
            <a:r>
              <a:t/>
            </a:r>
          </a:p>
          <a:p xmlns:a="http://schemas.openxmlformats.org/drawingml/2006/main">
            <a:r>
              <a:t>학생 작업:</a:t>
            </a:r>
          </a:p>
          <a:p xmlns:a="http://schemas.openxmlformats.org/drawingml/2006/main">
            <a:r>
              <a:t>1. Notebook 1차시에서 합성 PR 로딩</a:t>
            </a:r>
          </a:p>
          <a:p xmlns:a="http://schemas.openxmlformats.org/drawingml/2006/main">
            <a:r>
              <a:t>2. 저장소·번호·SHA를 각각 출력</a:t>
            </a:r>
          </a:p>
          <a:p xmlns:a="http://schemas.openxmlformats.org/drawingml/2006/main">
            <a:r>
              <a:t>3. changes.diff와 checkout.py 변경 줄 비교</a:t>
            </a:r>
          </a:p>
          <a:p xmlns:a="http://schemas.openxmlformats.org/drawingml/2006/main">
            <a:r>
              <a:t>파일: labs/day4/pr_review_lab/fixtures/pr.json</a:t>
            </a:r>
          </a:p>
          <a:p xmlns:a="http://schemas.openxmlformats.org/drawingml/2006/main">
            <a:r>
              <a:t>성공 확인: 세 값의 의미를 구분하고 해당 변경 파일을 열기</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PR 번호 검사의 수정</a:t>
            </a:r>
          </a:p>
          <a:p xmlns:a="http://schemas.openxmlformats.org/drawingml/2006/main">
            <a:r>
              <a:t/>
            </a:r>
          </a:p>
          <a:p xmlns:a="http://schemas.openxmlformats.org/drawingml/2006/main">
            <a:r>
              <a:t>제공 함수는 이미 정상이다. 학습을 위해 return 식에서 and pr['number'] == number만 잠시 제거한다. 새 검사 줄은 assert not my_target_matches(snapshot, snapshot["repo"], 43)이다. 번호 조건을 뺐을 때 이 assert가 실패해야 한다. 원래 조건을 복구하면 PR42는 True, PR43은 False다. 검사 기대값을 True로 바꾸는 것은 복구가 아니다. validate_snapshot 함수와 pr.json 원본은 수정하지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잘못된 대상의 차단</a:t>
            </a:r>
          </a:p>
          <a:p xmlns:a="http://schemas.openxmlformats.org/drawingml/2006/main">
            <a:r>
              <a:t/>
            </a:r>
          </a:p>
          <a:p xmlns:a="http://schemas.openxmlformats.org/drawingml/2006/main">
            <a:r>
              <a:t>오류를 단순 실패로 보지 않는다. 잘못된 대상에 리뷰를 남기지 않았다는 성공 기준이다. 학생은 try/except에서 code를 확인한다.</a:t>
            </a:r>
          </a:p>
          <a:p xmlns:a="http://schemas.openxmlformats.org/drawingml/2006/main">
            <a:r>
              <a:t/>
            </a:r>
          </a:p>
          <a:p xmlns:a="http://schemas.openxmlformats.org/drawingml/2006/main">
            <a:r>
              <a:t>학생 작업:</a:t>
            </a:r>
          </a:p>
          <a:p xmlns:a="http://schemas.openxmlformats.org/drawingml/2006/main">
            <a:r>
              <a:t>1. deepcopy로 snapshot 복사</a:t>
            </a:r>
          </a:p>
          <a:p xmlns:a="http://schemas.openxmlformats.org/drawingml/2006/main">
            <a:r>
              <a:t>2. repo를 another/repository로 변경</a:t>
            </a:r>
          </a:p>
          <a:p xmlns:a="http://schemas.openxmlformats.org/drawingml/2006/main">
            <a:r>
              <a:t>3. expected_repo를 원본으로 주고 검증 실행</a:t>
            </a:r>
          </a:p>
          <a:p xmlns:a="http://schemas.openxmlformats.org/drawingml/2006/main">
            <a:r>
              <a:t>파일: Notebook · 1차시 실패 입력</a:t>
            </a:r>
          </a:p>
          <a:p xmlns:a="http://schemas.openxmlformats.org/drawingml/2006/main">
            <a:r>
              <a:t>성공 확인: REPO_MISMATCH 확인 · 원본 fixture 보존</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다른 저장소의 차단</a:t>
            </a:r>
          </a:p>
          <a:p xmlns:a="http://schemas.openxmlformats.org/drawingml/2006/main">
            <a:r>
              <a:t/>
            </a:r>
          </a:p>
          <a:p xmlns:a="http://schemas.openxmlformats.org/drawingml/2006/main">
            <a:r>
              <a:t>이 조각은 오류를 보여 주기 위한 추가 실습이다. try/except LabError 또는 Notebook expected_failure 함수로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SHA 입력의 오류 복구</a:t>
            </a:r>
          </a:p>
          <a:p xmlns:a="http://schemas.openxmlformats.org/drawingml/2006/main">
            <a:r>
              <a:t/>
            </a:r>
          </a:p>
          <a:p xmlns:a="http://schemas.openxmlformats.org/drawingml/2006/main">
            <a:r>
              <a:t>Notebook 1차시 아래 새 셀에 입력한다. deepcopy와 LabError는 준비된 import를 사용한다. 잘못된 값을 일부러 넣어 안정적인 오류 코드를 확인하고, 복사본의 값을 원본 SHA로 복구한다. 마지막 assert는 예외 없이 끝나면 통과다. 이것은 로컬 입력 형식 실험이며 원격 PR의 최신 SHA를 조회한 증거가 아니다. snapshot 원본은 변경하지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로컬 작업 폴더 생성</a:t>
            </a:r>
          </a:p>
          <a:p xmlns:a="http://schemas.openxmlformats.org/drawingml/2006/main">
            <a:r>
              <a:t/>
            </a:r>
          </a:p>
          <a:p xmlns:a="http://schemas.openxmlformats.org/drawingml/2006/main">
            <a:r>
              <a:t>Notebook은 실행마다 새 RUN 폴더를 만든다. 터미널 경로를 고정해 붙이지 말고 출력된 EXERCISE 경로를 사용한다. 5개 테스트 중 정상 쿠폰 케이스는 통과한다.</a:t>
            </a:r>
          </a:p>
          <a:p xmlns:a="http://schemas.openxmlformats.org/drawingml/2006/main">
            <a:r>
              <a:t/>
            </a:r>
          </a:p>
          <a:p xmlns:a="http://schemas.openxmlformats.org/drawingml/2006/main">
            <a:r>
              <a:t>학생 작업:</a:t>
            </a:r>
          </a:p>
          <a:p xmlns:a="http://schemas.openxmlformats.org/drawingml/2006/main">
            <a:r>
              <a:t>1. prepare_exercise로 새 폴더 생성</a:t>
            </a:r>
          </a:p>
          <a:p xmlns:a="http://schemas.openxmlformats.org/drawingml/2006/main">
            <a:r>
              <a:t>2. checkout.py와 test_checkout.py 열기</a:t>
            </a:r>
          </a:p>
          <a:p xmlns:a="http://schemas.openxmlformats.org/drawingml/2006/main">
            <a:r>
              <a:t>3. check_exercise로 현재 테스트 실행</a:t>
            </a:r>
          </a:p>
          <a:p xmlns:a="http://schemas.openxmlformats.org/drawingml/2006/main">
            <a:r>
              <a:t>파일: Notebook에 출력된 EXERCISE 경로</a:t>
            </a:r>
          </a:p>
          <a:p xmlns:a="http://schemas.openxmlformats.org/drawingml/2006/main">
            <a:r>
              <a:t>성공 확인: 4 failed, 1 passed · 기존 파일 덮어쓰기 없음</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실습 파일의 역할</a:t>
            </a:r>
          </a:p>
          <a:p xmlns:a="http://schemas.openxmlformats.org/drawingml/2006/main">
            <a:r>
              <a:t/>
            </a:r>
          </a:p>
          <a:p xmlns:a="http://schemas.openxmlformats.org/drawingml/2006/main">
            <a:r>
              <a:t>네 파일은 EXERCISE 아래에 생성된다. labs/day4/pr_review_lab/fixtures 안의 원본 파일과 혼동하지 않는다. VS Code의 빠른 열기에 Notebook이 출력한 checkout.py 전체 경로를 붙여 넣는다. reference_solution.py는 학생의 현재 코드가 아니며 checkout_before.py는 쿠폰 기능 추가 이전 버전이다. 수정 전후 diff 실습에서는 쿠폰 버그가 있는 fixture checkout.py와 내 수정본을 비교한다.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생성 셀의 재실행 오류</a:t>
            </a:r>
          </a:p>
          <a:p xmlns:a="http://schemas.openxmlformats.org/drawingml/2006/main">
            <a:r>
              <a:t/>
            </a:r>
          </a:p>
          <a:p xmlns:a="http://schemas.openxmlformats.org/drawingml/2006/main">
            <a:r>
              <a:t>이 오류는 설치 실패가 아니다. prepare_exercise가 기존 수정 파일을 덮지 않도록 막은 결과다. 앞서 성공한 EXERCISE 변수는 그대로 남아 있으므로 이후 검사 셀을 실행할 수 있다. 커널까지 초기화했다면 저장해 둔 기존 전체 경로로 EXERCISE = Path("...")를 복구하고 준비 import를 먼저 실행한다. 처음 셀부터 Run All을 하면 새로운 RUN과 새 실습 코드가 생긴다는 점도 구분한다. 기존 폴더 삭제로 해결하지 않는다.</a:t>
            </a:r>
          </a:p>
          <a:p xmlns:a="http://schemas.openxmlformats.org/drawingml/2006/main">
            <a:r>
              <a:t/>
            </a:r>
          </a:p>
          <a:p xmlns:a="http://schemas.openxmlformats.org/drawingml/2006/main">
            <a:r>
              <a:t>학생 작업:</a:t>
            </a:r>
          </a:p>
          <a:p xmlns:a="http://schemas.openxmlformats.org/drawingml/2006/main">
            <a:r>
              <a:t>1. 실습 폴더 생성 셀을 같은 RUN에서 다시 실행</a:t>
            </a:r>
          </a:p>
          <a:p xmlns:a="http://schemas.openxmlformats.org/drawingml/2006/main">
            <a:r>
              <a:t>2. EXERCISE_EXISTS와 기존 파일 보존 확인</a:t>
            </a:r>
          </a:p>
          <a:p xmlns:a="http://schemas.openxmlformats.org/drawingml/2006/main">
            <a:r>
              <a:t>3. 생성 셀을 건너뛰고 현재 EXERCISE 경로 확인</a:t>
            </a:r>
          </a:p>
          <a:p xmlns:a="http://schemas.openxmlformats.org/drawingml/2006/main">
            <a:r>
              <a:t>4. 아래 check_exercise 셀에서 기존 수정본 검사</a:t>
            </a:r>
          </a:p>
          <a:p xmlns:a="http://schemas.openxmlformats.org/drawingml/2006/main">
            <a:r>
              <a:t>파일: Notebook 1차시 · prepare_exercise / check_exercise</a:t>
            </a:r>
          </a:p>
          <a:p xmlns:a="http://schemas.openxmlformats.org/drawingml/2006/main">
            <a:r>
              <a:t>성공 확인: 기존 코드 유지 · 검사 셀만 재실행</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입력과 실행의 구분</a:t>
            </a:r>
          </a:p>
          <a:p xmlns:a="http://schemas.openxmlformats.org/drawingml/2006/main">
            <a:r>
              <a:t/>
            </a:r>
          </a:p>
          <a:p xmlns:a="http://schemas.openxmlformats.org/drawingml/2006/main">
            <a:r>
              <a:t>Prompt Injection은 코드 주석에 정책을 무시하라는 문장이 섞이는 경우로 설명한다. 읽기용 자료와 실행 권한은 다른 문제다.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1차시 확인</a:t>
            </a:r>
          </a:p>
          <a:p xmlns:a="http://schemas.openxmlformats.org/drawingml/2006/main">
            <a:r>
              <a:t/>
            </a:r>
          </a:p>
          <a:p xmlns:a="http://schemas.openxmlformats.org/drawingml/2006/main">
            <a:r>
              <a:t>학생이 모두 완료했는지 체크박스로 자가 점검한다. 발표는 없다. 빠른 학생은 아래 참고의 경로 검사로 확장한다.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API 응답의 누락</a:t>
            </a:r>
          </a:p>
          <a:p xmlns:a="http://schemas.openxmlformats.org/drawingml/2006/main">
            <a:r>
              <a:t/>
            </a:r>
          </a:p>
          <a:p xmlns:a="http://schemas.openxmlformats.org/drawingml/2006/main">
            <a:r>
              <a:t>원격 API의 페이지네이션은 데이터를 끝까지 받았는지의 문제다. 이 실습 adapter는 범위를 제한하고 누락을 조용히 넘기지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1차시 09:00–09:50</a:t>
            </a:r>
          </a:p>
          <a:p xmlns:a="http://schemas.openxmlformats.org/drawingml/2006/main">
            <a:r>
              <a:t/>
            </a:r>
          </a:p>
          <a:p xmlns:a="http://schemas.openxmlformats.org/drawingml/2006/main">
            <a:r>
              <a:t>화면 주제: Context의 우선순위</a:t>
            </a:r>
          </a:p>
          <a:p xmlns:a="http://schemas.openxmlformats.org/drawingml/2006/main">
            <a:r>
              <a:t/>
            </a:r>
          </a:p>
          <a:p xmlns:a="http://schemas.openxmlformats.org/drawingml/2006/main">
            <a:r>
              <a:t>Context가 많다는 사실보다 관련성이 중요하다. 오전 시간을 남기면 리뷰 대상 외 파일을 추가했을 때 오히려 초점이 흐려지는 예를 구두로 제시한다.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리뷰 초안과 코드 수정</a:t>
            </a:r>
          </a:p>
          <a:p xmlns:a="http://schemas.openxmlformats.org/drawingml/2006/main">
            <a:r>
              <a:t/>
            </a:r>
          </a:p>
          <a:p xmlns:a="http://schemas.openxmlformats.org/drawingml/2006/main">
            <a:r>
              <a:t>차시별 자료: checkout.py · test_checkout.py · review.md.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리뷰 의견의 구성</a:t>
            </a:r>
          </a:p>
          <a:p xmlns:a="http://schemas.openxmlformats.org/drawingml/2006/main">
            <a:r>
              <a:t/>
            </a:r>
          </a:p>
          <a:p xmlns:a="http://schemas.openxmlformats.org/drawingml/2006/main">
            <a:r>
              <a:t>스타일 취향보다 사용자 영향이 있는 finding을 먼저 다룬다. P1/P2는 수업 예시의 우선순위이며 조직별 정책에 따라 정의가 필요하다.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그럴듯한 의견과 유용한 의견</a:t>
            </a:r>
          </a:p>
          <a:p xmlns:a="http://schemas.openxmlformats.org/drawingml/2006/main">
            <a:r>
              <a:t/>
            </a:r>
          </a:p>
          <a:p xmlns:a="http://schemas.openxmlformats.org/drawingml/2006/main">
            <a:r>
              <a:t>친절한 문장과 행동 가능한 리뷰를 구분한다. 재현 가능한 입력이 있으면 작성자와 리뷰어가 같은 문제를 볼 수 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추론 결과의 확인</a:t>
            </a:r>
          </a:p>
          <a:p xmlns:a="http://schemas.openxmlformats.org/drawingml/2006/main">
            <a:r>
              <a:t/>
            </a:r>
          </a:p>
          <a:p xmlns:a="http://schemas.openxmlformats.org/drawingml/2006/main">
            <a:r>
              <a:t>LLM이 확신 있게 말해도 테스트를 실행하지 않았다면 실행 증거가 아니다. 코드 리뷰는 사실·예측·취향을 분리해 읽는 훈련이다.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리뷰 요청의 Context</a:t>
            </a:r>
          </a:p>
          <a:p xmlns:a="http://schemas.openxmlformats.org/drawingml/2006/main">
            <a:r>
              <a:t/>
            </a:r>
          </a:p>
          <a:p xmlns:a="http://schemas.openxmlformats.org/drawingml/2006/main">
            <a:r>
              <a:t>모델명만 바꿔도 문제가 해결된다는 인상을 주지 않는다. 자료와 지시, 검증 코드가 한 묶음으로 작동한다.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Codex 리뷰 요청</a:t>
            </a:r>
          </a:p>
          <a:p xmlns:a="http://schemas.openxmlformats.org/drawingml/2006/main">
            <a:r>
              <a:t/>
            </a:r>
          </a:p>
          <a:p xmlns:a="http://schemas.openxmlformats.org/drawingml/2006/main">
            <a:r>
              <a:t>강사는 실제 로컬 프로젝트 대화에 이 요청을 입력한다. 연결이 없으면 제공 fixture를 검토하고 학생이 직접 코드를 수정한다. 실제 모델 출력인 척하지 않는다.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실제 Codex 리뷰 응답</a:t>
            </a:r>
          </a:p>
          <a:p xmlns:a="http://schemas.openxmlformats.org/drawingml/2006/main">
            <a:r>
              <a:t/>
            </a:r>
          </a:p>
          <a:p xmlns:a="http://schemas.openxmlformats.org/drawingml/2006/main">
            <a:r>
              <a:t>2026-09-12 codex-cli 0.151.0, gpt-5.6-sol, read-only로 지정한 세 파일만 읽었다. 실제 응답은 근거 있는 두 결함을 찾았지만 줄 번호를 5로 잘못 썼다. 다음 장표에서 원본과 비교한다. 테스트는 이 모델 호출에서는 미실행이다.</a:t>
            </a:r>
          </a:p>
          <a:p xmlns:a="http://schemas.openxmlformats.org/drawingml/2006/main">
            <a:r>
              <a:t/>
            </a:r>
          </a:p>
          <a:p xmlns:a="http://schemas.openxmlformats.org/drawingml/2006/main">
            <a:r>
              <a:t>그림 출처: assets/components/day4/codex-live-review.png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모델 의견과 코드 근거</a:t>
            </a:r>
          </a:p>
          <a:p xmlns:a="http://schemas.openxmlformats.org/drawingml/2006/main">
            <a:r>
              <a:t/>
            </a:r>
          </a:p>
          <a:p xmlns:a="http://schemas.openxmlformats.org/drawingml/2006/main">
            <a:r>
              <a:t>그럴듯한 리뷰가 있어도 줄 번호와 실행 여부는 확인해야 한다. 모델 원문은 수정하지 않고 별도 사람 검증 기록을 남겼다. Codex_실행사례_및_검증.md 참고.</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초과 쿠폰의 재현</a:t>
            </a:r>
          </a:p>
          <a:p xmlns:a="http://schemas.openxmlformats.org/drawingml/2006/main">
            <a:r>
              <a:t/>
            </a:r>
          </a:p>
          <a:p xmlns:a="http://schemas.openxmlformats.org/drawingml/2006/main">
            <a:r>
              <a:t>Notebook은 준비한 실습 폴더의 테스트를 subprocess로 실행한다. 이 짧은 예시는 함수의 잘못된 계산만 설명한다.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결제 입력 규칙</a:t>
            </a:r>
          </a:p>
          <a:p xmlns:a="http://schemas.openxmlformats.org/drawingml/2006/main">
            <a:r>
              <a:t/>
            </a:r>
          </a:p>
          <a:p xmlns:a="http://schemas.openxmlformats.org/drawingml/2006/main">
            <a:r>
              <a:t>금융 기능을 실제 배포하는 코드가 아니라 기초 검증을 익히는 합성 예제다. 데이터형과 통화 소수점은 참고 심화에서 다룬다.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실패 테스트 읽기</a:t>
            </a:r>
          </a:p>
          <a:p xmlns:a="http://schemas.openxmlformats.org/drawingml/2006/main">
            <a:r>
              <a:t/>
            </a:r>
          </a:p>
          <a:p xmlns:a="http://schemas.openxmlformats.org/drawingml/2006/main">
            <a:r>
              <a:t>오류 로그 전체를 외우지 않는다. -4000과 0의 차이, DID NOT RAISE 두 종류부터 짚는다.</a:t>
            </a:r>
          </a:p>
          <a:p xmlns:a="http://schemas.openxmlformats.org/drawingml/2006/main">
            <a:r>
              <a:t/>
            </a:r>
          </a:p>
          <a:p xmlns:a="http://schemas.openxmlformats.org/drawingml/2006/main">
            <a:r>
              <a:t>학생 작업:</a:t>
            </a:r>
          </a:p>
          <a:p xmlns:a="http://schemas.openxmlformats.org/drawingml/2006/main">
            <a:r>
              <a:t>1. check_exercise 실행</a:t>
            </a:r>
          </a:p>
          <a:p xmlns:a="http://schemas.openxmlformats.org/drawingml/2006/main">
            <a:r>
              <a:t>2. assert의 실제값과 기대값 비교</a:t>
            </a:r>
          </a:p>
          <a:p xmlns:a="http://schemas.openxmlformats.org/drawingml/2006/main">
            <a:r>
              <a:t>3. 실패한 입력을 제품 규칙과 연결</a:t>
            </a:r>
          </a:p>
          <a:p xmlns:a="http://schemas.openxmlformats.org/drawingml/2006/main">
            <a:r>
              <a:t>파일: 내 실습 폴더/test_checkout.py</a:t>
            </a:r>
          </a:p>
          <a:p xmlns:a="http://schemas.openxmlformats.org/drawingml/2006/main">
            <a:r>
              <a:t>성공 확인: 실패 네 건의 원인 구분</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pytest 메시지의 구분</a:t>
            </a:r>
          </a:p>
          <a:p xmlns:a="http://schemas.openxmlformats.org/drawingml/2006/main">
            <a:r>
              <a:t/>
            </a:r>
          </a:p>
          <a:p xmlns:a="http://schemas.openxmlformats.org/drawingml/2006/main">
            <a:r>
              <a:t>맨 아래 FAILED 개수만 보지 않고 첫 실패의 오류 종류와 파일 줄을 읽는다. 처음 두 행은 업무 동작의 문제이고 뒤 두 행은 실행 준비 또는 문법 문제다. test_checkout.py의 assert를 지우면 숫자는 줄어도 기능은 복구되지 않는다. 수업 기본 코드에서 나타나는 네 실패는 초과 쿠폰 하나와 잘못된 입력 세 경우다.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결제 코드 수정</a:t>
            </a:r>
          </a:p>
          <a:p xmlns:a="http://schemas.openxmlformats.org/drawingml/2006/main">
            <a:r>
              <a:t/>
            </a:r>
          </a:p>
          <a:p xmlns:a="http://schemas.openxmlformats.org/drawingml/2006/main">
            <a:r>
              <a:t>학생이 직접 타이핑하거나 Codex에 최소 수정 요청 후 diff를 읽는다. solution 복사만으로 끝내지 않도록 각 조건을 설명하고 잘못된 입력을 직접 바꿔본다.</a:t>
            </a:r>
          </a:p>
          <a:p xmlns:a="http://schemas.openxmlformats.org/drawingml/2006/main">
            <a:r>
              <a:t/>
            </a:r>
          </a:p>
          <a:p xmlns:a="http://schemas.openxmlformats.org/drawingml/2006/main">
            <a:r>
              <a:t>학생 작업:</a:t>
            </a:r>
          </a:p>
          <a:p xmlns:a="http://schemas.openxmlformats.org/drawingml/2006/main">
            <a:r>
              <a:t>1. 가격·수량·쿠폰 입력 검사 추가</a:t>
            </a:r>
          </a:p>
          <a:p xmlns:a="http://schemas.openxmlformats.org/drawingml/2006/main">
            <a:r>
              <a:t>2. 음수 결제액을 0으로 제한</a:t>
            </a:r>
          </a:p>
          <a:p xmlns:a="http://schemas.openxmlformats.org/drawingml/2006/main">
            <a:r>
              <a:t>3. 같은 테스트 명령으로 재실행</a:t>
            </a:r>
          </a:p>
          <a:p xmlns:a="http://schemas.openxmlformats.org/drawingml/2006/main">
            <a:r>
              <a:t>파일: 내 실습 폴더/checkout.py</a:t>
            </a:r>
          </a:p>
          <a:p xmlns:a="http://schemas.openxmlformats.org/drawingml/2006/main">
            <a:r>
              <a:t>성공 확인: 5 passed · 테스트 기대값 변경 금지</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최소 수정 예시</a:t>
            </a:r>
          </a:p>
          <a:p xmlns:a="http://schemas.openxmlformats.org/drawingml/2006/main">
            <a:r>
              <a:t/>
            </a:r>
          </a:p>
          <a:p xmlns:a="http://schemas.openxmlformats.org/drawingml/2006/main">
            <a:r>
              <a:t>완전한 함수는 준비된 solution에 있다. 먼저 학생이 해본 뒤 필요한 경우에만 공개한다.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수정 파일과 저장 상태</a:t>
            </a:r>
          </a:p>
          <a:p xmlns:a="http://schemas.openxmlformats.org/drawingml/2006/main">
            <a:r>
              <a:t/>
            </a:r>
          </a:p>
          <a:p xmlns:a="http://schemas.openxmlformats.org/drawingml/2006/main">
            <a:r>
              <a:t>같은 이름의 fixture 파일을 고치거나 편집 탭을 저장하지 않는 실수를 먼저 잡는다. 파일 경로 전체가 EXERCISE와 일치해야 한다. current_test는 subprocess로 pytest를 새로 실행하므로 저장한 파일을 읽는다. 생성 셀부터 다시 실행하면 기존 수정본과 다른 폴더를 검사할 수 있다. 테스트를 이미 추가했다면 통과 개수는 5보다 많아질 수 있다.</a:t>
            </a:r>
          </a:p>
          <a:p xmlns:a="http://schemas.openxmlformats.org/drawingml/2006/main">
            <a:r>
              <a:t/>
            </a:r>
          </a:p>
          <a:p xmlns:a="http://schemas.openxmlformats.org/drawingml/2006/main">
            <a:r>
              <a:t>학생 작업:</a:t>
            </a:r>
          </a:p>
          <a:p xmlns:a="http://schemas.openxmlformats.org/drawingml/2006/main">
            <a:r>
              <a:t>1. Notebook이 출력한 EXERCISE/checkout.py 열기</a:t>
            </a:r>
          </a:p>
          <a:p xmlns:a="http://schemas.openxmlformats.org/drawingml/2006/main">
            <a:r>
              <a:t>2. checkout_total 함수 안에 검사·반환식 수정</a:t>
            </a:r>
          </a:p>
          <a:p xmlns:a="http://schemas.openxmlformats.org/drawingml/2006/main">
            <a:r>
              <a:t>3. Ctrl+S 또는 ⌘S로 저장하고 수정 표시 확인</a:t>
            </a:r>
          </a:p>
          <a:p xmlns:a="http://schemas.openxmlformats.org/drawingml/2006/main">
            <a:r>
              <a:t>4. current_test 셀만 다시 실행해 새 결과 확인</a:t>
            </a:r>
          </a:p>
          <a:p xmlns:a="http://schemas.openxmlformats.org/drawingml/2006/main">
            <a:r>
              <a:t>파일: 내 실습 폴더/checkout.py · Notebook current_test 셀</a:t>
            </a:r>
          </a:p>
          <a:p xmlns:a="http://schemas.openxmlformats.org/drawingml/2006/main">
            <a:r>
              <a:t>성공 확인: 기본 제공 5개 테스트 모두 통과</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정상 계산의 회귀 검사</a:t>
            </a:r>
          </a:p>
          <a:p xmlns:a="http://schemas.openxmlformats.org/drawingml/2006/main">
            <a:r>
              <a:t/>
            </a:r>
          </a:p>
          <a:p xmlns:a="http://schemas.openxmlformats.org/drawingml/2006/main">
            <a:r>
              <a:t>Notebook 2차시의 새 코드 셀에서 실행한다. -k normal_coupon은 해당 이름의 테스트만 선택한다. 정상 케이스는 가격12000, 수량2, 쿠폰3000의 결과21000을 검사한다. deselected는 실패가 아니라 선택하지 않은 테스트다. 이 한 건이 통과했다고 초과 쿠폰과 잘못된 입력 검사가 끝난 것은 아니므로 다음에는 check_exercise 전체 검사를 유지한다.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수정 Diff의 재검토</a:t>
            </a:r>
          </a:p>
          <a:p xmlns:a="http://schemas.openxmlformats.org/drawingml/2006/main">
            <a:r>
              <a:t/>
            </a:r>
          </a:p>
          <a:p xmlns:a="http://schemas.openxmlformats.org/drawingml/2006/main">
            <a:r>
              <a:t>리뷰 피드백의 자동 생성과 수용은 다른 단계다. 두 번째 모델을 쓰더라도 사람이 같은 재현 입력을 확인해야 한다.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수정 전후의 파일 비교</a:t>
            </a:r>
          </a:p>
          <a:p xmlns:a="http://schemas.openxmlformats.org/drawingml/2006/main">
            <a:r>
              <a:t/>
            </a:r>
          </a:p>
          <a:p xmlns:a="http://schemas.openxmlformats.org/drawingml/2006/main">
            <a:r>
              <a:t>Notebook 2차시에서 새 코드 셀로 실행한다. 비교 기준은 버그가 있는 공개 fixture checkout.py이며, checkout_before.py와 비교하는 것이 아니다. 기존 반환식 제거와 새 입력 검사, 새 반환식 추가가 보인다. diff가 비어 있으면 현재 EXERCISE 경로와 저장 여부를 확인한다. 이 비교는 Git 설치 없이 작동한다. GitHub 원격 코드나 commit SHA는 바뀌지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승인의 범위</a:t>
            </a:r>
          </a:p>
          <a:p xmlns:a="http://schemas.openxmlformats.org/drawingml/2006/main">
            <a:r>
              <a:t/>
            </a:r>
          </a:p>
          <a:p xmlns:a="http://schemas.openxmlformats.org/drawingml/2006/main">
            <a:r>
              <a:t>승인을 일반적인 신뢰 선언이 아니라 특정 대상과 내용의 확인으로 설명한다. 로컬 승인 객체는 실제 서비스의 인증·전자서명 구현이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게시 전 미리보기</a:t>
            </a:r>
          </a:p>
          <a:p xmlns:a="http://schemas.openxmlformats.org/drawingml/2006/main">
            <a:r>
              <a:t/>
            </a:r>
          </a:p>
          <a:p xmlns:a="http://schemas.openxmlformats.org/drawingml/2006/main">
            <a:r>
              <a:t>Notebook은 리뷰 내용을 먼저 보여준다. Run All은 실제 게시하지 않는다. 이 코드는 승인 시뮬레이션이며 GitHub POST가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수정 결과의 HTML 저장</a:t>
            </a:r>
          </a:p>
          <a:p xmlns:a="http://schemas.openxmlformats.org/drawingml/2006/main">
            <a:r>
              <a:t/>
            </a:r>
          </a:p>
          <a:p xmlns:a="http://schemas.openxmlformats.org/drawingml/2006/main">
            <a:r>
              <a:t>Notebook 준비 셀의 uuid와 file_link를 사용한다. 새 이름의 결과 폴더로 저장하여 이전 화면을 보존한다. 브라우저에서 새 review.html을 열고 02 현재 로컬 작업 코드의 테스트 영역을 확인한다. 원본 fixture PR diff와 원본 리뷰 문장은 그대로이며 이를 수정 후 PR의 최신 리뷰라고 소개하지 않는다. preview 인수를 생략했으므로 승인 완료가 아니라 AWAITING_HUMAN_REVIEW다. HTML과 review.md는 로컬 파일이며 게시나 서비스 배포를 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2차시 확인</a:t>
            </a:r>
          </a:p>
          <a:p xmlns:a="http://schemas.openxmlformats.org/drawingml/2006/main">
            <a:r>
              <a:t/>
            </a:r>
          </a:p>
          <a:p xmlns:a="http://schemas.openxmlformats.org/drawingml/2006/main">
            <a:r>
              <a:t>리뷰 품질과 코드 품질을 분리해 체크한다. 리뷰가 예쁘게 나와도 테스트가 실패하면 수정 완료가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리뷰 품질 평가</a:t>
            </a:r>
          </a:p>
          <a:p xmlns:a="http://schemas.openxmlformats.org/drawingml/2006/main">
            <a:r>
              <a:t/>
            </a:r>
          </a:p>
          <a:p xmlns:a="http://schemas.openxmlformats.org/drawingml/2006/main">
            <a:r>
              <a:t>정답 개수보다 잘못된 경고가 개발 시간을 얼마나 쓰게 하는지 토론할 수 있다. 수치 평가를 하려면 사람이 검토한 기준 사례가 필요하다.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2차시 09:50–10:40</a:t>
            </a:r>
          </a:p>
          <a:p xmlns:a="http://schemas.openxmlformats.org/drawingml/2006/main">
            <a:r>
              <a:t/>
            </a:r>
          </a:p>
          <a:p xmlns:a="http://schemas.openxmlformats.org/drawingml/2006/main">
            <a:r>
              <a:t>화면 주제: 금액 처리의 확장</a:t>
            </a:r>
          </a:p>
          <a:p xmlns:a="http://schemas.openxmlformats.org/drawingml/2006/main">
            <a:r>
              <a:t/>
            </a:r>
          </a:p>
          <a:p xmlns:a="http://schemas.openxmlformats.org/drawingml/2006/main">
            <a:r>
              <a:t>기초 수업 코드를 실서비스 결제 로직이라고 소개하지 않는다. 실무에서는 bool/int, 소수점, 과대값, 통화 규칙을 별도로 정의해야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테스트와 GitHub 연동</a:t>
            </a:r>
          </a:p>
          <a:p xmlns:a="http://schemas.openxmlformats.org/drawingml/2006/main">
            <a:r>
              <a:t/>
            </a:r>
          </a:p>
          <a:p xmlns:a="http://schemas.openxmlformats.org/drawingml/2006/main">
            <a:r>
              <a:t>차시별 자료: workflow.yml · publication_preview.json.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자동 검사와 AI 리뷰</a:t>
            </a:r>
          </a:p>
          <a:p xmlns:a="http://schemas.openxmlformats.org/drawingml/2006/main">
            <a:r>
              <a:t/>
            </a:r>
          </a:p>
          <a:p xmlns:a="http://schemas.openxmlformats.org/drawingml/2006/main">
            <a:r>
              <a:t>테스트가 통과했다고 모든 요구사항을 충족하는 것은 아니며 AI 리뷰가 좋다고 테스트를 생략할 수도 없다.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GitHub 연동 구조</a:t>
            </a:r>
          </a:p>
          <a:p xmlns:a="http://schemas.openxmlformats.org/drawingml/2006/main">
            <a:r>
              <a:t/>
            </a:r>
          </a:p>
          <a:p xmlns:a="http://schemas.openxmlformats.org/drawingml/2006/main">
            <a:r>
              <a:t>자동 리뷰 서비스를 확장할 여지는 남기되 실제로 구현하지 않은 게시를 구현했다고 말하지 않는다. 모든 학생이 무료·로컬 경로로 핵심 구조를 배운다.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재실행의 두 가지 위험</a:t>
            </a:r>
          </a:p>
          <a:p xmlns:a="http://schemas.openxmlformats.org/drawingml/2006/main">
            <a:r>
              <a:t/>
            </a:r>
          </a:p>
          <a:p xmlns:a="http://schemas.openxmlformats.org/drawingml/2006/main">
            <a:r>
              <a:t>오래된 SHA와 중복은 같은 문제가 아니다. 새로운 코드에는 새 리뷰가 필요하고, 같은 리뷰 재전송에는 이력 확인이 필요하다.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통과 테스트의 확인</a:t>
            </a:r>
          </a:p>
          <a:p xmlns:a="http://schemas.openxmlformats.org/drawingml/2006/main">
            <a:r>
              <a:t/>
            </a:r>
          </a:p>
          <a:p xmlns:a="http://schemas.openxmlformats.org/drawingml/2006/main">
            <a:r>
              <a:t>터미널은 Notebook에 출력된 경로를 --exercise-dir로 지정한다. 로컬 수정 결과를 합성 PR의 원격 CI 통과로 표현하지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참고 구현의 테스트 결과</a:t>
            </a:r>
          </a:p>
          <a:p xmlns:a="http://schemas.openxmlformats.org/drawingml/2006/main">
            <a:r>
              <a:t/>
            </a:r>
          </a:p>
          <a:p xmlns:a="http://schemas.openxmlformats.org/drawingml/2006/main">
            <a:r>
              <a:t>화면 캡처에서 작게 보이던 실제 테스트 결과를 편집 가능한 텍스트로 표시한다. 결과는 실제 실행 Notebook의 별도 참고 구현 5 passed에 근거한다. 학생 자신의 checkout.py가 통과한 것과 구분한다. 참고 구현 준비가 선행되어야 이 경로에 테스트 파일이 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Actions의 최소 구성</a:t>
            </a:r>
          </a:p>
          <a:p xmlns:a="http://schemas.openxmlformats.org/drawingml/2006/main">
            <a:r>
              <a:t/>
            </a:r>
          </a:p>
          <a:p xmlns:a="http://schemas.openxmlformats.org/drawingml/2006/main">
            <a:r>
              <a:t>학생에게 축약 YAML을 그대로 붙여 넣으라고 하지 않는다. 제공 전체 템플릿에는 pin된 checkout/setup, 의존성 설치가 들어 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권한의 최소 범위</a:t>
            </a:r>
          </a:p>
          <a:p xmlns:a="http://schemas.openxmlformats.org/drawingml/2006/main">
            <a:r>
              <a:t/>
            </a:r>
          </a:p>
          <a:p xmlns:a="http://schemas.openxmlformats.org/drawingml/2006/main">
            <a:r>
              <a:t>pull_request_target에서 신뢰하지 않는 PR 코드를 실행하는 위험을 연결한다. 예제 workflow를 공유 저장소에 임의 활성화하지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테스트 한 건 추가</a:t>
            </a:r>
          </a:p>
          <a:p xmlns:a="http://schemas.openxmlformats.org/drawingml/2006/main">
            <a:r>
              <a:t/>
            </a:r>
          </a:p>
          <a:p xmlns:a="http://schemas.openxmlformats.org/drawingml/2006/main">
            <a:r>
              <a:t>추가할 만한 입력으로 coupon=0, 정확히 총액과 같은 쿠폰을 제시한다. 애매한 소수점 정책은 별도 요구사항으로 남긴다.</a:t>
            </a:r>
          </a:p>
          <a:p xmlns:a="http://schemas.openxmlformats.org/drawingml/2006/main">
            <a:r>
              <a:t/>
            </a:r>
          </a:p>
          <a:p xmlns:a="http://schemas.openxmlformats.org/drawingml/2006/main">
            <a:r>
              <a:t>학생 작업:</a:t>
            </a:r>
          </a:p>
          <a:p xmlns:a="http://schemas.openxmlformats.org/drawingml/2006/main">
            <a:r>
              <a:t>1. 기존 정상 쿠폰 테스트 확인</a:t>
            </a:r>
          </a:p>
          <a:p xmlns:a="http://schemas.openxmlformats.org/drawingml/2006/main">
            <a:r>
              <a:t>2. 본인이 고른 입력 한 가지 추가</a:t>
            </a:r>
          </a:p>
          <a:p xmlns:a="http://schemas.openxmlformats.org/drawingml/2006/main">
            <a:r>
              <a:t>3. 실패 조건과 통과 조건을 비교</a:t>
            </a:r>
          </a:p>
          <a:p xmlns:a="http://schemas.openxmlformats.org/drawingml/2006/main">
            <a:r>
              <a:t>파일: 내 실습 폴더/test_checkout.py</a:t>
            </a:r>
          </a:p>
          <a:p xmlns:a="http://schemas.openxmlformats.org/drawingml/2006/main">
            <a:r>
              <a:t>성공 확인: 단순 실행 외에 테스트 코드 직접 작성</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쿠폰 경계값 테스트</a:t>
            </a:r>
          </a:p>
          <a:p xmlns:a="http://schemas.openxmlformats.org/drawingml/2006/main">
            <a:r>
              <a:t/>
            </a:r>
          </a:p>
          <a:p xmlns:a="http://schemas.openxmlformats.org/drawingml/2006/main">
            <a:r>
              <a:t>Notebook 코드 셀이 아닌 EXERCISE/test_checkout.py에 추가하는 완전한 테스트 함수다. 기존 파일 상단에 pytest와 checkout_total import가 있으므로 재사용한다. decorator 아래 함수 앞에 빈 들여쓰기를 넣지 않는다. 함수 이름은 한 번만 추가한다. 파라미터 두 줄은 같은 검사를 서로 다른 입력으로 두 번 실행한다. 기존 테스트5개를 보존하면 전체는7개다. coupon=1000은 최종0, coupon=0은 최종1000을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추가 테스트의 선택 실행</a:t>
            </a:r>
          </a:p>
          <a:p xmlns:a="http://schemas.openxmlformats.org/drawingml/2006/main">
            <a:r>
              <a:t/>
            </a:r>
          </a:p>
          <a:p xmlns:a="http://schemas.openxmlformats.org/drawingml/2006/main">
            <a:r>
              <a:t>제공 테스트5개에 바로 앞 함수의 입력2개만 추가한 상태를 기준으로 설명한다. 테스트 함수를 다른 파일이나 다른 실습 폴더에 저장하면 선택된 테스트가 없다는 결과가 나올 수 있다. 수량0 또는 음수 가격 검사를 추가한 학생은 전체 개수가 달라도 된다. 선택 실행 다음에는 기존 check_exercise(ROOT, EXERCISE) 셀을 실행하여 모든 테스트를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CI 파일 구성</a:t>
            </a:r>
          </a:p>
          <a:p xmlns:a="http://schemas.openxmlformats.org/drawingml/2006/main">
            <a:r>
              <a:t/>
            </a:r>
          </a:p>
          <a:p xmlns:a="http://schemas.openxmlformats.org/drawingml/2006/main">
            <a:r>
              <a:t>GitHub 계정이 없는 학생은 파일 작성과 로컬 동일 명령 실행으로 완료한다. 계정이 있는 학생만 개인 저장소에 복사한다.</a:t>
            </a:r>
          </a:p>
          <a:p xmlns:a="http://schemas.openxmlformats.org/drawingml/2006/main">
            <a:r>
              <a:t/>
            </a:r>
          </a:p>
          <a:p xmlns:a="http://schemas.openxmlformats.org/drawingml/2006/main">
            <a:r>
              <a:t>학생 작업:</a:t>
            </a:r>
          </a:p>
          <a:p xmlns:a="http://schemas.openxmlformats.org/drawingml/2006/main">
            <a:r>
              <a:t>1. workflow.yml을 별도 연습 폴더로 복사</a:t>
            </a:r>
          </a:p>
          <a:p xmlns:a="http://schemas.openxmlformats.org/drawingml/2006/main">
            <a:r>
              <a:t>2. trigger·permissions·pytest 단계 찾기</a:t>
            </a:r>
          </a:p>
          <a:p xmlns:a="http://schemas.openxmlformats.org/drawingml/2006/main">
            <a:r>
              <a:t>3. 내 exercise 경로와 실행 명령 확인</a:t>
            </a:r>
          </a:p>
          <a:p xmlns:a="http://schemas.openxmlformats.org/drawingml/2006/main">
            <a:r>
              <a:t>파일: labs/day4/pr_review_lab/templates/workflow.yml</a:t>
            </a:r>
          </a:p>
          <a:p xmlns:a="http://schemas.openxmlformats.org/drawingml/2006/main">
            <a:r>
              <a:t>성공 확인: 전체 YAML과 실제 폴더 경로의 일치</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개인 저장소의 파일 배치</a:t>
            </a:r>
          </a:p>
          <a:p xmlns:a="http://schemas.openxmlformats.org/drawingml/2006/main">
            <a:r>
              <a:t/>
            </a:r>
          </a:p>
          <a:p xmlns:a="http://schemas.openxmlformats.org/drawingml/2006/main">
            <a:r>
              <a:t>선택 GitHub 실습의 개인 저장소 배치다. 먼저 별도 로컬 연습 폴더에 파일 두 개와 전체 workflow 템플릿을 복사하여 같은 pytest 명령을 실행한다. Notebook EXERCISE의 길고 매번 달라지는 경로를 workflow에 붙여 넣지 않는다. 원격 활성화는 학생이 본인 저장소와 diff를 확인하고 올렸을 때만 진행한다. 이 강의 저장소의 .github/workflows를 직접 수정하지 않는다. GitHub 계정이 없으면 로컬 배치와 실행까지 진행했다고 기록한다.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오래된 코드의 차단</a:t>
            </a:r>
          </a:p>
          <a:p xmlns:a="http://schemas.openxmlformats.org/drawingml/2006/main">
            <a:r>
              <a:t/>
            </a:r>
          </a:p>
          <a:p xmlns:a="http://schemas.openxmlformats.org/drawingml/2006/main">
            <a:r>
              <a:t>Notebook이 만든 테스트용 simulated_approval을 사용한다. 사람의 실제 승인으로 기록하지 않는다. 새 diff → 새 리뷰 → 다시 확인 순서를 설명한다.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중복 리뷰의 차단</a:t>
            </a:r>
          </a:p>
          <a:p xmlns:a="http://schemas.openxmlformats.org/drawingml/2006/main">
            <a:r>
              <a:t/>
            </a:r>
          </a:p>
          <a:p xmlns:a="http://schemas.openxmlformats.org/drawingml/2006/main">
            <a:r>
              <a:t>미리보기는 원자적 분산락 구현이 아니다. 실제 서비스에서는 동시 요청과 불확실 응답도 추가 설계해야 함을 노트에서 보충한다.</a:t>
            </a:r>
          </a:p>
          <a:p xmlns:a="http://schemas.openxmlformats.org/drawingml/2006/main">
            <a:r>
              <a:t/>
            </a:r>
          </a:p>
          <a:p xmlns:a="http://schemas.openxmlformats.org/drawingml/2006/main">
            <a:r>
              <a:t>학생 작업:</a:t>
            </a:r>
          </a:p>
          <a:p xmlns:a="http://schemas.openxmlformats.org/drawingml/2006/main">
            <a:r>
              <a:t>1. 같은 리뷰 표식으로 이력 구성</a:t>
            </a:r>
          </a:p>
          <a:p xmlns:a="http://schemas.openxmlformats.org/drawingml/2006/main">
            <a:r>
              <a:t>2. Notebook 중복 검사 셀 실행</a:t>
            </a:r>
          </a:p>
          <a:p xmlns:a="http://schemas.openxmlformats.org/drawingml/2006/main">
            <a:r>
              <a:t>3. 새 리뷰와 재전송 상황 비교</a:t>
            </a:r>
          </a:p>
          <a:p xmlns:a="http://schemas.openxmlformats.org/drawingml/2006/main">
            <a:r>
              <a:t>파일: Notebook · 3차시 안전 검사</a:t>
            </a:r>
          </a:p>
          <a:p xmlns:a="http://schemas.openxmlformats.org/drawingml/2006/main">
            <a:r>
              <a:t>성공 확인: DUPLICATE_REVIEW · 두 번째 전송 없음</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리뷰 수정과 이전 승인</a:t>
            </a:r>
          </a:p>
          <a:p xmlns:a="http://schemas.openxmlformats.org/drawingml/2006/main">
            <a:r>
              <a:t/>
            </a:r>
          </a:p>
          <a:p xmlns:a="http://schemas.openxmlformats.org/drawingml/2006/main">
            <a:r>
              <a:t>Notebook 3차시의 simulated_approval 생성 셀 이후 새 셀에서 실행한다. review 원본을 직접 수정하지 않고 findings 복사본의 수정 제안 문장을 고친 뒤 build_review로 새 문서와 해시를 만든다. provider human은 이 예제의 출처 라벨이며 실제 인증 정보가 아니다. 이전 승인의 review_sha256과 새 문서 해시가 다르므로 APPROVAL_MISMATCH가 맞는 결과다. 해시를 강제로 같게 만들거나 승인 검사를 없애지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수정 리뷰의 재확인</a:t>
            </a:r>
          </a:p>
          <a:p xmlns:a="http://schemas.openxmlformats.org/drawingml/2006/main">
            <a:r>
              <a:t/>
            </a:r>
          </a:p>
          <a:p xmlns:a="http://schemas.openxmlformats.org/drawingml/2006/main">
            <a:r>
              <a:t>승인 코드는 앞의 게시 전 미리보기 장표와 동일하다. approve_preview(snapshot, revised, approved=True, reviewer="student")로 새 approval을 받고 preview_publication(snapshot, revised, approval, current_head_sha=snapshot["head_sha"])를 실행한다. 강사 또는 학생이 새 문서를 읽은 뒤 직접 선택하는 단계이며 테스트용 simulated_approval을 실제 승인처럼 재사용하지 않는다. 확인하지 않을 경우 승인 셀은 실행하지 않고 문서만 보관한다. 자동 merge 또는 외부 POST를 추가하지 않는다.</a:t>
            </a:r>
          </a:p>
          <a:p xmlns:a="http://schemas.openxmlformats.org/drawingml/2006/main">
            <a:r>
              <a:t/>
            </a:r>
          </a:p>
          <a:p xmlns:a="http://schemas.openxmlformats.org/drawingml/2006/main">
            <a:r>
              <a:t>학생 작업:</a:t>
            </a:r>
          </a:p>
          <a:p xmlns:a="http://schemas.openxmlformats.org/drawingml/2006/main">
            <a:r>
              <a:t>1. display(Markdown(revised["markdown"]))로 새 문서 확인</a:t>
            </a:r>
          </a:p>
          <a:p xmlns:a="http://schemas.openxmlformats.org/drawingml/2006/main">
            <a:r>
              <a:t>2. 추가한 제안·위치·재현 조건을 원본과 대조</a:t>
            </a:r>
          </a:p>
          <a:p xmlns:a="http://schemas.openxmlformats.org/drawingml/2006/main">
            <a:r>
              <a:t>3. 실제 검토 후 승인 예시의 review를 revised로 변경</a:t>
            </a:r>
          </a:p>
          <a:p xmlns:a="http://schemas.openxmlformats.org/drawingml/2006/main">
            <a:r>
              <a:t>4. 새 approval과 revised로 미리보기 셀 재실행</a:t>
            </a:r>
          </a:p>
          <a:p xmlns:a="http://schemas.openxmlformats.org/drawingml/2006/main">
            <a:r>
              <a:t>파일: Notebook 3차시 · revised / approve_preview</a:t>
            </a:r>
          </a:p>
          <a:p xmlns:a="http://schemas.openxmlformats.org/drawingml/2006/main">
            <a:r>
              <a:t>성공 확인: 사람 확인 후 PREVIEW_ONLY · GitHub 게시 없음</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GitHub 연결 요청</a:t>
            </a:r>
          </a:p>
          <a:p xmlns:a="http://schemas.openxmlformats.org/drawingml/2006/main">
            <a:r>
              <a:t/>
            </a:r>
          </a:p>
          <a:p xmlns:a="http://schemas.openxmlformats.org/drawingml/2006/main">
            <a:r>
              <a:t>원격 작업은 개인 저장소에서 학생이 직접 확인한다. 회사 저장소나 수업 공유 저장소를 작업 대상으로 잡지 않는다.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개인 PR의 확인 위치</a:t>
            </a:r>
          </a:p>
          <a:p xmlns:a="http://schemas.openxmlformats.org/drawingml/2006/main">
            <a:r>
              <a:t/>
            </a:r>
          </a:p>
          <a:p xmlns:a="http://schemas.openxmlformats.org/drawingml/2006/main">
            <a:r>
              <a:t>웹사이트 보기만 실습으로 세지 않는다. 앞에서 만든 코드·YAML을 실제 개인 PR에 올린 학생만 Checks 실행을 비교한다.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3차시 확인</a:t>
            </a:r>
          </a:p>
          <a:p xmlns:a="http://schemas.openxmlformats.org/drawingml/2006/main">
            <a:r>
              <a:t/>
            </a:r>
          </a:p>
          <a:p xmlns:a="http://schemas.openxmlformats.org/drawingml/2006/main">
            <a:r>
              <a:t>오전 학습의 체크로 마무리한다. 다음 장표를 넘기기 전에 파일 저장과 쉬는 시간을 안내한다.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운영 확장 · 네트워크 오류</a:t>
            </a:r>
          </a:p>
          <a:p xmlns:a="http://schemas.openxmlformats.org/drawingml/2006/main">
            <a:r>
              <a:t/>
            </a:r>
          </a:p>
          <a:p xmlns:a="http://schemas.openxmlformats.org/drawingml/2006/main">
            <a:r>
              <a:t>제공 adapter는 GH_READ_FAILED 공통 오류이며 이 재시도 정책을 구현한 운영 서비스가 아니다. 쓰기 timeout 뒤 무조건 재시도하면 중복 알림이 생길 수 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CI의 공급망 위험</a:t>
            </a:r>
          </a:p>
          <a:p xmlns:a="http://schemas.openxmlformats.org/drawingml/2006/main">
            <a:r>
              <a:t/>
            </a:r>
          </a:p>
          <a:p xmlns:a="http://schemas.openxmlformats.org/drawingml/2006/main">
            <a:r>
              <a:t>GitHub 공식 secure-use 문서를 설계 근거로 제시한다. pin된 SHA라도 공급자를 검토해야 하며 영구적으로 안전하다는 의미는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3차시 10:40–11:30</a:t>
            </a:r>
          </a:p>
          <a:p xmlns:a="http://schemas.openxmlformats.org/drawingml/2006/main">
            <a:r>
              <a:t/>
            </a:r>
          </a:p>
          <a:p xmlns:a="http://schemas.openxmlformats.org/drawingml/2006/main">
            <a:r>
              <a:t>화면 주제: 쉬는 시간 · 점심시간</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https://docs.github.com/en/actions/reference/security/secure-use</a:t>
            </a:r>
          </a:p>
          <a:p xmlns:a="http://schemas.openxmlformats.org/drawingml/2006/main">
            <a:r>
              <a:t>https://docs.github.com/en/rest/pulls/reviews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Excel WBS와 간트 차트</a:t>
            </a:r>
          </a:p>
          <a:p xmlns:a="http://schemas.openxmlformats.org/drawingml/2006/main">
            <a:r>
              <a:t/>
            </a:r>
          </a:p>
          <a:p xmlns:a="http://schemas.openxmlformats.org/drawingml/2006/main">
            <a:r>
              <a:t>차시별 자료: wbs_tasks.json · WBS_Gantt.xlsx.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일정 데이터와 간트 차트</a:t>
            </a:r>
          </a:p>
          <a:p xmlns:a="http://schemas.openxmlformats.org/drawingml/2006/main">
            <a:r>
              <a:t/>
            </a:r>
          </a:p>
          <a:p xmlns:a="http://schemas.openxmlformats.org/drawingml/2006/main">
            <a:r>
              <a:t>완성 파일의 간트 부분을 먼저 보여준다. 그림을 붙인 것이 아니라 입력을 바꾸면 셀 색이 다시 계산되는 표라는 점을 실제 변경으로 증명한다.</a:t>
            </a:r>
          </a:p>
          <a:p xmlns:a="http://schemas.openxmlformats.org/drawingml/2006/main">
            <a:r>
              <a:t/>
            </a:r>
          </a:p>
          <a:p xmlns:a="http://schemas.openxmlformats.org/drawingml/2006/main">
            <a:r>
              <a:t>그림 출처: outputs/day4-document-automation/wbs_gantt.png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WBS 연습 파일 열기</a:t>
            </a:r>
          </a:p>
          <a:p xmlns:a="http://schemas.openxmlformats.org/drawingml/2006/main">
            <a:r>
              <a:t/>
            </a:r>
          </a:p>
          <a:p xmlns:a="http://schemas.openxmlformats.org/drawingml/2006/main">
            <a:r>
              <a:t>원본을 OS 파일 관리자의 복사 기능으로 다른 이름에 저장한다. 이름 상자는 수식 입력줄 왼쪽의 셀 주소 칸이다. F12를 찾기 전에 다른 시트가 선택되어 있지 않은지 확인한다. 이 단계는 기준 파일 관찰이며 뒤의 Notebook 저장본과 구분한다.</a:t>
            </a:r>
          </a:p>
          <a:p xmlns:a="http://schemas.openxmlformats.org/drawingml/2006/main">
            <a:r>
              <a:t/>
            </a:r>
          </a:p>
          <a:p xmlns:a="http://schemas.openxmlformats.org/drawingml/2006/main">
            <a:r>
              <a:t>학생 작업:</a:t>
            </a:r>
          </a:p>
          <a:p xmlns:a="http://schemas.openxmlformats.org/drawingml/2006/main">
            <a:r>
              <a:t>1. 제공 파일을 복사한 뒤 Excel 또는 LibreOffice로 열기</a:t>
            </a:r>
          </a:p>
          <a:p xmlns:a="http://schemas.openxmlformats.org/drawingml/2006/main">
            <a:r>
              <a:t>2. 아래쪽 WBS 탭 선택, 왼쪽 위 이름 상자에 F12 입력</a:t>
            </a:r>
          </a:p>
          <a:p xmlns:a="http://schemas.openxmlformats.org/drawingml/2006/main">
            <a:r>
              <a:t>3. 같은 행의 A12가 W04인지, F12가 80%인지 확인</a:t>
            </a:r>
          </a:p>
          <a:p xmlns:a="http://schemas.openxmlformats.org/drawingml/2006/main">
            <a:r>
              <a:t>4. 계산 결과 I12의 지연 표시와 B4 기준일 확인</a:t>
            </a:r>
          </a:p>
          <a:p xmlns:a="http://schemas.openxmlformats.org/drawingml/2006/main">
            <a:r>
              <a:t>파일: outputs/day4-document-automation/WBS_Gantt.xlsx</a:t>
            </a:r>
          </a:p>
          <a:p xmlns:a="http://schemas.openxmlformats.org/drawingml/2006/main">
            <a:r>
              <a:t>성공 확인: 수정 대상: 복사본의 입력 셀 / 계산 셀은 유지</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WBS의 최소 단위</a:t>
            </a:r>
          </a:p>
          <a:p xmlns:a="http://schemas.openxmlformats.org/drawingml/2006/main">
            <a:r>
              <a:t/>
            </a:r>
          </a:p>
          <a:p xmlns:a="http://schemas.openxmlformats.org/drawingml/2006/main">
            <a:r>
              <a:t>WBS는 큰 프로젝트를 관리 가능한 작업으로 나눈 표다. 역할명만으로 실제 개인 배정이 된 것은 아니므로 개인 서비스에선 담당자 열을 추가할 수 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AI 초안과 계산의 분리</a:t>
            </a:r>
          </a:p>
          <a:p xmlns:a="http://schemas.openxmlformats.org/drawingml/2006/main">
            <a:r>
              <a:t/>
            </a:r>
          </a:p>
          <a:p xmlns:a="http://schemas.openxmlformats.org/drawingml/2006/main">
            <a:r>
              <a:t>날짜나 완료 개수를 모델이 기억해서 쓰게 하지 않는다. 설명할 수치는 검증한 계산 결과에서 가져온다.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업무일 계산</a:t>
            </a:r>
          </a:p>
          <a:p xmlns:a="http://schemas.openxmlformats.org/drawingml/2006/main">
            <a:r>
              <a:t/>
            </a:r>
          </a:p>
          <a:p xmlns:a="http://schemas.openxmlformats.org/drawingml/2006/main">
            <a:r>
              <a:t>샘플의 2026년 실제 공휴일을 반영했다는 오해를 피한다. 휴일 범위를 세 번째 인수로 주는 확장은 선택 과제다.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셀 참조의 방향</a:t>
            </a:r>
          </a:p>
          <a:p xmlns:a="http://schemas.openxmlformats.org/drawingml/2006/main">
            <a:r>
              <a:t/>
            </a:r>
          </a:p>
          <a:p xmlns:a="http://schemas.openxmlformats.org/drawingml/2006/main">
            <a:r>
              <a:t>달러 기호를 돈으로 읽지 않고 복사 방향을 제한하는 표시로 설명한다. L9에서 M10으로 복사할 때 각각 어떻게 바뀌는지 학생에게 직접 예상하게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간트 표시 조건</a:t>
            </a:r>
          </a:p>
          <a:p xmlns:a="http://schemas.openxmlformats.org/drawingml/2006/main">
            <a:r>
              <a:t/>
            </a:r>
          </a:p>
          <a:p xmlns:a="http://schemas.openxmlformats.org/drawingml/2006/main">
            <a:r>
              <a:t>단순 핵심 식을 먼저 설명한 후 실제 파일의 완료·지연·진행 중 세 규칙을 본다. 색은 장식이 아니라 상태를 읽는 보조 수단이다.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입력 열과 계산 열</a:t>
            </a:r>
          </a:p>
          <a:p xmlns:a="http://schemas.openxmlformats.org/drawingml/2006/main">
            <a:r>
              <a:t/>
            </a:r>
          </a:p>
          <a:p xmlns:a="http://schemas.openxmlformats.org/drawingml/2006/main">
            <a:r>
              <a:t>한 화면에 전체 열을 억지로 넣지 않고 표와 간트를 나누어 확대한다. F12가 W04 진척률이며 상태는 I12임을 가리킨다.</a:t>
            </a:r>
          </a:p>
          <a:p xmlns:a="http://schemas.openxmlformats.org/drawingml/2006/main">
            <a:r>
              <a:t/>
            </a:r>
          </a:p>
          <a:p xmlns:a="http://schemas.openxmlformats.org/drawingml/2006/main">
            <a:r>
              <a:t>그림 출처: outputs/day4-document-automation/wbs_inputs_zoom.png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WBS 데이터 로딩</a:t>
            </a:r>
          </a:p>
          <a:p xmlns:a="http://schemas.openxmlformats.org/drawingml/2006/main">
            <a:r>
              <a:t/>
            </a:r>
          </a:p>
          <a:p xmlns:a="http://schemas.openxmlformats.org/drawingml/2006/main">
            <a:r>
              <a:t>모듈 import 줄은 Notebook에 준비되어 있다. 모델 호출 없이 같은 계산을 재현하는 Python 기준값을 만든다.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업무 ID와 Python 행 선택</a:t>
            </a:r>
          </a:p>
          <a:p xmlns:a="http://schemas.openxmlformats.org/drawingml/2006/main">
            <a:r>
              <a:t/>
            </a:r>
          </a:p>
          <a:p xmlns:a="http://schemas.openxmlformats.org/drawingml/2006/main">
            <a:r>
              <a:t>Python 목록은 0부터 세므로 네 번째 업무의 위치는 3이다. 위치 숫자를 외우기보다 id로 찾아서 수정할 업무를 확인한다. next에서 StopIteration이 나면 tasks를 다시 로딩하고 W04가 있는지 확인한다. 해당 업무가 없는데 다른 행을 대신 고치지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진척률 변경</a:t>
            </a:r>
          </a:p>
          <a:p xmlns:a="http://schemas.openxmlformats.org/drawingml/2006/main">
            <a:r>
              <a:t/>
            </a:r>
          </a:p>
          <a:p xmlns:a="http://schemas.openxmlformats.org/drawingml/2006/main">
            <a:r>
              <a:t>원본 데이터 파일을 직접 덮지 않고 Notebook deepcopy를 이용한다. Python은 상태가 바뀌었는데 Excel 화면이 그대로라면 파일 재계산과 열린 파일 버전을 확인한다.</a:t>
            </a:r>
          </a:p>
          <a:p xmlns:a="http://schemas.openxmlformats.org/drawingml/2006/main">
            <a:r>
              <a:t/>
            </a:r>
          </a:p>
          <a:p xmlns:a="http://schemas.openxmlformats.org/drawingml/2006/main">
            <a:r>
              <a:t>학생 작업:</a:t>
            </a:r>
          </a:p>
          <a:p xmlns:a="http://schemas.openxmlformats.org/drawingml/2006/main">
            <a:r>
              <a:t>1. W04의 progress를 0.8에서 1로 변경</a:t>
            </a:r>
          </a:p>
          <a:p xmlns:a="http://schemas.openxmlformats.org/drawingml/2006/main">
            <a:r>
              <a:t>2. calculate_wbs 다시 실행</a:t>
            </a:r>
          </a:p>
          <a:p xmlns:a="http://schemas.openxmlformats.org/drawingml/2006/main">
            <a:r>
              <a:t>3. 새 XLSX 복사본을 생성해 열기</a:t>
            </a:r>
          </a:p>
          <a:p xmlns:a="http://schemas.openxmlformats.org/drawingml/2006/main">
            <a:r>
              <a:t>파일: wbs_tasks.json → 내 WBS 복사본</a:t>
            </a:r>
          </a:p>
          <a:p xmlns:a="http://schemas.openxmlformats.org/drawingml/2006/main">
            <a:r>
              <a:t>성공 확인: W04 지연 → 완료 · 완료 개수 변화</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진척률 수정과 XLSX 저장</a:t>
            </a:r>
          </a:p>
          <a:p xmlns:a="http://schemas.openxmlformats.org/drawingml/2006/main">
            <a:r>
              <a:t/>
            </a:r>
          </a:p>
          <a:p xmlns:a="http://schemas.openxmlformats.org/drawingml/2006/main">
            <a:r>
              <a:t>앞 장표의 w04_index를 사용한다. deepcopy와 write_wbs_copy는 제공 Notebook의 앞선 import 셀에서 준비한다. 출력 경로를 실제 파일 관리자로 열고 F12=100%, 재계산 후 I12=완료인지 확인한다. OUTPUT_ALREADY_EXISTS는 원본 보호를 위한 중단이며 기존 파일을 지우는 대신 새 파일명을 사용한다.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일정 변경과 차트 확인</a:t>
            </a:r>
          </a:p>
          <a:p xmlns:a="http://schemas.openxmlformats.org/drawingml/2006/main">
            <a:r>
              <a:t/>
            </a:r>
          </a:p>
          <a:p xmlns:a="http://schemas.openxmlformats.org/drawingml/2006/main">
            <a:r>
              <a:t>모든 날짜를 바꾸지 말고 한 업무부터 바꾼다. 종료일이 선행 업무보다 앞서는 상황까지 비교한다.</a:t>
            </a:r>
          </a:p>
          <a:p xmlns:a="http://schemas.openxmlformats.org/drawingml/2006/main">
            <a:r>
              <a:t/>
            </a:r>
          </a:p>
          <a:p xmlns:a="http://schemas.openxmlformats.org/drawingml/2006/main">
            <a:r>
              <a:t>학생 작업:</a:t>
            </a:r>
          </a:p>
          <a:p xmlns:a="http://schemas.openxmlformats.org/drawingml/2006/main">
            <a:r>
              <a:t>1. 새 복사본에서 B4 기준일 변경</a:t>
            </a:r>
          </a:p>
          <a:p xmlns:a="http://schemas.openxmlformats.org/drawingml/2006/main">
            <a:r>
              <a:t>2. D:E 시작·종료일 변경</a:t>
            </a:r>
          </a:p>
          <a:p xmlns:a="http://schemas.openxmlformats.org/drawingml/2006/main">
            <a:r>
              <a:t>3. I 상태와 L:AM 간트 이동 확인</a:t>
            </a:r>
          </a:p>
          <a:p xmlns:a="http://schemas.openxmlformats.org/drawingml/2006/main">
            <a:r>
              <a:t>파일: WBS_Gantt.xlsx · 복사본</a:t>
            </a:r>
          </a:p>
          <a:p xmlns:a="http://schemas.openxmlformats.org/drawingml/2006/main">
            <a:r>
              <a:t>성공 확인: 입력 변화와 차트 변화의 일치</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입력 셀과 수식 입력줄</a:t>
            </a:r>
          </a:p>
          <a:p xmlns:a="http://schemas.openxmlformats.org/drawingml/2006/main">
            <a:r>
              <a:t/>
            </a:r>
          </a:p>
          <a:p xmlns:a="http://schemas.openxmlformats.org/drawingml/2006/main">
            <a:r>
              <a:t>방금 저장한 WBS_walkthrough.xlsx의 WBS 탭을 연다. 앞 장표에서 바꾼 기준일 B4=2026-09-25, 시작일 D12=2026-09-21, 종료일 E12=2026-09-23을 먼저 복구한다. H12의 실제 식에는 입력 오류를 검사하는 조건도 있다. NETWORKDAYS의 날짜 인수 D12와 E12를 찾아 평일 3일과 비교한다. H12와 I12에 계산 결과를 직접 타이핑하지 않는다.</a:t>
            </a:r>
          </a:p>
          <a:p xmlns:a="http://schemas.openxmlformats.org/drawingml/2006/main">
            <a:r>
              <a:t/>
            </a:r>
          </a:p>
          <a:p xmlns:a="http://schemas.openxmlformats.org/drawingml/2006/main">
            <a:r>
              <a:t>학생 작업:</a:t>
            </a:r>
          </a:p>
          <a:p xmlns:a="http://schemas.openxmlformats.org/drawingml/2006/main">
            <a:r>
              <a:t>1. 내 WBS를 열고 B4 기준일을 2026-09-25로 복구</a:t>
            </a:r>
          </a:p>
          <a:p xmlns:a="http://schemas.openxmlformats.org/drawingml/2006/main">
            <a:r>
              <a:t>2. D12=09/21·E12=09/23 복구, H12의 날짜 참조 확인</a:t>
            </a:r>
          </a:p>
          <a:p xmlns:a="http://schemas.openxmlformats.org/drawingml/2006/main">
            <a:r>
              <a:t>3. F12를 80%로 변경하고 I12의 지연 표시 확인</a:t>
            </a:r>
          </a:p>
          <a:p xmlns:a="http://schemas.openxmlformats.org/drawingml/2006/main">
            <a:r>
              <a:t>4. F12를 100%로 복구하고 완료 표시 확인 후 저장</a:t>
            </a:r>
          </a:p>
          <a:p xmlns:a="http://schemas.openxmlformats.org/drawingml/2006/main">
            <a:r>
              <a:t>파일: 내 실행 폴더 / excel/WBS_walkthrough.xlsx</a:t>
            </a:r>
          </a:p>
          <a:p xmlns:a="http://schemas.openxmlformats.org/drawingml/2006/main">
            <a:r>
              <a:t>성공 확인: 기본 날짜 유지 시 H12=3 / 진척률에 따라 I12 변경</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선행 일정의 오류</a:t>
            </a:r>
          </a:p>
          <a:p xmlns:a="http://schemas.openxmlformats.org/drawingml/2006/main">
            <a:r>
              <a:t/>
            </a:r>
          </a:p>
          <a:p xmlns:a="http://schemas.openxmlformats.org/drawingml/2006/main">
            <a:r>
              <a:t>broken_tasks=deepcopy(tasks)로 시작한 뒤 W04의 start를 바꾼다. 제공 기본 목록에서 W04는 [3] 위치다. 예: broken_tasks[3]["start"]="2026-09-18". validate_wbs로 PREDECESSOR_DATE_CONFLICT 확인. Excel 복사본에서는 D12를 같은 날짜로 바꿔 J12를 확인한다. 두 입력은 별개이므로 각각 원래 날짜 2026-09-21로 복구한다.</a:t>
            </a:r>
          </a:p>
          <a:p xmlns:a="http://schemas.openxmlformats.org/drawingml/2006/main">
            <a:r>
              <a:t/>
            </a:r>
          </a:p>
          <a:p xmlns:a="http://schemas.openxmlformats.org/drawingml/2006/main">
            <a:r>
              <a:t>학생 작업:</a:t>
            </a:r>
          </a:p>
          <a:p xmlns:a="http://schemas.openxmlformats.org/drawingml/2006/main">
            <a:r>
              <a:t>1. Python 복사본에서 W04 시작일을 2026-09-18로 변경</a:t>
            </a:r>
          </a:p>
          <a:p xmlns:a="http://schemas.openxmlformats.org/drawingml/2006/main">
            <a:r>
              <a:t>2. validate_wbs(broken_tasks)로 선행 일정 충돌 확인</a:t>
            </a:r>
          </a:p>
          <a:p xmlns:a="http://schemas.openxmlformats.org/drawingml/2006/main">
            <a:r>
              <a:t>3. Excel 복사본 D12도 09/18로 바꾸고 J12 확인</a:t>
            </a:r>
          </a:p>
          <a:p xmlns:a="http://schemas.openxmlformats.org/drawingml/2006/main">
            <a:r>
              <a:t>4. 두 입력을 각각 복구하고 다시 확인</a:t>
            </a:r>
          </a:p>
          <a:p xmlns:a="http://schemas.openxmlformats.org/drawingml/2006/main">
            <a:r>
              <a:t>파일: Notebook 4차시 · WBS J열</a:t>
            </a:r>
          </a:p>
          <a:p xmlns:a="http://schemas.openxmlformats.org/drawingml/2006/main">
            <a:r>
              <a:t>성공 확인: Excel 수정과 Python 변수 수정은 자동 연동되지 않음</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종료일 오류와 입력 복구</a:t>
            </a:r>
          </a:p>
          <a:p xmlns:a="http://schemas.openxmlformats.org/drawingml/2006/main">
            <a:r>
              <a:t/>
            </a:r>
          </a:p>
          <a:p xmlns:a="http://schemas.openxmlformats.org/drawingml/2006/main">
            <a:r>
              <a:t>새 복사본에서 한 값만 바꾼다. 출력에서 id=W01과 code=END_BEFORE_START를 확인한다. 검사를 건너뛰고 계산을 강행하지 않는다. 숫자 0으로 오류를 감추지 않고 원본 종료일을 복구한 뒤 저장을 재시도한다.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Codex의 WBS 확장</a:t>
            </a:r>
          </a:p>
          <a:p xmlns:a="http://schemas.openxmlformats.org/drawingml/2006/main">
            <a:r>
              <a:t/>
            </a:r>
          </a:p>
          <a:p xmlns:a="http://schemas.openxmlformats.org/drawingml/2006/main">
            <a:r>
              <a:t>빠른 학생의 추가 실습이다. AI가 기능을 한꺼번에 늘리지 않도록 공휴일 하나에 범위를 한정한다.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수식 결과의 검증</a:t>
            </a:r>
          </a:p>
          <a:p xmlns:a="http://schemas.openxmlformats.org/drawingml/2006/main">
            <a:r>
              <a:t/>
            </a:r>
          </a:p>
          <a:p xmlns:a="http://schemas.openxmlformats.org/drawingml/2006/main">
            <a:r>
              <a:t>파일 생성 성공과 파일 사용 성공은 다르다. 수식 캐시는 도구마다 다를 수 있어 실제 사용 앱에서 재계산을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저장 후 값이 그대로인 경우</a:t>
            </a:r>
          </a:p>
          <a:p xmlns:a="http://schemas.openxmlformats.org/drawingml/2006/main">
            <a:r>
              <a:t/>
            </a:r>
          </a:p>
          <a:p xmlns:a="http://schemas.openxmlformats.org/drawingml/2006/main">
            <a:r>
              <a:t>Excel Windows의 수식 탭 기준이며 Mac과 LibreOffice는 메뉴 위치가 다를 수 있다. data_only=True는 저장된 계산 캐시를 읽는 옵션으로 재계산 명령이 아니다. None을 0점 또는 0일로 치환하지 않는다. 출처: https://support.microsoft.com/ko-kr/excel/change-formula-recalculation-iteration-or-precision-in-excel</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4차시 확인</a:t>
            </a:r>
          </a:p>
          <a:p xmlns:a="http://schemas.openxmlformats.org/drawingml/2006/main">
            <a:r>
              <a:t/>
            </a:r>
          </a:p>
          <a:p xmlns:a="http://schemas.openxmlformats.org/drawingml/2006/main">
            <a:r>
              <a:t>학생이 직접 변경한 파일을 남겼는지 확인한다. 단순 다운로드만 한 경우는 아직 코드 실습이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WBS의 확장 기준</a:t>
            </a:r>
          </a:p>
          <a:p xmlns:a="http://schemas.openxmlformats.org/drawingml/2006/main">
            <a:r>
              <a:t/>
            </a:r>
          </a:p>
          <a:p xmlns:a="http://schemas.openxmlformats.org/drawingml/2006/main">
            <a:r>
              <a:t>기능을 넣기 전에 업무 규칙부터 정의한다. AI가 그럴듯한 일정을 만든 것과 실제 자원 계획은 다른 수준이다.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4차시 13:00–13:50</a:t>
            </a:r>
          </a:p>
          <a:p xmlns:a="http://schemas.openxmlformats.org/drawingml/2006/main">
            <a:r>
              <a:t/>
            </a:r>
          </a:p>
          <a:p xmlns:a="http://schemas.openxmlformats.org/drawingml/2006/main">
            <a:r>
              <a:t>화면 주제: 템플릿과 생성 코드</a:t>
            </a:r>
          </a:p>
          <a:p xmlns:a="http://schemas.openxmlformats.org/drawingml/2006/main">
            <a:r>
              <a:t/>
            </a:r>
          </a:p>
          <a:p xmlns:a="http://schemas.openxmlformats.org/drawingml/2006/main">
            <a:r>
              <a:t>학생용 공개 코드에서는 제공한 XLSX 템플릿을 openpyxl로 복사·수정한다. 수식을 새로 계산하는 엔진은 아니므로 Excel/LibreOffice의 재계산을 안내한다.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https://support.microsoft.com/en-us/excel/functions/networkdays-function</a:t>
            </a:r>
          </a:p>
          <a:p xmlns:a="http://schemas.openxmlformats.org/drawingml/2006/main">
            <a:r>
              <a:t>https://support.microsoft.com/en-us/excel/use-conditional-formatting-to-highlight-information-in-excel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자동 채점과 문항 분석</a:t>
            </a:r>
          </a:p>
          <a:p xmlns:a="http://schemas.openxmlformats.org/drawingml/2006/main">
            <a:r>
              <a:t/>
            </a:r>
          </a:p>
          <a:p xmlns:a="http://schemas.openxmlformats.org/drawingml/2006/main">
            <a:r>
              <a:t>차시별 자료: exam_sample.json · Exam_Grading.xlsx.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40문항 자동 채점</a:t>
            </a:r>
          </a:p>
          <a:p xmlns:a="http://schemas.openxmlformats.org/drawingml/2006/main">
            <a:r>
              <a:t/>
            </a:r>
          </a:p>
          <a:p xmlns:a="http://schemas.openxmlformats.org/drawingml/2006/main">
            <a:r>
              <a:t>사용자 제시 화면의 구조를 참고해 새로운 합성 데이터로 만든 예다. 원본 파일의 수식이나 학생 데이터를 복제했다는 주장은 하지 않는다.</a:t>
            </a:r>
          </a:p>
          <a:p xmlns:a="http://schemas.openxmlformats.org/drawingml/2006/main">
            <a:r>
              <a:t/>
            </a:r>
          </a:p>
          <a:p xmlns:a="http://schemas.openxmlformats.org/drawingml/2006/main">
            <a:r>
              <a:t>그림 출처: outputs/day4-document-automation/exam_inputs.png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채점 정책</a:t>
            </a:r>
          </a:p>
          <a:p xmlns:a="http://schemas.openxmlformats.org/drawingml/2006/main">
            <a:r>
              <a:t/>
            </a:r>
          </a:p>
          <a:p xmlns:a="http://schemas.openxmlformats.org/drawingml/2006/main">
            <a:r>
              <a:t>점수보다 먼저 규칙을 정한다. 빈칸과 결시를 같은 0으로 처리하면 평균과 문항 정답률이 왜곡될 수 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채점 시트의 위치</a:t>
            </a:r>
          </a:p>
          <a:p xmlns:a="http://schemas.openxmlformats.org/drawingml/2006/main">
            <a:r>
              <a:t/>
            </a:r>
          </a:p>
          <a:p xmlns:a="http://schemas.openxmlformats.org/drawingml/2006/main">
            <a:r>
              <a:t>엑셀 열 이름을 실제 파일에서 찾게 한다. 마지막 컬럼을 별도의 파란 강조로 꾸미지 않는다. 전체 체계를 한 표로 설명한다.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정답과 답안의 셀 선택</a:t>
            </a:r>
          </a:p>
          <a:p xmlns:a="http://schemas.openxmlformats.org/drawingml/2006/main">
            <a:r>
              <a:t/>
            </a:r>
          </a:p>
          <a:p xmlns:a="http://schemas.openxmlformats.org/drawingml/2006/main">
            <a:r>
              <a:t>정답 변경 전의 기본 파일로 진행한다. 응답행의 첫 칸은 D10이다. D8을 답안 칸으로 오해해서 붙여넣지 않는다. 실제 성적이나 원본 온라인 파일을 열지 않고 제공된 합성 데이터만 사용한다.</a:t>
            </a:r>
          </a:p>
          <a:p xmlns:a="http://schemas.openxmlformats.org/drawingml/2006/main">
            <a:r>
              <a:t/>
            </a:r>
          </a:p>
          <a:p xmlns:a="http://schemas.openxmlformats.org/drawingml/2006/main">
            <a:r>
              <a:t>학생 작업:</a:t>
            </a:r>
          </a:p>
          <a:p xmlns:a="http://schemas.openxmlformats.org/drawingml/2006/main">
            <a:r>
              <a:t>1. 제공 채점 파일의 복사본에서 채점 탭 선택</a:t>
            </a:r>
          </a:p>
          <a:p xmlns:a="http://schemas.openxmlformats.org/drawingml/2006/main">
            <a:r>
              <a:t>2. 이름 상자에 D8 입력: 첫 문항의 정답 1 확인</a:t>
            </a:r>
          </a:p>
          <a:p xmlns:a="http://schemas.openxmlformats.org/drawingml/2006/main">
            <a:r>
              <a:t>3. D10 선택: S001의 첫 문항 답안과 정답 비교</a:t>
            </a:r>
          </a:p>
          <a:p xmlns:a="http://schemas.openxmlformats.org/drawingml/2006/main">
            <a:r>
              <a:t>4. AR10의 총점 20점과 AT10의 처리 상태 확인</a:t>
            </a:r>
          </a:p>
          <a:p xmlns:a="http://schemas.openxmlformats.org/drawingml/2006/main">
            <a:r>
              <a:t>파일: outputs/day4-document-automation/Exam_Grading.xlsx</a:t>
            </a:r>
          </a:p>
          <a:p xmlns:a="http://schemas.openxmlformats.org/drawingml/2006/main">
            <a:r>
              <a:t>성공 확인: 정답 8행 / 답안 10~37행 / 총점 AR열</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정답 색의 조건</a:t>
            </a:r>
          </a:p>
          <a:p xmlns:a="http://schemas.openxmlformats.org/drawingml/2006/main">
            <a:r>
              <a:t/>
            </a:r>
          </a:p>
          <a:p xmlns:a="http://schemas.openxmlformats.org/drawingml/2006/main">
            <a:r>
              <a:t>45행에서 정수 1~4의 정답 등록 여부를 검사한다. 잘못된 소수 정답과 응답이 같아도 정답 색이 되지 않는다. 색 외에도 처리 상태와 채점내역 텍스트를 함께 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동점 순위와 정답률</a:t>
            </a:r>
          </a:p>
          <a:p xmlns:a="http://schemas.openxmlformats.org/drawingml/2006/main">
            <a:r>
              <a:t/>
            </a:r>
          </a:p>
          <a:p xmlns:a="http://schemas.openxmlformats.org/drawingml/2006/main">
            <a:r>
              <a:t>동점 처리 방식을 먼저 합의한다. rank 평균 방식도 있지만 이번 파일은 공동 순위 후 건너뛰기다. 정답률은 분모 정책에 따라 달라진다.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총점과 보류 상태</a:t>
            </a:r>
          </a:p>
          <a:p xmlns:a="http://schemas.openxmlformats.org/drawingml/2006/main">
            <a:r>
              <a:t/>
            </a:r>
          </a:p>
          <a:p xmlns:a="http://schemas.openxmlformats.org/drawingml/2006/main">
            <a:r>
              <a:t>25번째 학생 미응답, 26번째 학생의 9 입력, 28번째 결시 사례를 비교한다. 번호는 합성 행의 위치이지 실제 학생 식별정보가 아니다.</a:t>
            </a:r>
          </a:p>
          <a:p xmlns:a="http://schemas.openxmlformats.org/drawingml/2006/main">
            <a:r>
              <a:t/>
            </a:r>
          </a:p>
          <a:p xmlns:a="http://schemas.openxmlformats.org/drawingml/2006/main">
            <a:r>
              <a:t>그림 출처: outputs/day4-document-automation/exam_status_zoom.png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Python 기준값</a:t>
            </a:r>
          </a:p>
          <a:p xmlns:a="http://schemas.openxmlformats.org/drawingml/2006/main">
            <a:r>
              <a:t/>
            </a:r>
          </a:p>
          <a:p xmlns:a="http://schemas.openxmlformats.org/drawingml/2006/main">
            <a:r>
              <a:t>XLSX 수식과 Python 계산이 같은 정책을 따르는지 교차검증한다. 두 구현 모두 틀릴 수 있어 작은 손계산 예제도 함께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문항 번호와 목록 위치</a:t>
            </a:r>
          </a:p>
          <a:p xmlns:a="http://schemas.openxmlformats.org/drawingml/2006/main">
            <a:r>
              <a:t/>
            </a:r>
          </a:p>
          <a:p xmlns:a="http://schemas.openxmlformats.org/drawingml/2006/main">
            <a:r>
              <a:t>exam은 바로 앞 데이터 로딩 결과다. students[25]는 S026, answers[8]은 9번 문항이다. 보기 9는 정답과 다르다는 의미의 오답이 아니라 입력 범위를 벗어난 값이다. score=None과 status=입력 오류를 함께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정답 변경의 영향</a:t>
            </a:r>
          </a:p>
          <a:p xmlns:a="http://schemas.openxmlformats.org/drawingml/2006/main">
            <a:r>
              <a:t/>
            </a:r>
          </a:p>
          <a:p xmlns:a="http://schemas.openxmlformats.org/drawingml/2006/main">
            <a:r>
              <a:t>총점만 바뀌고 순위가 안 바뀌는 문제를 찾는 실습이다. 최초 값으로 복구해서 가역성도 확인한다.</a:t>
            </a:r>
          </a:p>
          <a:p xmlns:a="http://schemas.openxmlformats.org/drawingml/2006/main">
            <a:r>
              <a:t/>
            </a:r>
          </a:p>
          <a:p xmlns:a="http://schemas.openxmlformats.org/drawingml/2006/main">
            <a:r>
              <a:t>학생 작업:</a:t>
            </a:r>
          </a:p>
          <a:p xmlns:a="http://schemas.openxmlformats.org/drawingml/2006/main">
            <a:r>
              <a:t>1. 원본을 deepcopy로 복사</a:t>
            </a:r>
          </a:p>
          <a:p xmlns:a="http://schemas.openxmlformats.org/drawingml/2006/main">
            <a:r>
              <a:t>2. 첫 문항 정답을 1에서 2로 변경</a:t>
            </a:r>
          </a:p>
          <a:p xmlns:a="http://schemas.openxmlformats.org/drawingml/2006/main">
            <a:r>
              <a:t>3. Python 보고서와 새 XLSX의 총점 비교</a:t>
            </a:r>
          </a:p>
          <a:p xmlns:a="http://schemas.openxmlformats.org/drawingml/2006/main">
            <a:r>
              <a:t>파일: Notebook 5차시 · D8</a:t>
            </a:r>
          </a:p>
          <a:p xmlns:a="http://schemas.openxmlformats.org/drawingml/2006/main">
            <a:r>
              <a:t>성공 확인: 총점·순위·정답률의 동시 갱신</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입력 오류의 복구</a:t>
            </a:r>
          </a:p>
          <a:p xmlns:a="http://schemas.openxmlformats.org/drawingml/2006/main">
            <a:r>
              <a:t/>
            </a:r>
          </a:p>
          <a:p xmlns:a="http://schemas.openxmlformats.org/drawingml/2006/main">
            <a:r>
              <a:t>오류 학생에게 0점을 줘버리는 대신 채점 보류가 해제되는 흐름이다. 모델이 정답을 추측해서 고치는 방식은 사용하지 않는다.</a:t>
            </a:r>
          </a:p>
          <a:p xmlns:a="http://schemas.openxmlformats.org/drawingml/2006/main">
            <a:r>
              <a:t/>
            </a:r>
          </a:p>
          <a:p xmlns:a="http://schemas.openxmlformats.org/drawingml/2006/main">
            <a:r>
              <a:t>학생 작업:</a:t>
            </a:r>
          </a:p>
          <a:p xmlns:a="http://schemas.openxmlformats.org/drawingml/2006/main">
            <a:r>
              <a:t>1. L35의 9 입력 확인</a:t>
            </a:r>
          </a:p>
          <a:p xmlns:a="http://schemas.openxmlformats.org/drawingml/2006/main">
            <a:r>
              <a:t>2. 1~4의 유효한 답안으로 수정</a:t>
            </a:r>
          </a:p>
          <a:p xmlns:a="http://schemas.openxmlformats.org/drawingml/2006/main">
            <a:r>
              <a:t>3. 집계 대상 인원과 평균 재확인</a:t>
            </a:r>
          </a:p>
          <a:p xmlns:a="http://schemas.openxmlformats.org/drawingml/2006/main">
            <a:r>
              <a:t>파일: Exam_Grading.xlsx · L35</a:t>
            </a:r>
          </a:p>
          <a:p xmlns:a="http://schemas.openxmlformats.org/drawingml/2006/main">
            <a:r>
              <a:t>성공 확인: 집계 대상 26 → 27명</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보기 번호 수정의 전후</a:t>
            </a:r>
          </a:p>
          <a:p xmlns:a="http://schemas.openxmlformats.org/drawingml/2006/main">
            <a:r>
              <a:t/>
            </a:r>
          </a:p>
          <a:p xmlns:a="http://schemas.openxmlformats.org/drawingml/2006/main">
            <a:r>
              <a:t>실습은 사전에 정한 합성 오류 9를 1로 고친다. 실제 시험에서는 원본 답안 확인 없이 학생 응답을 추정하지 않는다. 원본 exam을 유지하여 전후 비교가 가능하다. grade_exam은 파일을 저장하지 않으므로 뒤의 write_exam_copy와 write_grade_csv 셀까지 실행해야 결과 파일에 반영된다.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예외 입력 테스트</a:t>
            </a:r>
          </a:p>
          <a:p xmlns:a="http://schemas.openxmlformats.org/drawingml/2006/main">
            <a:r>
              <a:t/>
            </a:r>
          </a:p>
          <a:p xmlns:a="http://schemas.openxmlformats.org/drawingml/2006/main">
            <a:r>
              <a:t>원본 정답을 지우지 않는다. 각 테스트마다 deepcopy를 사용한다. 결시와 미응답 차이를 눈으로 보며 규칙을 다시 확인한다.</a:t>
            </a:r>
          </a:p>
          <a:p xmlns:a="http://schemas.openxmlformats.org/drawingml/2006/main">
            <a:r>
              <a:t/>
            </a:r>
          </a:p>
          <a:p xmlns:a="http://schemas.openxmlformats.org/drawingml/2006/main">
            <a:r>
              <a:t>학생 작업:</a:t>
            </a:r>
          </a:p>
          <a:p xmlns:a="http://schemas.openxmlformats.org/drawingml/2006/main">
            <a:r>
              <a:t>1. 정답 한 칸을 비워 채점 보류 확인</a:t>
            </a:r>
          </a:p>
          <a:p xmlns:a="http://schemas.openxmlformats.org/drawingml/2006/main">
            <a:r>
              <a:t>2. 답안에 글자 또는 9 입력</a:t>
            </a:r>
          </a:p>
          <a:p xmlns:a="http://schemas.openxmlformats.org/drawingml/2006/main">
            <a:r>
              <a:t>3. 정답·답안을 복구하고 재계산</a:t>
            </a:r>
          </a:p>
          <a:p xmlns:a="http://schemas.openxmlformats.org/drawingml/2006/main">
            <a:r>
              <a:t>파일: Notebook 5차시 · 별도 복사본</a:t>
            </a:r>
          </a:p>
          <a:p xmlns:a="http://schemas.openxmlformats.org/drawingml/2006/main">
            <a:r>
              <a:t>성공 확인: 오류는 보류 · 복구 후 정상 계산</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정답 누락의 복구 순서</a:t>
            </a:r>
          </a:p>
          <a:p xmlns:a="http://schemas.openxmlformats.org/drawingml/2006/main">
            <a:r>
              <a:t/>
            </a:r>
          </a:p>
          <a:p xmlns:a="http://schemas.openxmlformats.org/drawingml/2006/main">
            <a:r>
              <a:t>이전 장표에서 S026을 수정한 exam_my를 기준으로 한다. 숫자 0으로 누락 정답을 채우지 않는다. 누락 상태의 결과를 배포하지 않고 정답 근거를 확인한 다음 재계산한다. Excel 복사본에서도 D8을 비웠다가 1로 복구해 같은 정책을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문항 분석</a:t>
            </a:r>
          </a:p>
          <a:p xmlns:a="http://schemas.openxmlformats.org/drawingml/2006/main">
            <a:r>
              <a:t/>
            </a:r>
          </a:p>
          <a:p xmlns:a="http://schemas.openxmlformats.org/drawingml/2006/main">
            <a:r>
              <a:t>정답률이 낮다고 바로 문제를 잘못 출제했다고 단정하지 않는다. 수업 범위, 모호한 표현, 응답 누락을 함께 보아야 한다.</a:t>
            </a:r>
          </a:p>
          <a:p xmlns:a="http://schemas.openxmlformats.org/drawingml/2006/main">
            <a:r>
              <a:t/>
            </a:r>
          </a:p>
          <a:p xmlns:a="http://schemas.openxmlformats.org/drawingml/2006/main">
            <a:r>
              <a:t>그림 출처: outputs/day4-document-automation/exam_question_analysis.png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Google Sheets 적용</a:t>
            </a:r>
          </a:p>
          <a:p xmlns:a="http://schemas.openxmlformats.org/drawingml/2006/main">
            <a:r>
              <a:t/>
            </a:r>
          </a:p>
          <a:p xmlns:a="http://schemas.openxmlformats.org/drawingml/2006/main">
            <a:r>
              <a:t>원본 성적표는 만지지 않는다. 빈 네이티브 문서에서는 Code.gs의 createDay4GradingPractice를 확인 후 실행한다. Office 편집 모드와 네이티브 Google Sheets는 다르다. 계정이 없으면 로컬 XLSX 경로로 필수 실습을 마친다.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내 채점표의 Google Sheets 사본</a:t>
            </a:r>
          </a:p>
          <a:p xmlns:a="http://schemas.openxmlformats.org/drawingml/2006/main">
            <a:r>
              <a:t/>
            </a:r>
          </a:p>
          <a:p xmlns:a="http://schemas.openxmlformats.org/drawingml/2006/main">
            <a:r>
              <a:t>원본 성적표 URL은 사용하지 않는다. 이미 네이티브 Google Sheets인 자신의 문서는 파일 메뉴의 사본 만들기를 사용한다. XLSX 편집 화면에서 바로 값을 고치면 Excel 원본 형식에 저장될 수 있으므로 먼저 변환한다. 제공 코드의 원격 실행·권한 화면·수식 렌더는 미검증이다. 계정이 없으면 앞의 로컬 XLSX·CSV 경로로 진행한다. 출처: https://support.google.com/docs/answer/9331167?hl=ko</a:t>
            </a:r>
          </a:p>
          <a:p xmlns:a="http://schemas.openxmlformats.org/drawingml/2006/main">
            <a:r>
              <a:t/>
            </a:r>
          </a:p>
          <a:p xmlns:a="http://schemas.openxmlformats.org/drawingml/2006/main">
            <a:r>
              <a:t>학생 작업:</a:t>
            </a:r>
          </a:p>
          <a:p xmlns:a="http://schemas.openxmlformats.org/drawingml/2006/main">
            <a:r>
              <a:t>1. 개인 Drive의 새로 만들기에서 합성 XLSX 파일 업로드</a:t>
            </a:r>
          </a:p>
          <a:p xmlns:a="http://schemas.openxmlformats.org/drawingml/2006/main">
            <a:r>
              <a:t>2. 업로드한 파일 열기, 파일 메뉴의 Google Sheets로 저장</a:t>
            </a:r>
          </a:p>
          <a:p xmlns:a="http://schemas.openxmlformats.org/drawingml/2006/main">
            <a:r>
              <a:t>3. 새 Google 파일 이름을 4주차_채점_연습으로 변경</a:t>
            </a:r>
          </a:p>
          <a:p xmlns:a="http://schemas.openxmlformats.org/drawingml/2006/main">
            <a:r>
              <a:t>4. 원래 XLSX 보존, 새 파일의 채점 탭에서만 작업</a:t>
            </a:r>
          </a:p>
          <a:p xmlns:a="http://schemas.openxmlformats.org/drawingml/2006/main">
            <a:r>
              <a:t>파일: 내 복사본의 Exam_Grading.xlsx / 개인 Google 계정</a:t>
            </a:r>
          </a:p>
          <a:p xmlns:a="http://schemas.openxmlformats.org/drawingml/2006/main">
            <a:r>
              <a:t>성공 확인: 선택 확장 / 온라인 계산·서식은 계정에서 직접 확인 필요</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조건부서식 메뉴와 시험 입력</a:t>
            </a:r>
          </a:p>
          <a:p xmlns:a="http://schemas.openxmlformats.org/drawingml/2006/main">
            <a:r>
              <a:t/>
            </a:r>
          </a:p>
          <a:p xmlns:a="http://schemas.openxmlformats.org/drawingml/2006/main">
            <a:r>
              <a:t>기본 합성 XLSX를 변환한 새 문서에서 진행한다. 기존 정답 규칙이 있으면 중복 규칙을 추가하지 않는다. 없다면 앞의 정답 색의 조건 장표에 있는 전체 수식을 맞춤 수식에 넣는다. 색만 보고 통과시키지 않고 점수·처리 상태를 확인한다. 변환 오류가 지속되면 로컬 파일로 돌아가거나 별도의 빈 Google 문서에서 google_sheets/README.md의 새 시트 생성 절차를 사용한다. 출처: https://support.google.com/docs/answer/78413?hl=ko</a:t>
            </a:r>
          </a:p>
          <a:p xmlns:a="http://schemas.openxmlformats.org/drawingml/2006/main">
            <a:r>
              <a:t/>
            </a:r>
          </a:p>
          <a:p xmlns:a="http://schemas.openxmlformats.org/drawingml/2006/main">
            <a:r>
              <a:t>학생 작업:</a:t>
            </a:r>
          </a:p>
          <a:p xmlns:a="http://schemas.openxmlformats.org/drawingml/2006/main">
            <a:r>
              <a:t>1. 채점 탭에서 응답 범위 D10:AQ37 선택</a:t>
            </a:r>
          </a:p>
          <a:p xmlns:a="http://schemas.openxmlformats.org/drawingml/2006/main">
            <a:r>
              <a:t>2. 서식 메뉴의 조건부서식 열기, 맞춤 수식 규칙 선택</a:t>
            </a:r>
          </a:p>
          <a:p xmlns:a="http://schemas.openxmlformats.org/drawingml/2006/main">
            <a:r>
              <a:t>3. 정답 규칙의 적용 범위와 D$8·D$45 참조 확인</a:t>
            </a:r>
          </a:p>
          <a:p xmlns:a="http://schemas.openxmlformats.org/drawingml/2006/main">
            <a:r>
              <a:t>4. L35를 9에서 1로 변경, B5=27과 AR35=24 확인</a:t>
            </a:r>
          </a:p>
          <a:p xmlns:a="http://schemas.openxmlformats.org/drawingml/2006/main">
            <a:r>
              <a:t>파일: 새 Google 파일 / 채점 탭 / 서식 &gt; 조건부서식</a:t>
            </a:r>
          </a:p>
          <a:p xmlns:a="http://schemas.openxmlformats.org/drawingml/2006/main">
            <a:r>
              <a:t>성공 확인: 원격 실행 미검증 / 계산과 색을 함께 확인 후 사용</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채점 규칙 개선 요청</a:t>
            </a:r>
          </a:p>
          <a:p xmlns:a="http://schemas.openxmlformats.org/drawingml/2006/main">
            <a:r>
              <a:t/>
            </a:r>
          </a:p>
          <a:p xmlns:a="http://schemas.openxmlformats.org/drawingml/2006/main">
            <a:r>
              <a:t>자동 채점은 수식·코드가 맡고 AI는 규칙 설명과 구현 보조를 맡는다. 실제 성적 데이터를 개인 AI 계정에 업로드하지 않는다.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5차시 확인</a:t>
            </a:r>
          </a:p>
          <a:p xmlns:a="http://schemas.openxmlformats.org/drawingml/2006/main">
            <a:r>
              <a:t/>
            </a:r>
          </a:p>
          <a:p xmlns:a="http://schemas.openxmlformats.org/drawingml/2006/main">
            <a:r>
              <a:t>엑셀은 보기 좋은 색보다 올바른 분모와 보류 상태가 중요하다고 한 문장으로 연결한다. 이 표는 확인 시간이며 앞선 내용을 반복 강의하지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맞춤 수식의 공식 안내</a:t>
            </a:r>
          </a:p>
          <a:p xmlns:a="http://schemas.openxmlformats.org/drawingml/2006/main">
            <a:r>
              <a:t/>
            </a:r>
          </a:p>
          <a:p xmlns:a="http://schemas.openxmlformats.org/drawingml/2006/main">
            <a:r>
              <a:t>공식 참고 화면이며 수업용 계정에서 Apps Script를 실제 실행한 증거가 아니다. 웹 페이지 구경은 실습 시간에 포함하지 않는다.</a:t>
            </a:r>
          </a:p>
          <a:p xmlns:a="http://schemas.openxmlformats.org/drawingml/2006/main">
            <a:r>
              <a:t/>
            </a:r>
          </a:p>
          <a:p xmlns:a="http://schemas.openxmlformats.org/drawingml/2006/main">
            <a:r>
              <a:t>그림 출처: assets/components/day4/google-sheets-custom-formula-reference.png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Apps Script 확장</a:t>
            </a:r>
          </a:p>
          <a:p xmlns:a="http://schemas.openxmlformats.org/drawingml/2006/main">
            <a:r>
              <a:t/>
            </a:r>
          </a:p>
          <a:p xmlns:a="http://schemas.openxmlformats.org/drawingml/2006/main">
            <a:r>
              <a:t>제공 스크립트는 선택 확장이다. 설치형 trigger, 이메일 전송, 실제 성적 접근은 넣지 않는다. 네이티브 Google 실행은 계정에서 사용자가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5차시 13:50–14:40</a:t>
            </a:r>
          </a:p>
          <a:p xmlns:a="http://schemas.openxmlformats.org/drawingml/2006/main">
            <a:r>
              <a:t/>
            </a:r>
          </a:p>
          <a:p xmlns:a="http://schemas.openxmlformats.org/drawingml/2006/main">
            <a:r>
              <a:t>화면 주제: 쉬는 시간</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https://support.google.com/docs/answer/78413?hl=ko</a:t>
            </a:r>
          </a:p>
          <a:p xmlns:a="http://schemas.openxmlformats.org/drawingml/2006/main">
            <a:r>
              <a:t>https://developers.google.com/apps-script/reference/spreadsheet/conditional-format-rule-builder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Word 이력서와 사실 검증</a:t>
            </a:r>
          </a:p>
          <a:p xmlns:a="http://schemas.openxmlformats.org/drawingml/2006/main">
            <a:r>
              <a:t/>
            </a:r>
          </a:p>
          <a:p xmlns:a="http://schemas.openxmlformats.org/drawingml/2006/main">
            <a:r>
              <a:t>차시별 자료: career_facts.json · Resume_After.docx.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Word 이력서 개선 전</a:t>
            </a:r>
          </a:p>
          <a:p xmlns:a="http://schemas.openxmlformats.org/drawingml/2006/main">
            <a:r>
              <a:t/>
            </a:r>
          </a:p>
          <a:p xmlns:a="http://schemas.openxmlformats.org/drawingml/2006/main">
            <a:r>
              <a:t>강사 제공 산업 경험을 익명 교육용으로 정리한 자료다. 실존 회사의 성과나 숫자를 검증한 외부 자료가 아니라 본인 제공 내용임을 구분한다.</a:t>
            </a:r>
          </a:p>
          <a:p xmlns:a="http://schemas.openxmlformats.org/drawingml/2006/main">
            <a:r>
              <a:t/>
            </a:r>
          </a:p>
          <a:p xmlns:a="http://schemas.openxmlformats.org/drawingml/2006/main">
            <a:r>
              <a:t>그림 출처: outputs/day4-document-automation/render/before-final/page-1.png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경력 문장의 구성</a:t>
            </a:r>
          </a:p>
          <a:p xmlns:a="http://schemas.openxmlformats.org/drawingml/2006/main">
            <a:r>
              <a:t/>
            </a:r>
          </a:p>
          <a:p xmlns:a="http://schemas.openxmlformats.org/drawingml/2006/main">
            <a:r>
              <a:t>성과 문장은 형용사가 아니라 상황·역할·실행·결과의 연결이다. 근거 없는 수치와 과장된 직함은 생성하지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개선과 사실 변경</a:t>
            </a:r>
          </a:p>
          <a:p xmlns:a="http://schemas.openxmlformats.org/drawingml/2006/main">
            <a:r>
              <a:t/>
            </a:r>
          </a:p>
          <a:p xmlns:a="http://schemas.openxmlformats.org/drawingml/2006/main">
            <a:r>
              <a:t>숫자만 보존한다고 사실이 보존되는 것은 아니다. 지원·참여를 책임자로 바꾸는 과장도 사람 검토 대상이다.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Fact map</a:t>
            </a:r>
          </a:p>
          <a:p xmlns:a="http://schemas.openxmlformats.org/drawingml/2006/main">
            <a:r>
              <a:t/>
            </a:r>
          </a:p>
          <a:p xmlns:a="http://schemas.openxmlformats.org/drawingml/2006/main">
            <a:r>
              <a:t>Fact map은 작은 데이터 구조일 뿐 특수한 AI 제품이 아니다. 입력 사실과 출력 문장을 매핑해 사람이 비교할 수 있게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경력 원문 JSON 열기</a:t>
            </a:r>
          </a:p>
          <a:p xmlns:a="http://schemas.openxmlformats.org/drawingml/2006/main">
            <a:r>
              <a:t/>
            </a:r>
          </a:p>
          <a:p xmlns:a="http://schemas.openxmlformats.org/drawingml/2006/main">
            <a:r>
              <a:t>JSON은 최종 이력서가 아니라 문장을 근거와 연결하는 입력이다. 이 파일은 사용자가 제공한 경력의 수업 예시이며 별도로 검증한 실제 원본 이력서가 아니다. 연락처·고객 정보나 새로운 재직 기간을 추가하지 않는다.</a:t>
            </a:r>
          </a:p>
          <a:p xmlns:a="http://schemas.openxmlformats.org/drawingml/2006/main">
            <a:r>
              <a:t/>
            </a:r>
          </a:p>
          <a:p xmlns:a="http://schemas.openxmlformats.org/drawingml/2006/main">
            <a:r>
              <a:t>학생 작업:</a:t>
            </a:r>
          </a:p>
          <a:p xmlns:a="http://schemas.openxmlformats.org/drawingml/2006/main">
            <a:r>
              <a:t>1. VS Code 탐색기에서 documents 폴더의 JSON 열기</a:t>
            </a:r>
          </a:p>
          <a:p xmlns:a="http://schemas.openxmlformats.org/drawingml/2006/main">
            <a:r>
              <a:t>2. 파일 안에서 medical-polyp 검색</a:t>
            </a:r>
          </a:p>
          <a:p xmlns:a="http://schemas.openxmlformats.org/drawingml/2006/main">
            <a:r>
              <a:t>3. text의 원문과 rewrite의 수정 문장 비교</a:t>
            </a:r>
          </a:p>
          <a:p xmlns:a="http://schemas.openxmlformats.org/drawingml/2006/main">
            <a:r>
              <a:t>4. 원본 저장 없이 Notebook의 my_rewrites에서 수정</a:t>
            </a:r>
          </a:p>
          <a:p xmlns:a="http://schemas.openxmlformats.org/drawingml/2006/main">
            <a:r>
              <a:t>파일: labs/day4/office_lab/documents/career_facts.json</a:t>
            </a:r>
          </a:p>
          <a:p xmlns:a="http://schemas.openxmlformats.org/drawingml/2006/main">
            <a:r>
              <a:t>성공 확인: id는 근거 연결 / text는 원문 / rewrite는 수정 초안</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Fact ID의 원문 조회</a:t>
            </a:r>
          </a:p>
          <a:p xmlns:a="http://schemas.openxmlformats.org/drawingml/2006/main">
            <a:r>
              <a:t/>
            </a:r>
          </a:p>
          <a:p xmlns:a="http://schemas.openxmlformats.org/drawingml/2006/main">
            <a:r>
              <a:t>facts는 FACT_SOURCE를 read_fact_map으로 읽은 결과다. 파일 이름과 변수 이름을 구분한다. 잘못된 ID의 KeyError가 나면 원문 JSON에서 정확한 id를 확인하며 비슷한 경력을 임의로 대체하지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이력서 개선 요청</a:t>
            </a:r>
          </a:p>
          <a:p xmlns:a="http://schemas.openxmlformats.org/drawingml/2006/main">
            <a:r>
              <a:t/>
            </a:r>
          </a:p>
          <a:p xmlns:a="http://schemas.openxmlformats.org/drawingml/2006/main">
            <a:r>
              <a:t>일반 ChatGPT/Claude에는 익명 파일을 첨부한다. 로컬 Codex/Claude Code에서는 지정된 폴더만 읽도록 한다. 실제 연락처와 고객정보는 제외한다.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Word 이력서 개선 후</a:t>
            </a:r>
          </a:p>
          <a:p xmlns:a="http://schemas.openxmlformats.org/drawingml/2006/main">
            <a:r>
              <a:t/>
            </a:r>
          </a:p>
          <a:p xmlns:a="http://schemas.openxmlformats.org/drawingml/2006/main">
            <a:r>
              <a:t>강조가 많아서 좋아진 것이 아니라 산업 흐름과 Role을 빠르게 찾을 수 있어야 한다. 처음과 끝의 사실 목록을 비교한다.</a:t>
            </a:r>
          </a:p>
          <a:p xmlns:a="http://schemas.openxmlformats.org/drawingml/2006/main">
            <a:r>
              <a:t/>
            </a:r>
          </a:p>
          <a:p xmlns:a="http://schemas.openxmlformats.org/drawingml/2006/main">
            <a:r>
              <a:t>그림 출처: outputs/day4-document-automation/render/after-final/page-1.png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Word 생성 코드</a:t>
            </a:r>
          </a:p>
          <a:p xmlns:a="http://schemas.openxmlformats.org/drawingml/2006/main">
            <a:r>
              <a:t/>
            </a:r>
          </a:p>
          <a:p xmlns:a="http://schemas.openxmlformats.org/drawingml/2006/main">
            <a:r>
              <a:t>커맨드는 저장소 루트에서 실행한다. 기존 파일이 있으면 새 이름을 선택한다. Word를 먼저 열지 않은 상태에서도 docx 생성이 가능하다.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경력 문장 한 개 개선</a:t>
            </a:r>
          </a:p>
          <a:p xmlns:a="http://schemas.openxmlformats.org/drawingml/2006/main">
            <a:r>
              <a:t/>
            </a:r>
          </a:p>
          <a:p xmlns:a="http://schemas.openxmlformats.org/drawingml/2006/main">
            <a:r>
              <a:t>전체 이력서를 한 번에 고치지 않는다. 한 문장에서 개선 기준을 익힌 후 범위를 넓힌다.</a:t>
            </a:r>
          </a:p>
          <a:p xmlns:a="http://schemas.openxmlformats.org/drawingml/2006/main">
            <a:r>
              <a:t/>
            </a:r>
          </a:p>
          <a:p xmlns:a="http://schemas.openxmlformats.org/drawingml/2006/main">
            <a:r>
              <a:t>학생 작업:</a:t>
            </a:r>
          </a:p>
          <a:p xmlns:a="http://schemas.openxmlformats.org/drawingml/2006/main">
            <a:r>
              <a:t>1. Fact map에서 문장 하나 선택</a:t>
            </a:r>
          </a:p>
          <a:p xmlns:a="http://schemas.openxmlformats.org/drawingml/2006/main">
            <a:r>
              <a:t>2. 의미는 유지하고 길이·순서 개선</a:t>
            </a:r>
          </a:p>
          <a:p xmlns:a="http://schemas.openxmlformats.org/drawingml/2006/main">
            <a:r>
              <a:t>3. audit_rewrite로 자동 검사</a:t>
            </a:r>
          </a:p>
          <a:p xmlns:a="http://schemas.openxmlformats.org/drawingml/2006/main">
            <a:r>
              <a:t>파일: career_facts.json · Notebook 6차시</a:t>
            </a:r>
          </a:p>
          <a:p xmlns:a="http://schemas.openxmlformats.org/drawingml/2006/main">
            <a:r>
              <a:t>성공 확인: fact_id 유지 · 새 숫자 없음</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문장 수정안의 자동 검사</a:t>
            </a:r>
          </a:p>
          <a:p xmlns:a="http://schemas.openxmlformats.org/drawingml/2006/main">
            <a:r>
              <a:t/>
            </a:r>
          </a:p>
          <a:p xmlns:a="http://schemas.openxmlformats.org/drawingml/2006/main">
            <a:r>
              <a:t>화면에 표시되는 PASS는 수치 규칙의 통과다. semantic_claims_verified=False를 함께 읽는다. 문장을 짧게 줄이면서 총괄 역할이나 핵심 업무를 빼지 않았는지도 사람이 판단한다. 필요한 경우 my_rewrites 문장만 수정하고 다시 검사한다.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의도한 과장 검사</a:t>
            </a:r>
          </a:p>
          <a:p xmlns:a="http://schemas.openxmlformats.org/drawingml/2006/main">
            <a:r>
              <a:t/>
            </a:r>
          </a:p>
          <a:p xmlns:a="http://schemas.openxmlformats.org/drawingml/2006/main">
            <a:r>
              <a:t>오류를 직접 만들어본다. 통과 메시지는 사실 확인 완료가 아니라 추가 사람 검토 필요 상태다.</a:t>
            </a:r>
          </a:p>
          <a:p xmlns:a="http://schemas.openxmlformats.org/drawingml/2006/main">
            <a:r>
              <a:t/>
            </a:r>
          </a:p>
          <a:p xmlns:a="http://schemas.openxmlformats.org/drawingml/2006/main">
            <a:r>
              <a:t>학생 작업:</a:t>
            </a:r>
          </a:p>
          <a:p xmlns:a="http://schemas.openxmlformats.org/drawingml/2006/main">
            <a:r>
              <a:t>1. 복사한 개선안에 새 숫자 추가</a:t>
            </a:r>
          </a:p>
          <a:p xmlns:a="http://schemas.openxmlformats.org/drawingml/2006/main">
            <a:r>
              <a:t>2. 자동 검사에서 차단 확인</a:t>
            </a:r>
          </a:p>
          <a:p xmlns:a="http://schemas.openxmlformats.org/drawingml/2006/main">
            <a:r>
              <a:t>3. 숫자를 제거하고 다시 검사</a:t>
            </a:r>
          </a:p>
          <a:p xmlns:a="http://schemas.openxmlformats.org/drawingml/2006/main">
            <a:r>
              <a:t>파일: Notebook 6차시 · audit_rewrite</a:t>
            </a:r>
          </a:p>
          <a:p xmlns:a="http://schemas.openxmlformats.org/drawingml/2006/main">
            <a:r>
              <a:t>성공 확인: 새 숫자 차단 · 통과 후에도 사람 검토</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숫자 없는 과장의 검사 한계</a:t>
            </a:r>
          </a:p>
          <a:p xmlns:a="http://schemas.openxmlformats.org/drawingml/2006/main">
            <a:r>
              <a:t/>
            </a:r>
          </a:p>
          <a:p xmlns:a="http://schemas.openxmlformats.org/drawingml/2006/main">
            <a:r>
              <a:t>의도적으로 잘못된 문장을 별도 bad_proposal 변수에 넣는다. my_rewrites는 바꾸지 않는다. 전 세계 모든 병원이라는 범위는 원문에 없지만 현재 숫자 규칙은 이를 찾지 못한다. AI나 정규식 검사의 통과가 사실 인증을 뜻하지 않는 사례다. 다음 저장에는 정상 my_rewrites만 사용한다.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Word 스타일 수정</a:t>
            </a:r>
          </a:p>
          <a:p xmlns:a="http://schemas.openxmlformats.org/drawingml/2006/main">
            <a:r>
              <a:t/>
            </a:r>
          </a:p>
          <a:p xmlns:a="http://schemas.openxmlformats.org/drawingml/2006/main">
            <a:r>
              <a:t>코드가 문서 구조를 만드는 과정이다. docx 파일만 존재한다고 끝내지 않고 실제 글꼴과 잘림을 확인한다.</a:t>
            </a:r>
          </a:p>
          <a:p xmlns:a="http://schemas.openxmlformats.org/drawingml/2006/main">
            <a:r>
              <a:t/>
            </a:r>
          </a:p>
          <a:p xmlns:a="http://schemas.openxmlformats.org/drawingml/2006/main">
            <a:r>
              <a:t>학생 작업:</a:t>
            </a:r>
          </a:p>
          <a:p xmlns:a="http://schemas.openxmlformats.org/drawingml/2006/main">
            <a:r>
              <a:t>1. 제목·본문·섹션 스타일 확인</a:t>
            </a:r>
          </a:p>
          <a:p xmlns:a="http://schemas.openxmlformats.org/drawingml/2006/main">
            <a:r>
              <a:t>2. 글꼴 또는 단락 간격 한 항목 수정</a:t>
            </a:r>
          </a:p>
          <a:p xmlns:a="http://schemas.openxmlformats.org/drawingml/2006/main">
            <a:r>
              <a:t>3. DOCX 생성 후 Word/PDF 화면 비교</a:t>
            </a:r>
          </a:p>
          <a:p xmlns:a="http://schemas.openxmlformats.org/drawingml/2006/main">
            <a:r>
              <a:t>파일: resume_lab.py → 내 DOCX</a:t>
            </a:r>
          </a:p>
          <a:p xmlns:a="http://schemas.openxmlformats.org/drawingml/2006/main">
            <a:r>
              <a:t>성공 확인: 편집 가능한 본문 · 줄바꿈·페이지 확인</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DOCX의 새 버전 생성</a:t>
            </a:r>
          </a:p>
          <a:p xmlns:a="http://schemas.openxmlformats.org/drawingml/2006/main">
            <a:r>
              <a:t/>
            </a:r>
          </a:p>
          <a:p xmlns:a="http://schemas.openxmlformats.org/drawingml/2006/main">
            <a:r>
              <a:t>Notebook 6차시의 정상 수정안 my_rewrites를 전달한다. 숫자 없는 과장 실험의 bad_proposal은 전달하지 않는다. build_resume는 원본과 기존 출력 파일을 덮지 않는다. 파일이 만들어졌다는 출력과 사람 검토가 끝났다는 상태를 혼동하지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구조와 서식</a:t>
            </a:r>
          </a:p>
          <a:p xmlns:a="http://schemas.openxmlformats.org/drawingml/2006/main">
            <a:r>
              <a:t/>
            </a:r>
          </a:p>
          <a:p xmlns:a="http://schemas.openxmlformats.org/drawingml/2006/main">
            <a:r>
              <a:t>서식 자동화의 목표는 하나의 문서를 예쁘게 만드는 것뿐 아니라 다음 수정에서도 안정적으로 유지하는 것이다.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Word 문장과 원문 대조</a:t>
            </a:r>
          </a:p>
          <a:p xmlns:a="http://schemas.openxmlformats.org/drawingml/2006/main">
            <a:r>
              <a:t/>
            </a:r>
          </a:p>
          <a:p xmlns:a="http://schemas.openxmlformats.org/drawingml/2006/main">
            <a:r>
              <a:t>생성 결과에서 해당 문장을 찾지 못하면 다른 버전의 파일을 열었는지 확인한다. 문장 수정은 Notebook의 my_rewrites에 반영하고 새 버전 DOCX를 만든다. Word 화면에서만 고친 내용은 다음 코드 실행 때 유지되지 않는다는 점을 설명한다. PDF 인쇄본도 만들면 줄바꿈과 페이지 나눔을 비교할 수 있다.</a:t>
            </a:r>
          </a:p>
          <a:p xmlns:a="http://schemas.openxmlformats.org/drawingml/2006/main">
            <a:r>
              <a:t/>
            </a:r>
          </a:p>
          <a:p xmlns:a="http://schemas.openxmlformats.org/drawingml/2006/main">
            <a:r>
              <a:t>학생 작업:</a:t>
            </a:r>
          </a:p>
          <a:p xmlns:a="http://schemas.openxmlformats.org/drawingml/2006/main">
            <a:r>
              <a:t>1. 출력한 Resume_walkthrough.docx를 Word에서 열기</a:t>
            </a:r>
          </a:p>
          <a:p xmlns:a="http://schemas.openxmlformats.org/drawingml/2006/main">
            <a:r>
              <a:t>2. 의료 경력 문장을 찾아 원문의 서비스 범위와 비교</a:t>
            </a:r>
          </a:p>
          <a:p xmlns:a="http://schemas.openxmlformats.org/drawingml/2006/main">
            <a:r>
              <a:t>3. 직함·총괄 여부·빠진 사실을 확인하고 수정안 기록</a:t>
            </a:r>
          </a:p>
          <a:p xmlns:a="http://schemas.openxmlformats.org/drawingml/2006/main">
            <a:r>
              <a:t>4. 홈의 스타일에서 제목·본문 확인, 모든 페이지 점검</a:t>
            </a:r>
          </a:p>
          <a:p xmlns:a="http://schemas.openxmlformats.org/drawingml/2006/main">
            <a:r>
              <a:t>파일: 내 DOCX + career_facts.json의 medical-polyp</a:t>
            </a:r>
          </a:p>
          <a:p xmlns:a="http://schemas.openxmlformats.org/drawingml/2006/main">
            <a:r>
              <a:t>성공 확인: 숫자 일치 외에 Role·범위·누락 확인</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수정 후 비교 요청</a:t>
            </a:r>
          </a:p>
          <a:p xmlns:a="http://schemas.openxmlformats.org/drawingml/2006/main">
            <a:r>
              <a:t/>
            </a:r>
          </a:p>
          <a:p xmlns:a="http://schemas.openxmlformats.org/drawingml/2006/main">
            <a:r>
              <a:t>두 번 생성했다고 검증이 완료된 것은 아니다. AI 비교는 후보 목록이며 사용자가 원문과 직접 대조한다.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6차시 확인</a:t>
            </a:r>
          </a:p>
          <a:p xmlns:a="http://schemas.openxmlformats.org/drawingml/2006/main">
            <a:r>
              <a:t/>
            </a:r>
          </a:p>
          <a:p xmlns:a="http://schemas.openxmlformats.org/drawingml/2006/main">
            <a:r>
              <a:t>구직자에게는 이력서, 재직자에게는 프로젝트 성과 문서로 바로 전환할 수 있다. 민감한 개인 정보는 수업 자료에 넣지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문서 입력의 위험</a:t>
            </a:r>
          </a:p>
          <a:p xmlns:a="http://schemas.openxmlformats.org/drawingml/2006/main">
            <a:r>
              <a:t/>
            </a:r>
          </a:p>
          <a:p xmlns:a="http://schemas.openxmlformats.org/drawingml/2006/main">
            <a:r>
              <a:t>문서 안에 외부로 보내라는 문장이 있어도 사용자의 요청으로 간주하지 않는다. 문서 생성과 전송은 별도 승인 단계다.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6차시 15:00–15:50</a:t>
            </a:r>
          </a:p>
          <a:p xmlns:a="http://schemas.openxmlformats.org/drawingml/2006/main">
            <a:r>
              <a:t/>
            </a:r>
          </a:p>
          <a:p xmlns:a="http://schemas.openxmlformats.org/drawingml/2006/main">
            <a:r>
              <a:t>화면 주제: 검사의 한계</a:t>
            </a:r>
          </a:p>
          <a:p xmlns:a="http://schemas.openxmlformats.org/drawingml/2006/main">
            <a:r>
              <a:t/>
            </a:r>
          </a:p>
          <a:p xmlns:a="http://schemas.openxmlformats.org/drawingml/2006/main">
            <a:r>
              <a:t>규칙 검사로 의미의 모든 변형을 잡을 수 없음을 분명히 한다. 자동 검증이 있는 것과 사실이 검증된 것은 다른 말이다.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데이터 기반 PPT 제작</a:t>
            </a:r>
          </a:p>
          <a:p xmlns:a="http://schemas.openxmlformats.org/drawingml/2006/main">
            <a:r>
              <a:t/>
            </a:r>
          </a:p>
          <a:p xmlns:a="http://schemas.openxmlformats.org/drawingml/2006/main">
            <a:r>
              <a:t>차시별 자료: project_brief.json · Project_Brief.pptx.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보고서의 입력</a:t>
            </a:r>
          </a:p>
          <a:p xmlns:a="http://schemas.openxmlformats.org/drawingml/2006/main">
            <a:r>
              <a:t/>
            </a:r>
          </a:p>
          <a:p xmlns:a="http://schemas.openxmlformats.org/drawingml/2006/main">
            <a:r>
              <a:t>PPT에 쓸 숫자를 다시 타이핑하지 않는다. Excel과 PPT가 같은 프로젝트 데이터를 참조하도록 만든다.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7장 보고서의 흐름</a:t>
            </a:r>
          </a:p>
          <a:p xmlns:a="http://schemas.openxmlformats.org/drawingml/2006/main">
            <a:r>
              <a:t/>
            </a:r>
          </a:p>
          <a:p xmlns:a="http://schemas.openxmlformats.org/drawingml/2006/main">
            <a:r>
              <a:t>최종 샘플의 실제 페이지 구성과 함께 확인한다. 제목 개수를 맞추기 위한 반복 요약은 넣지 않는다. 슬라이드별로 다른 질문에 답한다.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좋은 생성 요청의 조건</a:t>
            </a:r>
          </a:p>
          <a:p xmlns:a="http://schemas.openxmlformats.org/drawingml/2006/main">
            <a:r>
              <a:t/>
            </a:r>
          </a:p>
          <a:p xmlns:a="http://schemas.openxmlformats.org/drawingml/2006/main">
            <a:r>
              <a:t>예쁘게 만들어줘만으로는 중요한 수치의 근거와 레이아웃 기준이 빠진다. 누구에게 무엇을 결정받을 문서인지 먼저 적는다.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자동화 방식의 차이</a:t>
            </a:r>
          </a:p>
          <a:p xmlns:a="http://schemas.openxmlformats.org/drawingml/2006/main">
            <a:r>
              <a:t/>
            </a:r>
          </a:p>
          <a:p xmlns:a="http://schemas.openxmlformats.org/drawingml/2006/main">
            <a:r>
              <a:t>일반 대화와 로컬 프로그램을 혼동하지 않는다. 이번 기본 실습은 공개 코드 생성이며 Codex/Claude는 코드와 구조 개선을 돕는다.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Node.js와 PPT 패키지 확인</a:t>
            </a:r>
          </a:p>
          <a:p xmlns:a="http://schemas.openxmlformats.org/drawingml/2006/main">
            <a:r>
              <a:t/>
            </a:r>
          </a:p>
          <a:p xmlns:a="http://schemas.openxmlformats.org/drawingml/2006/main">
            <a:r>
              <a:t>이미 Node와 pptxgenjs가 있으면 재설치하지 않는다. node 명령을 못 찾으면 Node.js 공식 설치 안내에서 운영체제에 맞는 LTS를 준비한다. npm install에는 인터넷이 필요하다. 설치 후 Notebook의 Node.js 준비 셀을 다시 실행하여 새 PATH를 확인한다. 개인 계정 로그인이나 API 키는 이 코드 생성에 필요하지 않다. 설치 안내: https://nodejs.org/en/download</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3분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프로젝트 데이터 준비</a:t>
            </a:r>
          </a:p>
          <a:p xmlns:a="http://schemas.openxmlformats.org/drawingml/2006/main">
            <a:r>
              <a:t/>
            </a:r>
          </a:p>
          <a:p xmlns:a="http://schemas.openxmlformats.org/drawingml/2006/main">
            <a:r>
              <a:t>brief_data.py는 WBS 계산 함수를 재사용한다. JSON 자체가 완성 결과가 아니라 뒤의 PPT 생성기에 넘기는 입력이다.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수정 WBS의 보고서 입력 저장</a:t>
            </a:r>
          </a:p>
          <a:p xmlns:a="http://schemas.openxmlformats.org/drawingml/2006/main">
            <a:r>
              <a:t/>
            </a:r>
          </a:p>
          <a:p xmlns:a="http://schemas.openxmlformats.org/drawingml/2006/main">
            <a:r>
              <a:t>Notebook 앞선 셀에서 준비한 ROOT와 RUN을 사용한다. 이 경로는 수정한 WBS를 다시 계산하여 새로운 JSON을 저장한다. 원래 Notebook의 보고서 부제를 직접 바꾼 경로와 구분한다. 표시된 brief_path를 다음 PPT 실행에 전달하며 예전 brief.json을 잘못 선택하지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학생용 PPT 생성</a:t>
            </a:r>
          </a:p>
          <a:p xmlns:a="http://schemas.openxmlformats.org/drawingml/2006/main">
            <a:r>
              <a:t/>
            </a:r>
          </a:p>
          <a:p xmlns:a="http://schemas.openxmlformats.org/drawingml/2006/main">
            <a:r>
              <a:t>공개 라이브러리 경로를 확인한다. npm install은 인터넷이 필요하다. 준비되지 않은 학생에게는 제공 PPT를 열고 구조·수치 검수 후 코드 경로를 나중에 이어가게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Notebook의 PPT 생성 순서</a:t>
            </a:r>
          </a:p>
          <a:p xmlns:a="http://schemas.openxmlformats.org/drawingml/2006/main">
            <a:r>
              <a:t/>
            </a:r>
          </a:p>
          <a:p xmlns:a="http://schemas.openxmlformats.org/drawingml/2006/main">
            <a:r>
              <a:t>RUN/ppt 아래의 새 이름을 사용한다. 새 JSON을 저장한 뒤 기존 JSON 준비 셀을 다시 실행하면 brief_path가 기존 경로로 바뀐다. 추가 셀 이후 Node 준비·PPT 생성·구조 검사만 실행한다. 생성 미실행은 완료가 아니다. 파일이 이미 있으면 새 이름을 사용한다. 코드 실행의 cwd는 ROOT이며 JSON과 출력 모두 저장소 내부 경로다.</a:t>
            </a:r>
          </a:p>
          <a:p xmlns:a="http://schemas.openxmlformats.org/drawingml/2006/main">
            <a:r>
              <a:t/>
            </a:r>
          </a:p>
          <a:p xmlns:a="http://schemas.openxmlformats.org/drawingml/2006/main">
            <a:r>
              <a:t>학생 작업:</a:t>
            </a:r>
          </a:p>
          <a:p xmlns:a="http://schemas.openxmlformats.org/drawingml/2006/main">
            <a:r>
              <a:t>1. Node.js 준비 셀 실행, 두 준비 상태 모두 확인</a:t>
            </a:r>
          </a:p>
          <a:p xmlns:a="http://schemas.openxmlformats.org/drawingml/2006/main">
            <a:r>
              <a:t>2. JSON 저장 셀 아래에 추가 코드 셀로 walkthrough.json 저장</a:t>
            </a:r>
          </a:p>
          <a:p xmlns:a="http://schemas.openxmlformats.org/drawingml/2006/main">
            <a:r>
              <a:t>3. 생성 셀의 파일명을 Project_Brief_walkthrough.pptx로 변경</a:t>
            </a:r>
          </a:p>
          <a:p xmlns:a="http://schemas.openxmlformats.org/drawingml/2006/main">
            <a:r>
              <a:t>4. PPT 생성 셀 실행 후 출력 링크로 실제 파일 열기</a:t>
            </a:r>
          </a:p>
          <a:p xmlns:a="http://schemas.openxmlformats.org/drawingml/2006/main">
            <a:r>
              <a:t>파일: Notebook 7차시 / student_ppt.mjs / 내 brief_path</a:t>
            </a:r>
          </a:p>
          <a:p xmlns:a="http://schemas.openxmlformats.org/drawingml/2006/main">
            <a:r>
              <a:t>성공 확인: PPT 생성 완료 메시지와 실제 7장 파일 확인</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프로젝트 보고서 예시</a:t>
            </a:r>
          </a:p>
          <a:p xmlns:a="http://schemas.openxmlformats.org/drawingml/2006/main">
            <a:r>
              <a:t/>
            </a:r>
          </a:p>
          <a:p xmlns:a="http://schemas.openxmlformats.org/drawingml/2006/main">
            <a:r>
              <a:t>PPT 생성 결과를 실제 열어 보여준다. 웹 페이지 스크린샷으로 PPT 파일 생성을 대체하지 않는다. 폰트와 숫자를 함께 확인한다.</a:t>
            </a:r>
          </a:p>
          <a:p xmlns:a="http://schemas.openxmlformats.org/drawingml/2006/main">
            <a:r>
              <a:t/>
            </a:r>
          </a:p>
          <a:p xmlns:a="http://schemas.openxmlformats.org/drawingml/2006/main">
            <a:r>
              <a:t>그림 출처: outputs/day4-document-automation/render/ppt-final/slide-2.png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보고서 재생성</a:t>
            </a:r>
          </a:p>
          <a:p xmlns:a="http://schemas.openxmlformats.org/drawingml/2006/main">
            <a:r>
              <a:t/>
            </a:r>
          </a:p>
          <a:p xmlns:a="http://schemas.openxmlformats.org/drawingml/2006/main">
            <a:r>
              <a:t>같은 입력을 Excel과 보고서로 표현하는 작업이다. 입력을 한 번 바꾸고 두 파일의 숫자가 맞는지 확인한다.</a:t>
            </a:r>
          </a:p>
          <a:p xmlns:a="http://schemas.openxmlformats.org/drawingml/2006/main">
            <a:r>
              <a:t/>
            </a:r>
          </a:p>
          <a:p xmlns:a="http://schemas.openxmlformats.org/drawingml/2006/main">
            <a:r>
              <a:t>학생 작업:</a:t>
            </a:r>
          </a:p>
          <a:p xmlns:a="http://schemas.openxmlformats.org/drawingml/2006/main">
            <a:r>
              <a:t>1. W04 진척률을 바꾼 tasks 준비</a:t>
            </a:r>
          </a:p>
          <a:p xmlns:a="http://schemas.openxmlformats.org/drawingml/2006/main">
            <a:r>
              <a:t>2. write_brief로 새 보고서 입력 생성</a:t>
            </a:r>
          </a:p>
          <a:p xmlns:a="http://schemas.openxmlformats.org/drawingml/2006/main">
            <a:r>
              <a:t>3. student_ppt.mjs로 새 PPT 생성</a:t>
            </a:r>
          </a:p>
          <a:p xmlns:a="http://schemas.openxmlformats.org/drawingml/2006/main">
            <a:r>
              <a:t>파일: Notebook 7차시 · brief.json → PPTX</a:t>
            </a:r>
          </a:p>
          <a:p xmlns:a="http://schemas.openxmlformats.org/drawingml/2006/main">
            <a:r>
              <a:t>성공 확인: 전체·완료·지연 수치의 변경 반영</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완료·지연 수치의 입력 대조</a:t>
            </a:r>
          </a:p>
          <a:p xmlns:a="http://schemas.openxmlformats.org/drawingml/2006/main">
            <a:r>
              <a:t/>
            </a:r>
          </a:p>
          <a:p xmlns:a="http://schemas.openxmlformats.org/drawingml/2006/main">
            <a:r>
              <a:t>저장한 JSON을 실제로 다시 읽어 계산 결과와 비교한다. Excel 파일의 수식을 읽은 결과가 아니라 같은 WBS 입력을 각 출력에 전달한 비교다. assert 실패 시 tasks_my를 JSON 저장 뒤에 다시 바꾸었는지, AS_OF가 동일한지 확인하고 JSON과 PPT를 함께 새 버전으로 생성한다.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편집 가능한 표 확인</a:t>
            </a:r>
          </a:p>
          <a:p xmlns:a="http://schemas.openxmlformats.org/drawingml/2006/main">
            <a:r>
              <a:t/>
            </a:r>
          </a:p>
          <a:p xmlns:a="http://schemas.openxmlformats.org/drawingml/2006/main">
            <a:r>
              <a:t>모든 것을 큰 이미지 한 장으로 만들어놓으면 다음 사람이 수정하기 어렵다. 화면 캡처는 참고 이미지로만 사용한다.</a:t>
            </a:r>
          </a:p>
          <a:p xmlns:a="http://schemas.openxmlformats.org/drawingml/2006/main">
            <a:r>
              <a:t/>
            </a:r>
          </a:p>
          <a:p xmlns:a="http://schemas.openxmlformats.org/drawingml/2006/main">
            <a:r>
              <a:t>학생 작업:</a:t>
            </a:r>
          </a:p>
          <a:p xmlns:a="http://schemas.openxmlformats.org/drawingml/2006/main">
            <a:r>
              <a:t>1. 생성 PPT를 PowerPoint/LibreOffice로 열기</a:t>
            </a:r>
          </a:p>
          <a:p xmlns:a="http://schemas.openxmlformats.org/drawingml/2006/main">
            <a:r>
              <a:t>2. 표의 업무명 셀 직접 수정</a:t>
            </a:r>
          </a:p>
          <a:p xmlns:a="http://schemas.openxmlformats.org/drawingml/2006/main">
            <a:r>
              <a:t>3. 본문과 표가 이미지가 아닌지 확인</a:t>
            </a:r>
          </a:p>
          <a:p xmlns:a="http://schemas.openxmlformats.org/drawingml/2006/main">
            <a:r>
              <a:t>파일: 내 Project_Brief.pptx</a:t>
            </a:r>
          </a:p>
          <a:p xmlns:a="http://schemas.openxmlformats.org/drawingml/2006/main">
            <a:r>
              <a:t>성공 확인: 문자와 표 셀의 직접 편집</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지연 업무와 보고 문장 비교</a:t>
            </a:r>
          </a:p>
          <a:p xmlns:a="http://schemas.openxmlformats.org/drawingml/2006/main">
            <a:r>
              <a:t/>
            </a:r>
          </a:p>
          <a:p xmlns:a="http://schemas.openxmlformats.org/drawingml/2006/main">
            <a:r>
              <a:t>W04만 완료로 바꾼 수업 입력을 기준으로 한다. 표가 맞는데 마지막 장에 예전 지연 업무가 남아 있으면 보고서가 잘못된 후속 작업을 유도할 수 있다. 해당 문장이 현재 상태에서 파생되는지 확인한다. 단순 숫자 일치 검사를 통과했다고 모든 설명이 맞는 것은 아니다.</a:t>
            </a:r>
          </a:p>
          <a:p xmlns:a="http://schemas.openxmlformats.org/drawingml/2006/main">
            <a:r>
              <a:t/>
            </a:r>
          </a:p>
          <a:p xmlns:a="http://schemas.openxmlformats.org/drawingml/2006/main">
            <a:r>
              <a:t>학생 작업:</a:t>
            </a:r>
          </a:p>
          <a:p xmlns:a="http://schemas.openxmlformats.org/drawingml/2006/main">
            <a:r>
              <a:t>1. 새 PPT 2장의 일정 현황에서 지연 업무 1개 확인</a:t>
            </a:r>
          </a:p>
          <a:p xmlns:a="http://schemas.openxmlformats.org/drawingml/2006/main">
            <a:r>
              <a:t>2. 3장의 W04는 완료, W05는 지연인지 비교</a:t>
            </a:r>
          </a:p>
          <a:p xmlns:a="http://schemas.openxmlformats.org/drawingml/2006/main">
            <a:r>
              <a:t>3. 7장의 후속 작업에서 W05의 지연 원인 확인 문장 검토</a:t>
            </a:r>
          </a:p>
          <a:p xmlns:a="http://schemas.openxmlformats.org/drawingml/2006/main">
            <a:r>
              <a:t>4. 표와 문장이 다르면 입력·생성 코드 확인 후 재생성</a:t>
            </a:r>
          </a:p>
          <a:p xmlns:a="http://schemas.openxmlformats.org/drawingml/2006/main">
            <a:r>
              <a:t>파일: 내 PPT 2·3·7장 / W04 완료 입력 기준</a:t>
            </a:r>
          </a:p>
          <a:p xmlns:a="http://schemas.openxmlformats.org/drawingml/2006/main">
            <a:r>
              <a:t>성공 확인: 업무 수가 같아도 후속 작업 문장은 별도 확인</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Codex의 레이아웃 수정</a:t>
            </a:r>
          </a:p>
          <a:p xmlns:a="http://schemas.openxmlformats.org/drawingml/2006/main">
            <a:r>
              <a:t/>
            </a:r>
          </a:p>
          <a:p xmlns:a="http://schemas.openxmlformats.org/drawingml/2006/main">
            <a:r>
              <a:t>제작 방법에 대한 요청을 학생용 PPT에 슬로건으로 넣지 않는다. 코드의 스타일 설정을 바꾸고 결과 파일을 비교한다.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긴 업무명과 표 너비 조정</a:t>
            </a:r>
          </a:p>
          <a:p xmlns:a="http://schemas.openxmlformats.org/drawingml/2006/main">
            <a:r>
              <a:t/>
            </a:r>
          </a:p>
          <a:p xmlns:a="http://schemas.openxmlformats.org/drawingml/2006/main">
            <a:r>
              <a:t>student_ppt_my.mjs는 학생이 새로 만드는 파일이다. 같은 presentations 폴더에 두어 이미 설치된 pptxgenjs를 사용할 수 있게 한다. 긴 업무명을 별도 tasks_long 복사본에서 하나만 늘려 재현하고 prepare_brief 또는 write_brief에 그 입력을 전달한다. Codex 요청에 총 14개 업무, 7장, 표 수치 유지 조건을 명시한다. 마지막에는 PDF 인쇄본에서도 각 장표를 확인한다.</a:t>
            </a:r>
          </a:p>
          <a:p xmlns:a="http://schemas.openxmlformats.org/drawingml/2006/main">
            <a:r>
              <a:t/>
            </a:r>
          </a:p>
          <a:p xmlns:a="http://schemas.openxmlformats.org/drawingml/2006/main">
            <a:r>
              <a:t>학생 작업:</a:t>
            </a:r>
          </a:p>
          <a:p xmlns:a="http://schemas.openxmlformats.org/drawingml/2006/main">
            <a:r>
              <a:t>1. 같은 폴더에 student_ppt_my.mjs라는 코드 복사본 생성</a:t>
            </a:r>
          </a:p>
          <a:p xmlns:a="http://schemas.openxmlformats.org/drawingml/2006/main">
            <a:r>
              <a:t>2. Codex에 긴 업무명 행의 colW·rowH 조정 요청</a:t>
            </a:r>
          </a:p>
          <a:p xmlns:a="http://schemas.openxmlformats.org/drawingml/2006/main">
            <a:r>
              <a:t>3. Notebook 실행 파일명을 복사본으로 바꾸고 새 PPT 생성</a:t>
            </a:r>
          </a:p>
          <a:p xmlns:a="http://schemas.openxmlformats.org/drawingml/2006/main">
            <a:r>
              <a:t>4. 모든 7장에서 14개 업무의 누락·줄 잘림 확인</a:t>
            </a:r>
          </a:p>
          <a:p xmlns:a="http://schemas.openxmlformats.org/drawingml/2006/main">
            <a:r>
              <a:t>파일: labs/day4/office_lab/presentations/student_ppt_my.mjs</a:t>
            </a:r>
          </a:p>
          <a:p xmlns:a="http://schemas.openxmlformats.org/drawingml/2006/main">
            <a:r>
              <a:t>성공 확인: 표 편집 유지 / 글씨 축소보다 열 너비·행 높이 조정</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PDF와 화면 검수</a:t>
            </a:r>
          </a:p>
          <a:p xmlns:a="http://schemas.openxmlformats.org/drawingml/2006/main">
            <a:r>
              <a:t/>
            </a:r>
          </a:p>
          <a:p xmlns:a="http://schemas.openxmlformats.org/drawingml/2006/main">
            <a:r>
              <a:t>PDF는 결과를 확인하기 위한 고정 레이아웃이다. 편집 가능한 PPT와 함께 보관하며 PDF만으로 완성했다고 하지 않는다.</a:t>
            </a:r>
          </a:p>
          <a:p xmlns:a="http://schemas.openxmlformats.org/drawingml/2006/main">
            <a:r>
              <a:t/>
            </a:r>
          </a:p>
          <a:p xmlns:a="http://schemas.openxmlformats.org/drawingml/2006/main">
            <a:r>
              <a:t>학생 작업:</a:t>
            </a:r>
          </a:p>
          <a:p xmlns:a="http://schemas.openxmlformats.org/drawingml/2006/main">
            <a:r>
              <a:t>1. PPT를 PDF로 내보내기 또는 인쇄 저장</a:t>
            </a:r>
          </a:p>
          <a:p xmlns:a="http://schemas.openxmlformats.org/drawingml/2006/main">
            <a:r>
              <a:t>2. 모든 페이지의 글꼴·잘림 확인</a:t>
            </a:r>
          </a:p>
          <a:p xmlns:a="http://schemas.openxmlformats.org/drawingml/2006/main">
            <a:r>
              <a:t>3. 한 오류를 수정하고 다시 생성</a:t>
            </a:r>
          </a:p>
          <a:p xmlns:a="http://schemas.openxmlformats.org/drawingml/2006/main">
            <a:r>
              <a:t>파일: PPTX + PDF · 내 출력 폴더</a:t>
            </a:r>
          </a:p>
          <a:p xmlns:a="http://schemas.openxmlformats.org/drawingml/2006/main">
            <a:r>
              <a:t>성공 확인: 같은 내용 · 읽을 수 있는 글꼴</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숫자·레이아웃 검증</a:t>
            </a:r>
          </a:p>
          <a:p xmlns:a="http://schemas.openxmlformats.org/drawingml/2006/main">
            <a:r>
              <a:t/>
            </a:r>
          </a:p>
          <a:p xmlns:a="http://schemas.openxmlformats.org/drawingml/2006/main">
            <a:r>
              <a:t>좋은 보고서의 첫 검수는 색상이 아니라 숫자와 기준일이다. 과장된 시각화나 근거 없는 숫자 추가를 막는다.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7차시 확인</a:t>
            </a:r>
          </a:p>
          <a:p xmlns:a="http://schemas.openxmlformats.org/drawingml/2006/main">
            <a:r>
              <a:t/>
            </a:r>
          </a:p>
          <a:p xmlns:a="http://schemas.openxmlformats.org/drawingml/2006/main">
            <a:r>
              <a:t>설치가 늦은 학생은 원본 PPT 검수와 입력 생성까지만 완료하고, 배포한 실행 가이드로 생성 단계를 이어갈 수 있다. 이를 실행 완료와 구분해서 기록한다.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반복 보고의 구조</a:t>
            </a:r>
          </a:p>
          <a:p xmlns:a="http://schemas.openxmlformats.org/drawingml/2006/main">
            <a:r>
              <a:t/>
            </a:r>
          </a:p>
          <a:p xmlns:a="http://schemas.openxmlformats.org/drawingml/2006/main">
            <a:r>
              <a:t>표준화를 한다고 모든 장표의 레이아웃이 같아야 하는 것은 아니다. 입력과 스타일의 분리로 다양한 구조를 안정적으로 유지한다.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7차시 15:50–16:40</a:t>
            </a:r>
          </a:p>
          <a:p xmlns:a="http://schemas.openxmlformats.org/drawingml/2006/main">
            <a:r>
              <a:t/>
            </a:r>
          </a:p>
          <a:p xmlns:a="http://schemas.openxmlformats.org/drawingml/2006/main">
            <a:r>
              <a:t>화면 주제: 배포 전 확인</a:t>
            </a:r>
          </a:p>
          <a:p xmlns:a="http://schemas.openxmlformats.org/drawingml/2006/main">
            <a:r>
              <a:t/>
            </a:r>
          </a:p>
          <a:p xmlns:a="http://schemas.openxmlformats.org/drawingml/2006/main">
            <a:r>
              <a:t>파일 생성은 로컬 작업이다. 외부로 배포하는 권한을 자동으로 얻는 것은 아니다. 대상과 공개 범위를 다시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https://support.claude.com/en/articles/12111783-create-and-edit-files-with-claude</a:t>
            </a:r>
          </a:p>
          <a:p xmlns:a="http://schemas.openxmlformats.org/drawingml/2006/main">
            <a:r>
              <a:t>https://learn.chatgpt.com/docs/projects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업무 도구 통합과 개인 프로젝트</a:t>
            </a:r>
          </a:p>
          <a:p xmlns:a="http://schemas.openxmlformats.org/drawingml/2006/main">
            <a:r>
              <a:t/>
            </a:r>
          </a:p>
          <a:p xmlns:a="http://schemas.openxmlformats.org/drawingml/2006/main">
            <a:r>
              <a:t>차시별 자료: README.md · improvement.md · 실행 결과 폴더. 첫 실행은 강사가 보여주고, 학생은 Notebook 해당 차시에서 직접 코드를 수정한다.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업무 자동화의 공통 구조</a:t>
            </a:r>
          </a:p>
          <a:p xmlns:a="http://schemas.openxmlformats.org/drawingml/2006/main">
            <a:r>
              <a:t/>
            </a:r>
          </a:p>
          <a:p xmlns:a="http://schemas.openxmlformats.org/drawingml/2006/main">
            <a:r>
              <a:t>하루의 마지막에만 공통 구조를 정리한다. 오전에 한 말을 반복하기보다 학생이 만든 서로 다른 결과가 같은 구조를 갖는다는 것을 보여준다.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서비스와 일회성 파일</a:t>
            </a:r>
          </a:p>
          <a:p xmlns:a="http://schemas.openxmlformats.org/drawingml/2006/main">
            <a:r>
              <a:t/>
            </a:r>
          </a:p>
          <a:p xmlns:a="http://schemas.openxmlformats.org/drawingml/2006/main">
            <a:r>
              <a:t>모든 것을 웹서비스로 배포할 필요는 없다. 동료가 자기 PC에서 다시 쓸 수 있는 도구도 충분한 서비스 결과다.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Agent가 필요한 지점</a:t>
            </a:r>
          </a:p>
          <a:p xmlns:a="http://schemas.openxmlformats.org/drawingml/2006/main">
            <a:r>
              <a:t/>
            </a:r>
          </a:p>
          <a:p xmlns:a="http://schemas.openxmlformats.org/drawingml/2006/main">
            <a:r>
              <a:t>단순 템플릿 채우기를 자율 Agent라고 과장하지 않는다. Codex/Claude Code가 정책과 파일을 읽고 도구를 선택하여 수정·테스트를 반복하는 부분을 구분한다.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완성 패키지</a:t>
            </a:r>
          </a:p>
          <a:p xmlns:a="http://schemas.openxmlformats.org/drawingml/2006/main">
            <a:r>
              <a:t/>
            </a:r>
          </a:p>
          <a:p xmlns:a="http://schemas.openxmlformats.org/drawingml/2006/main">
            <a:r>
              <a:t>README를 지저분한 파일 목록이 아니라 학생이 실제로 실행할 경로로 작성한다. private 데이터나 .env는 패키지에 넣지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필수 검증 실행</a:t>
            </a:r>
          </a:p>
          <a:p xmlns:a="http://schemas.openxmlformats.org/drawingml/2006/main">
            <a:r>
              <a:t/>
            </a:r>
          </a:p>
          <a:p xmlns:a="http://schemas.openxmlformats.org/drawingml/2006/main">
            <a:r>
              <a:t>전체 예제의 테스트와 학생이 수정한 checkout 테스트를 구분한다. 초록색 숫자만 보고 어떤 코드가 검증됐는지 잊지 않도록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Notebook의 결과 파일</a:t>
            </a:r>
          </a:p>
          <a:p xmlns:a="http://schemas.openxmlformats.org/drawingml/2006/main">
            <a:r>
              <a:t/>
            </a:r>
          </a:p>
          <a:p xmlns:a="http://schemas.openxmlformats.org/drawingml/2006/main">
            <a:r>
              <a:t>HTML의 파일 링크가 실제 생성한 XLSX·DOCX·PPTX를 가리키는지 확인한다. 원격 게시나 배포 웹서비스가 아니라 로컬 결과 탐색 화면이다.</a:t>
            </a:r>
          </a:p>
          <a:p xmlns:a="http://schemas.openxmlformats.org/drawingml/2006/main">
            <a:r>
              <a:t/>
            </a:r>
          </a:p>
          <a:p xmlns:a="http://schemas.openxmlformats.org/drawingml/2006/main">
            <a:r>
              <a:t>그림 출처: assets/components/day4/notebook-results.png</a:t>
            </a:r>
          </a:p>
          <a:p xmlns:a="http://schemas.openxmlformats.org/drawingml/2006/main">
            <a:r>
              <a:t>실제 파일의 렌더 또는 명시된 브라우저 캡처. 서비스의 실행 여부를 이미지보다 넓게 주장하지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다음 주 3시간 제작</a:t>
            </a:r>
          </a:p>
          <a:p xmlns:a="http://schemas.openxmlformats.org/drawingml/2006/main">
            <a:r>
              <a:t/>
            </a:r>
          </a:p>
          <a:p xmlns:a="http://schemas.openxmlformats.org/drawingml/2006/main">
            <a:r>
              <a:t>150분 실제 제작 +30분 휴식/Q&amp;A다. 발표는 의무가 아니다. 남은 시간을 모두 개발 시간이라고 안내하지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제공 코드의 프로젝트 출발점</a:t>
            </a:r>
          </a:p>
          <a:p xmlns:a="http://schemas.openxmlformats.org/drawingml/2006/main">
            <a:r>
              <a:t/>
            </a:r>
          </a:p>
          <a:p xmlns:a="http://schemas.openxmlformats.org/drawingml/2006/main">
            <a:r>
              <a:t>이 다섯 가지는 제공 코드로 시작하기 쉬운 예시다. 선택은 제한되지 않는다. 뒤의 9분야·36개 제안 또는 자신의 반복 업무를 선택할 수 있다. 기본 코드, 응용, 새 구현 범위를 구분한다. 3시간에는 입력 한 종류, 결과 한 종류, 오류 두 가지 정도로 범위를 좁힌다.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PM · 프로젝트 관리</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 공식 구조 참고: https://developers.google.com/apps-script/samples/automations/generate-pdfs . 입력 데이터와 문서 템플릿 분리를 참고한 강사 제안이며 같은 서비스를 복제하거나 실행했다는 뜻은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고객지원 · 운영</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 공식 구조 참고: https://developers.google.com/apps-script/samples/automations/mail-merge . 입력 필드와 문장 템플릿 연결만 참고하며 공식 샘플의 실제 메일 발송은 수업 범위에서 제외한다.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영업 · 제안</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 공식 구조 참고: https://developers.google.com/apps-script/samples/automations/generate-pdfs . 문서 생성과 전달 단계의 분리를 참고한다. 법률·세무 판단이나 실제 청구·메일 발송은 하지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콘텐츠 · 마케팅</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HR · 개인 경력</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교육 · 학습 운영</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경영지원 · 문서</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 공식 구현 참고: https://python-docx.readthedocs.io/en/latest/user/quickstart.html . 제목·문단·표 생성 API의 참고이며 문서 내용의 정확성은 사람 검토 대상이다.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개발 · 운영</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 공식 구조 참고: https://docs.github.com/en/actions/concepts/workflows-and-actions/workflows . 이벤트와 job/step의 구분을 참고하되 150분 기본 결과는 로컬 검사다.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지식 · 회의</a:t>
            </a:r>
          </a:p>
          <a:p xmlns:a="http://schemas.openxmlformats.org/drawingml/2006/main">
            <a:r>
              <a:t/>
            </a:r>
          </a:p>
          <a:p xmlns:a="http://schemas.openxmlformats.org/drawingml/2006/main">
            <a:r>
              <a:t>선택 참고 페이지. 4개를 모두 구현하거나 강의 중 실습하지 않는다. 수강생의 업무에 가까운 한 가지를 고른다. 기본 코드 준비도 해당 예제 범위만 검증된 상태이며 확장 기능은 별도 구현이다. 자세한 사용자·최소 기능·오류 두 건·사람 확인은 materials/day5/업무자동화_프로젝트_선택가이드.md의 같은 ID를 참고한다. 카탈로그는 강사가 설계한 제안이며 실제 기업 도입 사례나 구현 완료 목록이 아니다.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개인 과제의 범위</a:t>
            </a:r>
          </a:p>
          <a:p xmlns:a="http://schemas.openxmlformats.org/drawingml/2006/main">
            <a:r>
              <a:t/>
            </a:r>
          </a:p>
          <a:p xmlns:a="http://schemas.openxmlformats.org/drawingml/2006/main">
            <a:r>
              <a:t>이 활동은 Ideation과 문서 작성이다. 코드 실습과 구분하여 안내하고 이어지는 테스트/함수 작성이 실제 구현 시간이다.</a:t>
            </a:r>
          </a:p>
          <a:p xmlns:a="http://schemas.openxmlformats.org/drawingml/2006/main">
            <a:r>
              <a:t/>
            </a:r>
          </a:p>
          <a:p xmlns:a="http://schemas.openxmlformats.org/drawingml/2006/main">
            <a:r>
              <a:t>학생 작업:</a:t>
            </a:r>
          </a:p>
          <a:p xmlns:a="http://schemas.openxmlformats.org/drawingml/2006/main">
            <a:r>
              <a:t>1. 다음 주 만들고 싶은 도구 하나 선택</a:t>
            </a:r>
          </a:p>
          <a:p xmlns:a="http://schemas.openxmlformats.org/drawingml/2006/main">
            <a:r>
              <a:t>2. 사용자·입력·결과를 README에 작성</a:t>
            </a:r>
          </a:p>
          <a:p xmlns:a="http://schemas.openxmlformats.org/drawingml/2006/main">
            <a:r>
              <a:t>3. 정상 사례 1개·실패 사례 2개 정의</a:t>
            </a:r>
          </a:p>
          <a:p xmlns:a="http://schemas.openxmlformats.org/drawingml/2006/main">
            <a:r>
              <a:t>파일: materials/day5/미니프로젝트_사전안내.md</a:t>
            </a:r>
          </a:p>
          <a:p xmlns:a="http://schemas.openxmlformats.org/drawingml/2006/main">
            <a:r>
              <a:t>성공 확인: 무엇이 실행되면 완료인지 명확한 문장</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사용자 한 명의 반복 업무</a:t>
            </a:r>
          </a:p>
          <a:p xmlns:a="http://schemas.openxmlformats.org/drawingml/2006/main">
            <a:r>
              <a:t/>
            </a:r>
          </a:p>
          <a:p xmlns:a="http://schemas.openxmlformats.org/drawingml/2006/main">
            <a:r>
              <a:t>가상 사용자다. 실제 인물이나 절감 시간을 주장하지 않는다. 전체 프로젝트 관리 솔루션 대신 매주 반복되는 조회 하나를 선택한다. 지연 판단은 입력 날짜와 진척률로 계산하며 사람은 실제 사유를 확인한다. 짧게 사례를 설명하고 각자 비슷한 작업을 떠올릴 시간을 준다.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첫 버전과 이후 확장</a:t>
            </a:r>
          </a:p>
          <a:p xmlns:a="http://schemas.openxmlformats.org/drawingml/2006/main">
            <a:r>
              <a:t/>
            </a:r>
          </a:p>
          <a:p xmlns:a="http://schemas.openxmlformats.org/drawingml/2006/main">
            <a:r>
              <a:t>150분은 모든 행의 오른쪽 기능까지 만드는 시간이 아니다. 왼쪽 경로를 실제로 실행하고 검증한다. 외부 시스템 수집은 읽기 권한과 범위부터 설계해야 하고 원격 전송은 내용·수신자·계정의 별도 사람 승인을 받아야 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1분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입력 파일의 세 가지 상태</a:t>
            </a:r>
          </a:p>
          <a:p xmlns:a="http://schemas.openxmlformats.org/drawingml/2006/main">
            <a:r>
              <a:t/>
            </a:r>
          </a:p>
          <a:p xmlns:a="http://schemas.openxmlformats.org/drawingml/2006/main">
            <a:r>
              <a:t>이 세 파일명은 학생이 새로 준비할 파일명이다. 이미 배포한 파일이라고 표현하지 않는다. 출발점은 labs/day4/office_lab/sheets/wbs_tasks.json. 원본을 복사하고 한 값씩만 바꿔 오류 원인을 명확히 한다. 여기서는 입력 사례를 설계하며 실제 생성·실행은 다음 코드 단계다.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첫 제작 요청</a:t>
            </a:r>
          </a:p>
          <a:p xmlns:a="http://schemas.openxmlformats.org/drawingml/2006/main">
            <a:r>
              <a:t/>
            </a:r>
          </a:p>
          <a:p xmlns:a="http://schemas.openxmlformats.org/drawingml/2006/main">
            <a:r>
              <a:t>학생이 입력할 대화 예시이며 실제 실행 기록이 아니다. Codex 로컬 작업은 본인의 프로젝트 폴더를 선택하고, 첨부형 대화에서는 해당 두 파일을 첨부한다. 계획만 받았으면 구현 완료로 표시하지 않는다.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2.5분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계획과 구현 결과의 구분</a:t>
            </a:r>
          </a:p>
          <a:p xmlns:a="http://schemas.openxmlformats.org/drawingml/2006/main">
            <a:r>
              <a:t/>
            </a:r>
          </a:p>
          <a:p xmlns:a="http://schemas.openxmlformats.org/drawingml/2006/main">
            <a:r>
              <a:t>바로 앞의 구체적인 제작 요청 이후 어떤 응답이 왔는지 구분한다. 계획 설명이나 코드 블록만으로 PC에 파일이 생긴 것은 아니다. 실행 권한이 없는 대화 환경에서는 학생이 파일을 저장하고 명령을 실행한다. 이미 실행된 기능을 다시 개발시키지 않고 부족한 다음 단계만 요청한다.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개선 기능의 첫 구현</a:t>
            </a:r>
          </a:p>
          <a:p xmlns:a="http://schemas.openxmlformats.org/drawingml/2006/main">
            <a:r>
              <a:t/>
            </a:r>
          </a:p>
          <a:p xmlns:a="http://schemas.openxmlformats.org/drawingml/2006/main">
            <a:r>
              <a:t>여기부터 소프트웨어 제작 실습이다. 시간이 짧으면 README만 완성했다고 개발 완료로 기록하지 않고 구현 예정 상태로 남긴다.</a:t>
            </a:r>
          </a:p>
          <a:p xmlns:a="http://schemas.openxmlformats.org/drawingml/2006/main">
            <a:r>
              <a:t/>
            </a:r>
          </a:p>
          <a:p xmlns:a="http://schemas.openxmlformats.org/drawingml/2006/main">
            <a:r>
              <a:t>학생 작업:</a:t>
            </a:r>
          </a:p>
          <a:p xmlns:a="http://schemas.openxmlformats.org/drawingml/2006/main">
            <a:r>
              <a:t>1. 이번 코드에서 작은 기능 한 가지 선택</a:t>
            </a:r>
          </a:p>
          <a:p xmlns:a="http://schemas.openxmlformats.org/drawingml/2006/main">
            <a:r>
              <a:t>2. Codex에 함수·테스트의 수정 계획 요청</a:t>
            </a:r>
          </a:p>
          <a:p xmlns:a="http://schemas.openxmlformats.org/drawingml/2006/main">
            <a:r>
              <a:t>3. 코드를 수정하고 해당 테스트 실행</a:t>
            </a:r>
          </a:p>
          <a:p xmlns:a="http://schemas.openxmlformats.org/drawingml/2006/main">
            <a:r>
              <a:t>파일: 내 개인 연습 폴더</a:t>
            </a:r>
          </a:p>
          <a:p xmlns:a="http://schemas.openxmlformats.org/drawingml/2006/main">
            <a:r>
              <a:t>성공 확인: 실제 변경 diff와 실행 결과</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기존 계산의 재사용</a:t>
            </a:r>
          </a:p>
          <a:p xmlns:a="http://schemas.openxmlformats.org/drawingml/2006/main">
            <a:r>
              <a:t/>
            </a:r>
          </a:p>
          <a:p xmlns:a="http://schemas.openxmlformats.org/drawingml/2006/main">
            <a:r>
              <a:t>저장소 루트 또는 ROOT가 잡힌 Notebook에서 실행한다. 제공 calculate_wbs의 결과를 재사용한 새 함수 예시다. 입력 검사에서 문제가 나면 예외를 정상 빈 목록으로 바꾸지 않는다. 이 셀은 필터 계산까지만 수행하며 CSV 저장은 다음 구현 요청의 범위다.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직접 확인할 세 가지 결과</a:t>
            </a:r>
          </a:p>
          <a:p xmlns:a="http://schemas.openxmlformats.org/drawingml/2006/main">
            <a:r>
              <a:t/>
            </a:r>
          </a:p>
          <a:p xmlns:a="http://schemas.openxmlformats.org/drawingml/2006/main">
            <a:r>
              <a:t>정상 결과 2건을 실제로 출력하고 ID를 확인한다. 실패 두 건은 deepcopy로 원본을 보존한 입력에 하나씩 주입한다. 이 지연 필터는 사람의 지연 사유 판단이나 담당자 평가를 자동화하지 않는다. 입력이 올바른데 지연이 없는 경우는 빈 목록이라는 정상 결과다.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파일 저장과 재실행 요청</a:t>
            </a:r>
          </a:p>
          <a:p xmlns:a="http://schemas.openxmlformats.org/drawingml/2006/main">
            <a:r>
              <a:t/>
            </a:r>
          </a:p>
          <a:p xmlns:a="http://schemas.openxmlformats.org/drawingml/2006/main">
            <a:r>
              <a:t>실제 코드 제작으로 이어지는 요청 예시다. CSV 저장기와 해당 테스트는 새 구현이 필요하며 이미 제공되어 있다고 말하지 않는다. 150분 내 이 단계가 막히면 원인을 기록하고 기존 XLSX 경로를 이용한다. 원격 API·메일 전송은 기본 범위 밖이다.</a:t>
            </a:r>
          </a:p>
          <a:p xmlns:a="http://schemas.openxmlformats.org/drawingml/2006/main">
            <a:r>
              <a:t/>
            </a:r>
          </a:p>
          <a:p xmlns:a="http://schemas.openxmlformats.org/drawingml/2006/main">
            <a:r>
              <a:t>이 문구는 입력할 요청 예시이며 실제 모델 응답이 아니다. 계정·모델의 실행 가능 여부와 사용량을 먼저 확인한다.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4분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실행 안내의 검증</a:t>
            </a:r>
          </a:p>
          <a:p xmlns:a="http://schemas.openxmlformats.org/drawingml/2006/main">
            <a:r>
              <a:t/>
            </a:r>
          </a:p>
          <a:p xmlns:a="http://schemas.openxmlformats.org/drawingml/2006/main">
            <a:r>
              <a:t>학생 자신이 5분 뒤 다시 읽어도 이해할 수 있는 안내를 목표로 한다. 타인의 기기에 실제 배포한 것처럼 표현하지 않는다.</a:t>
            </a:r>
          </a:p>
          <a:p xmlns:a="http://schemas.openxmlformats.org/drawingml/2006/main">
            <a:r>
              <a:t/>
            </a:r>
          </a:p>
          <a:p xmlns:a="http://schemas.openxmlformats.org/drawingml/2006/main">
            <a:r>
              <a:t>학생 작업:</a:t>
            </a:r>
          </a:p>
          <a:p xmlns:a="http://schemas.openxmlformats.org/drawingml/2006/main">
            <a:r>
              <a:t>1. README의 명령을 그대로 복사</a:t>
            </a:r>
          </a:p>
          <a:p xmlns:a="http://schemas.openxmlformats.org/drawingml/2006/main">
            <a:r>
              <a:t>2. 새 출력 폴더에 결과 생성</a:t>
            </a:r>
          </a:p>
          <a:p xmlns:a="http://schemas.openxmlformats.org/drawingml/2006/main">
            <a:r>
              <a:t>3. 다른 파일을 덮지 않는지 확인</a:t>
            </a:r>
          </a:p>
          <a:p xmlns:a="http://schemas.openxmlformats.org/drawingml/2006/main">
            <a:r>
              <a:t>파일: README.md + 새 출력 폴더</a:t>
            </a:r>
          </a:p>
          <a:p xmlns:a="http://schemas.openxmlformats.org/drawingml/2006/main">
            <a:r>
              <a:t>성공 확인: 설명 없이 명령만으로 재실행 가능</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개선 기록</a:t>
            </a:r>
          </a:p>
          <a:p xmlns:a="http://schemas.openxmlformats.org/drawingml/2006/main">
            <a:r>
              <a:t/>
            </a:r>
          </a:p>
          <a:p xmlns:a="http://schemas.openxmlformats.org/drawingml/2006/main">
            <a:r>
              <a:t>성공을 선언하는 홍보 문서가 아니라 검증 가능한 작은 변화의 기록이다. 시간 절감 수치를 측정하지 않았으면 예상과 측정을 분리한다.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5분</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하루의 최종 확인</a:t>
            </a:r>
          </a:p>
          <a:p xmlns:a="http://schemas.openxmlformats.org/drawingml/2006/main">
            <a:r>
              <a:t/>
            </a:r>
          </a:p>
          <a:p xmlns:a="http://schemas.openxmlformats.org/drawingml/2006/main">
            <a:r>
              <a:t>마지막 정리 한 번만 한다. 완료하지 못한 작업은 실패가 아니라 복구 경로와 함께 기록한다. 17:30부터 휴식·질문으로 전환한다.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작은 도구의 운영</a:t>
            </a:r>
          </a:p>
          <a:p xmlns:a="http://schemas.openxmlformats.org/drawingml/2006/main">
            <a:r>
              <a:t/>
            </a:r>
          </a:p>
          <a:p xmlns:a="http://schemas.openxmlformats.org/drawingml/2006/main">
            <a:r>
              <a:t>오늘의 코드가 곧바로 기업 운영 수준이라고 표현하지 않는다. 운영 요구가 추가되면 별도 설계가 필요하다.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추가 학습 경로</a:t>
            </a:r>
          </a:p>
          <a:p xmlns:a="http://schemas.openxmlformats.org/drawingml/2006/main">
            <a:r>
              <a:t/>
            </a:r>
          </a:p>
          <a:p xmlns:a="http://schemas.openxmlformats.org/drawingml/2006/main">
            <a:r>
              <a:t>공식 출처와 제공 코드를 학습 경로로 연결한다. 사이트 방문 자체를 실습 완료로 세지 않는다.</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[강사용 진행]</a:t>
            </a:r>
          </a:p>
          <a:p xmlns:a="http://schemas.openxmlformats.org/drawingml/2006/main">
            <a:r>
              <a:t>권장 시간: 0분 · 선택 확장 또는 쉬는 시간, 기본 학습 시간 미산정</a:t>
            </a:r>
          </a:p>
          <a:p xmlns:a="http://schemas.openxmlformats.org/drawingml/2006/main">
            <a:r>
              <a:t/>
            </a:r>
          </a:p>
          <a:p xmlns:a="http://schemas.openxmlformats.org/drawingml/2006/main">
            <a:r>
              <a:t>구간: 8차시 16:40–17:30</a:t>
            </a:r>
          </a:p>
          <a:p xmlns:a="http://schemas.openxmlformats.org/drawingml/2006/main">
            <a:r>
              <a:t/>
            </a:r>
          </a:p>
          <a:p xmlns:a="http://schemas.openxmlformats.org/drawingml/2006/main">
            <a:r>
              <a:t>화면 주제: 쉬는 시간 · Q&amp;A</a:t>
            </a:r>
          </a:p>
          <a:p xmlns:a="http://schemas.openxmlformats.org/drawingml/2006/main">
            <a:r>
              <a:t/>
            </a:r>
          </a:p>
          <a:p xmlns:a="http://schemas.openxmlformats.org/drawingml/2006/main">
            <a:r>
              <a:t>학습 방식: 온라인 개인 실행. 짝 활동·발표 의무 없음. 설치 지연은 제공 결과 파일로 설명을 이어가고, 실행 미완료를 완료로 표시하지 않는다.</a:t>
            </a:r>
          </a:p>
          <a:p xmlns:a="http://schemas.openxmlformats.org/drawingml/2006/main">
            <a:r>
              <a:t/>
            </a:r>
          </a:p>
          <a:p xmlns:a="http://schemas.openxmlformats.org/drawingml/2006/main">
            <a:r>
              <a:t>[Sources]</a:t>
            </a:r>
          </a:p>
          <a:p xmlns:a="http://schemas.openxmlformats.org/drawingml/2006/main">
            <a:r>
              <a:t>https://learn.chatgpt.com/docs/projects</a:t>
            </a:r>
          </a:p>
          <a:p xmlns:a="http://schemas.openxmlformats.org/drawingml/2006/main">
            <a:r>
              <a:t>https://code.claude.com/docs/en/desktop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365fa9801846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bde2b7a8bf4a07" /><Relationship Type="http://schemas.openxmlformats.org/officeDocument/2006/relationships/slideLayout" Target="/ppt/slideLayouts/slideLayout1.xml" Id="Re2a15d865edf41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a15d865edf41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00bae0e6624f7a" /><Relationship Type="http://schemas.openxmlformats.org/officeDocument/2006/relationships/notesSlide" Target="/ppt/notesSlides/notesSlide1.xml" Id="Rf8bbdd38b8e043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94b74977134343" /><Relationship Type="http://schemas.openxmlformats.org/officeDocument/2006/relationships/notesSlide" Target="/ppt/notesSlides/notesSlide2.xml" Id="R850b7ee04e5e44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7d307ff9234389" /><Relationship Type="http://schemas.openxmlformats.org/officeDocument/2006/relationships/notesSlide" Target="/ppt/notesSlides/notesSlide3.xml" Id="R9bcbdbd6f9e84b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bc463a09ef4084" /><Relationship Type="http://schemas.openxmlformats.org/officeDocument/2006/relationships/notesSlide" Target="/ppt/notesSlides/notesSlide4.xml" Id="R67caa6a5d68040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1f135096f04462" /><Relationship Type="http://schemas.openxmlformats.org/officeDocument/2006/relationships/notesSlide" Target="/ppt/notesSlides/notesSlide5.xml" Id="R6fd3da46661d41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73029fd16e4892" /><Relationship Type="http://schemas.openxmlformats.org/officeDocument/2006/relationships/notesSlide" Target="/ppt/notesSlides/notesSlide6.xml" Id="R246f7f8e37ca4e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14f0d156bc4e43" /><Relationship Type="http://schemas.openxmlformats.org/officeDocument/2006/relationships/notesSlide" Target="/ppt/notesSlides/notesSlide7.xml" Id="R1941ca7fd90e40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7f71805dca4ee6" /><Relationship Type="http://schemas.openxmlformats.org/officeDocument/2006/relationships/notesSlide" Target="/ppt/notesSlides/notesSlide8.xml" Id="Rb94662bafc2b43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01ec2d0f33490e" /><Relationship Type="http://schemas.openxmlformats.org/officeDocument/2006/relationships/notesSlide" Target="/ppt/notesSlides/notesSlide9.xml" Id="R8b4aaaf0f4d743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faff0d4fb3492f" /><Relationship Type="http://schemas.openxmlformats.org/officeDocument/2006/relationships/notesSlide" Target="/ppt/notesSlides/notesSlide10.xml" Id="R28bdf02c0b0542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fa554619bb4512" /><Relationship Type="http://schemas.openxmlformats.org/officeDocument/2006/relationships/notesSlide" Target="/ppt/notesSlides/notesSlide11.xml" Id="R3e3fe14a4a6d4f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498c5972f74262" /><Relationship Type="http://schemas.openxmlformats.org/officeDocument/2006/relationships/notesSlide" Target="/ppt/notesSlides/notesSlide12.xml" Id="R773bf563017945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38c72d2e3a4d90" /><Relationship Type="http://schemas.openxmlformats.org/officeDocument/2006/relationships/notesSlide" Target="/ppt/notesSlides/notesSlide13.xml" Id="R12442f6b764d42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80476e7fc5480e" /><Relationship Type="http://schemas.openxmlformats.org/officeDocument/2006/relationships/image" Target="/ppt/media/image.png" Id="R7f00d49b60c2493a" /><Relationship Type="http://schemas.openxmlformats.org/officeDocument/2006/relationships/notesSlide" Target="/ppt/notesSlides/notesSlide14.xml" Id="R9a72434c49cd4a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8e42e62774b42f4" /><Relationship Type="http://schemas.openxmlformats.org/officeDocument/2006/relationships/notesSlide" Target="/ppt/notesSlides/notesSlide15.xml" Id="Rb93a4994081540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ae426ec2fd4d24" /><Relationship Type="http://schemas.openxmlformats.org/officeDocument/2006/relationships/notesSlide" Target="/ppt/notesSlides/notesSlide16.xml" Id="R6de3262372e84c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a2d64facd04b87" /><Relationship Type="http://schemas.openxmlformats.org/officeDocument/2006/relationships/notesSlide" Target="/ppt/notesSlides/notesSlide17.xml" Id="R8c3e83801da044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bb6f35076cb448f" /><Relationship Type="http://schemas.openxmlformats.org/officeDocument/2006/relationships/notesSlide" Target="/ppt/notesSlides/notesSlide18.xml" Id="R82d16328fb1740e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17dd6e698549c9" /><Relationship Type="http://schemas.openxmlformats.org/officeDocument/2006/relationships/notesSlide" Target="/ppt/notesSlides/notesSlide19.xml" Id="Rb73853a157e844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2a46d9c2b24427d" /><Relationship Type="http://schemas.openxmlformats.org/officeDocument/2006/relationships/notesSlide" Target="/ppt/notesSlides/notesSlide20.xml" Id="R41368cb4cc414b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d85f78848604dbe" /><Relationship Type="http://schemas.openxmlformats.org/officeDocument/2006/relationships/notesSlide" Target="/ppt/notesSlides/notesSlide21.xml" Id="Rb29b6a4b599f4c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025f6a4a2a4499c" /><Relationship Type="http://schemas.openxmlformats.org/officeDocument/2006/relationships/notesSlide" Target="/ppt/notesSlides/notesSlide22.xml" Id="R7ef45c66ecf649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e4624854bca480b" /><Relationship Type="http://schemas.openxmlformats.org/officeDocument/2006/relationships/notesSlide" Target="/ppt/notesSlides/notesSlide23.xml" Id="R3aeb42e9283a4a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f6f9e775c44ae9" /><Relationship Type="http://schemas.openxmlformats.org/officeDocument/2006/relationships/notesSlide" Target="/ppt/notesSlides/notesSlide24.xml" Id="Rc9b3d33836a5468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cbe508e126d4c51" /><Relationship Type="http://schemas.openxmlformats.org/officeDocument/2006/relationships/notesSlide" Target="/ppt/notesSlides/notesSlide25.xml" Id="R14513c208d9248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196d1afa7d1458a" /><Relationship Type="http://schemas.openxmlformats.org/officeDocument/2006/relationships/notesSlide" Target="/ppt/notesSlides/notesSlide26.xml" Id="R8024fe4032554a4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b9f9dbdaefb44ef" /><Relationship Type="http://schemas.openxmlformats.org/officeDocument/2006/relationships/notesSlide" Target="/ppt/notesSlides/notesSlide27.xml" Id="R25d451030b8349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bef0000e1a94086" /><Relationship Type="http://schemas.openxmlformats.org/officeDocument/2006/relationships/notesSlide" Target="/ppt/notesSlides/notesSlide28.xml" Id="R489307b738fe4d6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653feec57544606" /><Relationship Type="http://schemas.openxmlformats.org/officeDocument/2006/relationships/notesSlide" Target="/ppt/notesSlides/notesSlide29.xml" Id="R062907a6a505489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c9294f642d04908" /><Relationship Type="http://schemas.openxmlformats.org/officeDocument/2006/relationships/notesSlide" Target="/ppt/notesSlides/notesSlide30.xml" Id="Rb7471d2fc6a74d3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a8d1ee38d024b79" /><Relationship Type="http://schemas.openxmlformats.org/officeDocument/2006/relationships/notesSlide" Target="/ppt/notesSlides/notesSlide31.xml" Id="R2a10d30fd01c4fb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2365162635340a3" /><Relationship Type="http://schemas.openxmlformats.org/officeDocument/2006/relationships/notesSlide" Target="/ppt/notesSlides/notesSlide32.xml" Id="R414e9cb9715848a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795b802e7bc4e9a" /><Relationship Type="http://schemas.openxmlformats.org/officeDocument/2006/relationships/notesSlide" Target="/ppt/notesSlides/notesSlide33.xml" Id="R7991b93d6ac34aa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d03301138614eae" /><Relationship Type="http://schemas.openxmlformats.org/officeDocument/2006/relationships/notesSlide" Target="/ppt/notesSlides/notesSlide34.xml" Id="R72870fc9111c432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31e7f5f7354401b" /><Relationship Type="http://schemas.openxmlformats.org/officeDocument/2006/relationships/image" Target="/ppt/media/image2.png" Id="R0fe2f536b60041d7" /><Relationship Type="http://schemas.openxmlformats.org/officeDocument/2006/relationships/notesSlide" Target="/ppt/notesSlides/notesSlide35.xml" Id="Rdbf06b5f3d694a9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b8ba46f2a754e3e" /><Relationship Type="http://schemas.openxmlformats.org/officeDocument/2006/relationships/notesSlide" Target="/ppt/notesSlides/notesSlide36.xml" Id="R9d34a70efeb7432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dc8cca0002d49c9" /><Relationship Type="http://schemas.openxmlformats.org/officeDocument/2006/relationships/notesSlide" Target="/ppt/notesSlides/notesSlide37.xml" Id="R89c1ce7c78c44f2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71b219e258740b4" /><Relationship Type="http://schemas.openxmlformats.org/officeDocument/2006/relationships/notesSlide" Target="/ppt/notesSlides/notesSlide38.xml" Id="Rea4e0e3b151244d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f32ace38b8d4fb3" /><Relationship Type="http://schemas.openxmlformats.org/officeDocument/2006/relationships/notesSlide" Target="/ppt/notesSlides/notesSlide39.xml" Id="Rdecb561cf1594dd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f81f023130b4844" /><Relationship Type="http://schemas.openxmlformats.org/officeDocument/2006/relationships/notesSlide" Target="/ppt/notesSlides/notesSlide40.xml" Id="R1738d81e7c1546a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7a82a9445b442c8" /><Relationship Type="http://schemas.openxmlformats.org/officeDocument/2006/relationships/notesSlide" Target="/ppt/notesSlides/notesSlide41.xml" Id="Rea0e29301cb3477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1ab3ae7ab804b3a" /><Relationship Type="http://schemas.openxmlformats.org/officeDocument/2006/relationships/notesSlide" Target="/ppt/notesSlides/notesSlide42.xml" Id="Rb91d413a550649b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7b5c769f5f74572" /><Relationship Type="http://schemas.openxmlformats.org/officeDocument/2006/relationships/notesSlide" Target="/ppt/notesSlides/notesSlide43.xml" Id="R57b4ca46d2e744a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2dbc315a50349e3" /><Relationship Type="http://schemas.openxmlformats.org/officeDocument/2006/relationships/notesSlide" Target="/ppt/notesSlides/notesSlide44.xml" Id="R9fada3d8cd4e4b1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35543ff18e142ff" /><Relationship Type="http://schemas.openxmlformats.org/officeDocument/2006/relationships/notesSlide" Target="/ppt/notesSlides/notesSlide45.xml" Id="Ree37363425704fd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6e18fb26cd2472b" /><Relationship Type="http://schemas.openxmlformats.org/officeDocument/2006/relationships/notesSlide" Target="/ppt/notesSlides/notesSlide46.xml" Id="R29d06b6630c74e6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07259eea1f448a6" /><Relationship Type="http://schemas.openxmlformats.org/officeDocument/2006/relationships/notesSlide" Target="/ppt/notesSlides/notesSlide47.xml" Id="R52da780771684ca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0486ed790c64b42" /><Relationship Type="http://schemas.openxmlformats.org/officeDocument/2006/relationships/notesSlide" Target="/ppt/notesSlides/notesSlide48.xml" Id="R18d627263dca49d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54813c39838453e" /><Relationship Type="http://schemas.openxmlformats.org/officeDocument/2006/relationships/notesSlide" Target="/ppt/notesSlides/notesSlide49.xml" Id="R85bf3c5789fb411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6f7fe93905642ff" /><Relationship Type="http://schemas.openxmlformats.org/officeDocument/2006/relationships/notesSlide" Target="/ppt/notesSlides/notesSlide50.xml" Id="R6f0e306998f14dc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8b28462a4c841b7" /><Relationship Type="http://schemas.openxmlformats.org/officeDocument/2006/relationships/notesSlide" Target="/ppt/notesSlides/notesSlide51.xml" Id="Ra5104f8554cc451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ed1715453a64482" /><Relationship Type="http://schemas.openxmlformats.org/officeDocument/2006/relationships/notesSlide" Target="/ppt/notesSlides/notesSlide52.xml" Id="R44f019d8976a4a8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34be15fd05d400a" /><Relationship Type="http://schemas.openxmlformats.org/officeDocument/2006/relationships/notesSlide" Target="/ppt/notesSlides/notesSlide53.xml" Id="Re17cd0112519414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4676ab4033d4c46" /><Relationship Type="http://schemas.openxmlformats.org/officeDocument/2006/relationships/notesSlide" Target="/ppt/notesSlides/notesSlide54.xml" Id="R64fd5f85f00e4cf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977ea3616d4410c" /><Relationship Type="http://schemas.openxmlformats.org/officeDocument/2006/relationships/notesSlide" Target="/ppt/notesSlides/notesSlide55.xml" Id="Rb32905686f45463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e48ed926213448d" /><Relationship Type="http://schemas.openxmlformats.org/officeDocument/2006/relationships/notesSlide" Target="/ppt/notesSlides/notesSlide56.xml" Id="Rb7d827f65b9a4ba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ec197deb82542f8" /><Relationship Type="http://schemas.openxmlformats.org/officeDocument/2006/relationships/notesSlide" Target="/ppt/notesSlides/notesSlide57.xml" Id="R62212ec7620945e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d9548789b4d41a5" /><Relationship Type="http://schemas.openxmlformats.org/officeDocument/2006/relationships/notesSlide" Target="/ppt/notesSlides/notesSlide58.xml" Id="Rd1ec4c784d43491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d9321bd65224205" /><Relationship Type="http://schemas.openxmlformats.org/officeDocument/2006/relationships/notesSlide" Target="/ppt/notesSlides/notesSlide59.xml" Id="R30e2913499b9465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6eb52aa70974a85" /><Relationship Type="http://schemas.openxmlformats.org/officeDocument/2006/relationships/notesSlide" Target="/ppt/notesSlides/notesSlide60.xml" Id="R6770f43fa6dc407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3e1628ffb3b497a" /><Relationship Type="http://schemas.openxmlformats.org/officeDocument/2006/relationships/notesSlide" Target="/ppt/notesSlides/notesSlide61.xml" Id="R1c27aa8cf7c246a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777b7d55d2e4d85" /><Relationship Type="http://schemas.openxmlformats.org/officeDocument/2006/relationships/notesSlide" Target="/ppt/notesSlides/notesSlide62.xml" Id="R678d4c3ea5614ec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d1c483f430d405b" /><Relationship Type="http://schemas.openxmlformats.org/officeDocument/2006/relationships/notesSlide" Target="/ppt/notesSlides/notesSlide63.xml" Id="Rca89d80db2a1434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f327d5fcc33497b" /><Relationship Type="http://schemas.openxmlformats.org/officeDocument/2006/relationships/notesSlide" Target="/ppt/notesSlides/notesSlide64.xml" Id="Rb8010eef0c594e1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54ac51ff18b842d1" /><Relationship Type="http://schemas.openxmlformats.org/officeDocument/2006/relationships/notesSlide" Target="/ppt/notesSlides/notesSlide65.xml" Id="R900c0a596347433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e32403a867e40b3" /><Relationship Type="http://schemas.openxmlformats.org/officeDocument/2006/relationships/notesSlide" Target="/ppt/notesSlides/notesSlide66.xml" Id="R49d231eda8574e4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aa36976c91094d6d" /><Relationship Type="http://schemas.openxmlformats.org/officeDocument/2006/relationships/notesSlide" Target="/ppt/notesSlides/notesSlide67.xml" Id="Rb86955d77f8545a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413f8f73234f4f13" /><Relationship Type="http://schemas.openxmlformats.org/officeDocument/2006/relationships/notesSlide" Target="/ppt/notesSlides/notesSlide68.xml" Id="Rfb627d95a872461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d050511717ec47ed" /><Relationship Type="http://schemas.openxmlformats.org/officeDocument/2006/relationships/notesSlide" Target="/ppt/notesSlides/notesSlide69.xml" Id="R8ef6c30b5a114b5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61d2be5c706498e" /><Relationship Type="http://schemas.openxmlformats.org/officeDocument/2006/relationships/notesSlide" Target="/ppt/notesSlides/notesSlide70.xml" Id="Rf9336f565fab443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106ab1a978284629" /><Relationship Type="http://schemas.openxmlformats.org/officeDocument/2006/relationships/notesSlide" Target="/ppt/notesSlides/notesSlide71.xml" Id="Re65a9e256d014b9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8900dd3531544a3" /><Relationship Type="http://schemas.openxmlformats.org/officeDocument/2006/relationships/notesSlide" Target="/ppt/notesSlides/notesSlide72.xml" Id="R0cd4f99fde164ec5"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dd2687d4acec46f1" /><Relationship Type="http://schemas.openxmlformats.org/officeDocument/2006/relationships/notesSlide" Target="/ppt/notesSlides/notesSlide73.xml" Id="R8ab8621c272c495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7baf174c1b84e5b" /><Relationship Type="http://schemas.openxmlformats.org/officeDocument/2006/relationships/notesSlide" Target="/ppt/notesSlides/notesSlide74.xml" Id="R1f951a628f5445a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1061f312cccf4d6d" /><Relationship Type="http://schemas.openxmlformats.org/officeDocument/2006/relationships/notesSlide" Target="/ppt/notesSlides/notesSlide75.xml" Id="R5d6858ac0dc4482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7a318b361af141a3" /><Relationship Type="http://schemas.openxmlformats.org/officeDocument/2006/relationships/notesSlide" Target="/ppt/notesSlides/notesSlide76.xml" Id="Rcccdf610941247d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49812b30631d4f93" /><Relationship Type="http://schemas.openxmlformats.org/officeDocument/2006/relationships/image" Target="/ppt/media/image3.png" Id="Ree203f10be974fb0" /><Relationship Type="http://schemas.openxmlformats.org/officeDocument/2006/relationships/notesSlide" Target="/ppt/notesSlides/notesSlide77.xml" Id="R0b43ae05c1e042ec"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a8a83cfb05a4443e" /><Relationship Type="http://schemas.openxmlformats.org/officeDocument/2006/relationships/notesSlide" Target="/ppt/notesSlides/notesSlide78.xml" Id="Rc796e768f770431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19fb92106561480d" /><Relationship Type="http://schemas.openxmlformats.org/officeDocument/2006/relationships/notesSlide" Target="/ppt/notesSlides/notesSlide79.xml" Id="R0961766150084a9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a001e10d56c94e65" /><Relationship Type="http://schemas.openxmlformats.org/officeDocument/2006/relationships/notesSlide" Target="/ppt/notesSlides/notesSlide80.xml" Id="R41d00678d4594e22"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e9ca1494b4a24ff1" /><Relationship Type="http://schemas.openxmlformats.org/officeDocument/2006/relationships/notesSlide" Target="/ppt/notesSlides/notesSlide81.xml" Id="R899477d39d13428c"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98e7967bca594401" /><Relationship Type="http://schemas.openxmlformats.org/officeDocument/2006/relationships/notesSlide" Target="/ppt/notesSlides/notesSlide82.xml" Id="R5ae859ceb7564a3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c4cfe8f681314318" /><Relationship Type="http://schemas.openxmlformats.org/officeDocument/2006/relationships/notesSlide" Target="/ppt/notesSlides/notesSlide83.xml" Id="R99da299a5ba247d9"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609fa7aca9194896" /><Relationship Type="http://schemas.openxmlformats.org/officeDocument/2006/relationships/image" Target="/ppt/media/image4.png" Id="Rb5ca458d0a9648b7" /><Relationship Type="http://schemas.openxmlformats.org/officeDocument/2006/relationships/notesSlide" Target="/ppt/notesSlides/notesSlide84.xml" Id="Rfcc801f2f9274bce"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7bf907c9baee4303" /><Relationship Type="http://schemas.openxmlformats.org/officeDocument/2006/relationships/notesSlide" Target="/ppt/notesSlides/notesSlide85.xml" Id="Re5e9d2bd5e534c5b"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0107a644de294c81" /><Relationship Type="http://schemas.openxmlformats.org/officeDocument/2006/relationships/notesSlide" Target="/ppt/notesSlides/notesSlide86.xml" Id="R2b4e57e02ae149e1"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88f7677f09284143" /><Relationship Type="http://schemas.openxmlformats.org/officeDocument/2006/relationships/notesSlide" Target="/ppt/notesSlides/notesSlide87.xml" Id="R32a5579f835041b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b6856218b1fe4f9b" /><Relationship Type="http://schemas.openxmlformats.org/officeDocument/2006/relationships/notesSlide" Target="/ppt/notesSlides/notesSlide88.xml" Id="R4c5df99854834d94"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77f1fbb914114524" /><Relationship Type="http://schemas.openxmlformats.org/officeDocument/2006/relationships/notesSlide" Target="/ppt/notesSlides/notesSlide89.xml" Id="Rd0940d01d4c448bd"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0b12abecf1754159" /><Relationship Type="http://schemas.openxmlformats.org/officeDocument/2006/relationships/notesSlide" Target="/ppt/notesSlides/notesSlide90.xml" Id="R1e3293084bdc416d"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0a29dfc9d7bf47ec" /><Relationship Type="http://schemas.openxmlformats.org/officeDocument/2006/relationships/notesSlide" Target="/ppt/notesSlides/notesSlide91.xml" Id="R3eefcc6323864e38"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9f18497203214743" /><Relationship Type="http://schemas.openxmlformats.org/officeDocument/2006/relationships/notesSlide" Target="/ppt/notesSlides/notesSlide92.xml" Id="Re114618cfebe489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3f1ac8f49ab24d66" /><Relationship Type="http://schemas.openxmlformats.org/officeDocument/2006/relationships/notesSlide" Target="/ppt/notesSlides/notesSlide93.xml" Id="R33bedcc995574b3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38810269a3bb42c9" /><Relationship Type="http://schemas.openxmlformats.org/officeDocument/2006/relationships/notesSlide" Target="/ppt/notesSlides/notesSlide94.xml" Id="R1edfef3460984951"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e06ebca35a3f47b0" /><Relationship Type="http://schemas.openxmlformats.org/officeDocument/2006/relationships/notesSlide" Target="/ppt/notesSlides/notesSlide95.xml" Id="R700f3d16b16e408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15654c011990481f" /><Relationship Type="http://schemas.openxmlformats.org/officeDocument/2006/relationships/notesSlide" Target="/ppt/notesSlides/notesSlide96.xml" Id="R43cf7b895c9d4073"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e0e2e09379f74103" /><Relationship Type="http://schemas.openxmlformats.org/officeDocument/2006/relationships/notesSlide" Target="/ppt/notesSlides/notesSlide97.xml" Id="Re73260459bee4c9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4687fbaa170846f6" /><Relationship Type="http://schemas.openxmlformats.org/officeDocument/2006/relationships/notesSlide" Target="/ppt/notesSlides/notesSlide98.xml" Id="R91be04d03ad34d2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8328ab3c81f44af7" /><Relationship Type="http://schemas.openxmlformats.org/officeDocument/2006/relationships/notesSlide" Target="/ppt/notesSlides/notesSlide99.xml" Id="R144febf503d440b5"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1b2383c1e7084c5d" /><Relationship Type="http://schemas.openxmlformats.org/officeDocument/2006/relationships/image" Target="/ppt/media/image5.png" Id="R7003c30483304c2d" /><Relationship Type="http://schemas.openxmlformats.org/officeDocument/2006/relationships/notesSlide" Target="/ppt/notesSlides/notesSlide100.xml" Id="R0002a58b0e124075"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61f0aefdf4b343ee" /><Relationship Type="http://schemas.openxmlformats.org/officeDocument/2006/relationships/notesSlide" Target="/ppt/notesSlides/notesSlide101.xml" Id="R9c667f7e1a7a4124"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9cbb2b4f34744a29" /><Relationship Type="http://schemas.openxmlformats.org/officeDocument/2006/relationships/notesSlide" Target="/ppt/notesSlides/notesSlide102.xml" Id="Rbc0493c96c5f4711"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cca270bb8834499d" /><Relationship Type="http://schemas.openxmlformats.org/officeDocument/2006/relationships/notesSlide" Target="/ppt/notesSlides/notesSlide103.xml" Id="R20ce3d737e4649d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a3341a9428854183" /><Relationship Type="http://schemas.openxmlformats.org/officeDocument/2006/relationships/notesSlide" Target="/ppt/notesSlides/notesSlide104.xml" Id="Rc0d9a74dd69d4d12"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7bea13c62aae4974" /><Relationship Type="http://schemas.openxmlformats.org/officeDocument/2006/relationships/notesSlide" Target="/ppt/notesSlides/notesSlide105.xml" Id="Rcb8441df3a5b4df2"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daa32eb4937d44cb" /><Relationship Type="http://schemas.openxmlformats.org/officeDocument/2006/relationships/image" Target="/ppt/media/image6.png" Id="R2f0d76cae641446e" /><Relationship Type="http://schemas.openxmlformats.org/officeDocument/2006/relationships/image" Target="/ppt/media/image7.png" Id="R0d489ffbd0bb4fa9" /><Relationship Type="http://schemas.openxmlformats.org/officeDocument/2006/relationships/notesSlide" Target="/ppt/notesSlides/notesSlide106.xml" Id="R6e6f799bb7ba4099"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b423513976844b32" /><Relationship Type="http://schemas.openxmlformats.org/officeDocument/2006/relationships/notesSlide" Target="/ppt/notesSlides/notesSlide107.xml" Id="R6525dd5ed85b42bc"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7ee0113b8d0a4890" /><Relationship Type="http://schemas.openxmlformats.org/officeDocument/2006/relationships/notesSlide" Target="/ppt/notesSlides/notesSlide108.xml" Id="R5c5244c0d15b4eed"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1aebab3df21543d9" /><Relationship Type="http://schemas.openxmlformats.org/officeDocument/2006/relationships/notesSlide" Target="/ppt/notesSlides/notesSlide109.xml" Id="R542a7ca90335435a"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7b7fe564f1af4de4" /><Relationship Type="http://schemas.openxmlformats.org/officeDocument/2006/relationships/notesSlide" Target="/ppt/notesSlides/notesSlide110.xml" Id="Rb1c2019621d24bdb"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3c9d90c2049546ac" /><Relationship Type="http://schemas.openxmlformats.org/officeDocument/2006/relationships/notesSlide" Target="/ppt/notesSlides/notesSlide111.xml" Id="R0e86a2e50d884eb5"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7ef1cf557de347d1" /><Relationship Type="http://schemas.openxmlformats.org/officeDocument/2006/relationships/notesSlide" Target="/ppt/notesSlides/notesSlide112.xml" Id="R7c9052b99f7d43a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efe738bcf5b941bf" /><Relationship Type="http://schemas.openxmlformats.org/officeDocument/2006/relationships/notesSlide" Target="/ppt/notesSlides/notesSlide113.xml" Id="Rf084d500717b4d07"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446d05dfcc254a46" /><Relationship Type="http://schemas.openxmlformats.org/officeDocument/2006/relationships/image" Target="/ppt/media/image8.png" Id="R35b1d42c46f04269" /><Relationship Type="http://schemas.openxmlformats.org/officeDocument/2006/relationships/notesSlide" Target="/ppt/notesSlides/notesSlide114.xml" Id="Rfa4ecfed11bc4759"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7861948fa3ef4b7c" /><Relationship Type="http://schemas.openxmlformats.org/officeDocument/2006/relationships/notesSlide" Target="/ppt/notesSlides/notesSlide115.xml" Id="R4544c8e7e4ac41f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9fcedb9e6bab4be1" /><Relationship Type="http://schemas.openxmlformats.org/officeDocument/2006/relationships/notesSlide" Target="/ppt/notesSlides/notesSlide116.xml" Id="Rde3dcf66f1de420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b393e52125a047b3" /><Relationship Type="http://schemas.openxmlformats.org/officeDocument/2006/relationships/notesSlide" Target="/ppt/notesSlides/notesSlide117.xml" Id="R5cdee070142c48c3"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f270ff5ace5f4cf5" /><Relationship Type="http://schemas.openxmlformats.org/officeDocument/2006/relationships/notesSlide" Target="/ppt/notesSlides/notesSlide118.xml" Id="Rdeb670b311484085"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1f26f7ee12d840c4" /><Relationship Type="http://schemas.openxmlformats.org/officeDocument/2006/relationships/notesSlide" Target="/ppt/notesSlides/notesSlide119.xml" Id="Rf0a009e517384e8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69c77ccdec584357" /><Relationship Type="http://schemas.openxmlformats.org/officeDocument/2006/relationships/image" Target="/ppt/media/image.jpeg" Id="Rd42e0d9965724a69" /><Relationship Type="http://schemas.openxmlformats.org/officeDocument/2006/relationships/notesSlide" Target="/ppt/notesSlides/notesSlide120.xml" Id="Rb101bc3c0f734ac9"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9e11cabf983c4d82" /><Relationship Type="http://schemas.openxmlformats.org/officeDocument/2006/relationships/notesSlide" Target="/ppt/notesSlides/notesSlide121.xml" Id="R4a183ab5b45c4537"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695c53cb202c45ab" /><Relationship Type="http://schemas.openxmlformats.org/officeDocument/2006/relationships/notesSlide" Target="/ppt/notesSlides/notesSlide122.xml" Id="Rbe129f440cf84191"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d356f995b1b042c5" /><Relationship Type="http://schemas.openxmlformats.org/officeDocument/2006/relationships/notesSlide" Target="/ppt/notesSlides/notesSlide123.xml" Id="Rc246992f34e64df8"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afaaf452021e454c" /><Relationship Type="http://schemas.openxmlformats.org/officeDocument/2006/relationships/image" Target="/ppt/media/image9.png" Id="Rdbf1b16292f54781" /><Relationship Type="http://schemas.openxmlformats.org/officeDocument/2006/relationships/notesSlide" Target="/ppt/notesSlides/notesSlide124.xml" Id="Recd8fbedebde42ec"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d99a1b1883774ae0" /><Relationship Type="http://schemas.openxmlformats.org/officeDocument/2006/relationships/notesSlide" Target="/ppt/notesSlides/notesSlide125.xml" Id="R12673b8906ee4007"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ad63208baf1e45b4" /><Relationship Type="http://schemas.openxmlformats.org/officeDocument/2006/relationships/notesSlide" Target="/ppt/notesSlides/notesSlide126.xml" Id="R8b6d9c7d440c4d5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c7ba839a17364d84" /><Relationship Type="http://schemas.openxmlformats.org/officeDocument/2006/relationships/notesSlide" Target="/ppt/notesSlides/notesSlide127.xml" Id="R1127fec9f7b34838"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169f342ef9234225" /><Relationship Type="http://schemas.openxmlformats.org/officeDocument/2006/relationships/notesSlide" Target="/ppt/notesSlides/notesSlide128.xml" Id="Rfab2037351cd4c06"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03c2f2a3ca7742c2" /><Relationship Type="http://schemas.openxmlformats.org/officeDocument/2006/relationships/notesSlide" Target="/ppt/notesSlides/notesSlide129.xml" Id="Rdd5b5013295f4c67"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a07417daac284c22" /><Relationship Type="http://schemas.openxmlformats.org/officeDocument/2006/relationships/notesSlide" Target="/ppt/notesSlides/notesSlide130.xml" Id="R2bb05a581c4a4193"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b759014a74d4438b" /><Relationship Type="http://schemas.openxmlformats.org/officeDocument/2006/relationships/image" Target="/ppt/media/image10.png" Id="R0f4aa6f473644498" /><Relationship Type="http://schemas.openxmlformats.org/officeDocument/2006/relationships/notesSlide" Target="/ppt/notesSlides/notesSlide131.xml" Id="R38f30b038f4447b3"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36c9fc5e4d1e478e" /><Relationship Type="http://schemas.openxmlformats.org/officeDocument/2006/relationships/notesSlide" Target="/ppt/notesSlides/notesSlide132.xml" Id="R4f7b056a4da24ac2"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a17c8214d15d45cd" /><Relationship Type="http://schemas.openxmlformats.org/officeDocument/2006/relationships/notesSlide" Target="/ppt/notesSlides/notesSlide133.xml" Id="R3a15ca1814854440"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7a2df11472d5472b" /><Relationship Type="http://schemas.openxmlformats.org/officeDocument/2006/relationships/notesSlide" Target="/ppt/notesSlides/notesSlide134.xml" Id="R59f9a3c19a0d4813"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bb2b987ad4124374" /><Relationship Type="http://schemas.openxmlformats.org/officeDocument/2006/relationships/notesSlide" Target="/ppt/notesSlides/notesSlide135.xml" Id="Rcac19485687c4673"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c74e4a71fb3d41fa" /><Relationship Type="http://schemas.openxmlformats.org/officeDocument/2006/relationships/notesSlide" Target="/ppt/notesSlides/notesSlide136.xml" Id="R5017317346ab45c9"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7bf2f17c9d4049ee" /><Relationship Type="http://schemas.openxmlformats.org/officeDocument/2006/relationships/notesSlide" Target="/ppt/notesSlides/notesSlide137.xml" Id="R3e883c5af1384383"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0201abb410464621" /><Relationship Type="http://schemas.openxmlformats.org/officeDocument/2006/relationships/notesSlide" Target="/ppt/notesSlides/notesSlide138.xml" Id="Rc410a217e1aa474b"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d8abb23680bd41ba" /><Relationship Type="http://schemas.openxmlformats.org/officeDocument/2006/relationships/notesSlide" Target="/ppt/notesSlides/notesSlide139.xml" Id="Rd6da40a1b00b4451"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098896d4fbcf4aba" /><Relationship Type="http://schemas.openxmlformats.org/officeDocument/2006/relationships/notesSlide" Target="/ppt/notesSlides/notesSlide140.xml" Id="Rc1184122fb1a4999"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ae675858363c4df1" /><Relationship Type="http://schemas.openxmlformats.org/officeDocument/2006/relationships/notesSlide" Target="/ppt/notesSlides/notesSlide141.xml" Id="Rc2fdd3d2720a4805"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59b2aadfae2b4738" /><Relationship Type="http://schemas.openxmlformats.org/officeDocument/2006/relationships/notesSlide" Target="/ppt/notesSlides/notesSlide142.xml" Id="R2ac4b3da539d4875"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85afb3044cd1449f" /><Relationship Type="http://schemas.openxmlformats.org/officeDocument/2006/relationships/notesSlide" Target="/ppt/notesSlides/notesSlide143.xml" Id="R3d3ba9b0affc48a3"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69b795435776404f" /><Relationship Type="http://schemas.openxmlformats.org/officeDocument/2006/relationships/notesSlide" Target="/ppt/notesSlides/notesSlide144.xml" Id="Rcea66af1ec324b79"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b226847d37fe400e" /><Relationship Type="http://schemas.openxmlformats.org/officeDocument/2006/relationships/notesSlide" Target="/ppt/notesSlides/notesSlide145.xml" Id="R38cf0d74df35491e"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1108f8f236c84c9b" /><Relationship Type="http://schemas.openxmlformats.org/officeDocument/2006/relationships/notesSlide" Target="/ppt/notesSlides/notesSlide146.xml" Id="Rd9caadd4ff5941b2"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da1dd75be5c44d8d" /><Relationship Type="http://schemas.openxmlformats.org/officeDocument/2006/relationships/notesSlide" Target="/ppt/notesSlides/notesSlide147.xml" Id="Ref34165098a14643"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282c6cbd8e0e44de" /><Relationship Type="http://schemas.openxmlformats.org/officeDocument/2006/relationships/notesSlide" Target="/ppt/notesSlides/notesSlide148.xml" Id="Rf6e01654f6314a2b"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60be5b6e37664794" /><Relationship Type="http://schemas.openxmlformats.org/officeDocument/2006/relationships/notesSlide" Target="/ppt/notesSlides/notesSlide149.xml" Id="Rc428a6e696854e89"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330530e737b44994" /><Relationship Type="http://schemas.openxmlformats.org/officeDocument/2006/relationships/notesSlide" Target="/ppt/notesSlides/notesSlide150.xml" Id="Rb0307838a18c40a6"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5bd31ad2d40140c4" /><Relationship Type="http://schemas.openxmlformats.org/officeDocument/2006/relationships/notesSlide" Target="/ppt/notesSlides/notesSlide151.xml" Id="R706a8952c5b14bee"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8a65e39f61bb4dcf" /><Relationship Type="http://schemas.openxmlformats.org/officeDocument/2006/relationships/notesSlide" Target="/ppt/notesSlides/notesSlide152.xml" Id="R8d004aa3316b45c5"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a2941768650249f3" /><Relationship Type="http://schemas.openxmlformats.org/officeDocument/2006/relationships/notesSlide" Target="/ppt/notesSlides/notesSlide153.xml" Id="R425c894a0cfd4376"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f950c623a1214ecf" /><Relationship Type="http://schemas.openxmlformats.org/officeDocument/2006/relationships/notesSlide" Target="/ppt/notesSlides/notesSlide154.xml" Id="Rd3f8e1c56a484896"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ae4b0148e0e54fdd" /><Relationship Type="http://schemas.openxmlformats.org/officeDocument/2006/relationships/image" Target="/ppt/media/image11.png" Id="Reaf47dc4f81a48b2" /><Relationship Type="http://schemas.openxmlformats.org/officeDocument/2006/relationships/notesSlide" Target="/ppt/notesSlides/notesSlide155.xml" Id="R607a240085174bd7"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e660c892344449dc" /><Relationship Type="http://schemas.openxmlformats.org/officeDocument/2006/relationships/notesSlide" Target="/ppt/notesSlides/notesSlide156.xml" Id="R00ed78f72d454068"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4301253c4e244b1d" /><Relationship Type="http://schemas.openxmlformats.org/officeDocument/2006/relationships/notesSlide" Target="/ppt/notesSlides/notesSlide157.xml" Id="R9449d1eccbdb4c1a"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16a5a445d65e4b99" /><Relationship Type="http://schemas.openxmlformats.org/officeDocument/2006/relationships/notesSlide" Target="/ppt/notesSlides/notesSlide158.xml" Id="R2c1d0b82a97341e5"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cbd67cd6a85e4f93" /><Relationship Type="http://schemas.openxmlformats.org/officeDocument/2006/relationships/notesSlide" Target="/ppt/notesSlides/notesSlide159.xml" Id="R72e53350979a4f9b"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a82dd5817d0e4613" /><Relationship Type="http://schemas.openxmlformats.org/officeDocument/2006/relationships/notesSlide" Target="/ppt/notesSlides/notesSlide160.xml" Id="R55629898d62b43ee"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abda370f42bd44a4" /><Relationship Type="http://schemas.openxmlformats.org/officeDocument/2006/relationships/notesSlide" Target="/ppt/notesSlides/notesSlide161.xml" Id="R5047c151c4d14814"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eb7b2e0449ce4708" /><Relationship Type="http://schemas.openxmlformats.org/officeDocument/2006/relationships/notesSlide" Target="/ppt/notesSlides/notesSlide162.xml" Id="R4a412761acc04bcd"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271d79d7d2484282" /><Relationship Type="http://schemas.openxmlformats.org/officeDocument/2006/relationships/notesSlide" Target="/ppt/notesSlides/notesSlide163.xml" Id="Re6788d0e0d154293"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a7acf4987d324900" /><Relationship Type="http://schemas.openxmlformats.org/officeDocument/2006/relationships/notesSlide" Target="/ppt/notesSlides/notesSlide164.xml" Id="R0b182fb1baaf4d54"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bf3ec60657b24217" /><Relationship Type="http://schemas.openxmlformats.org/officeDocument/2006/relationships/notesSlide" Target="/ppt/notesSlides/notesSlide165.xml" Id="R0d33c06de5e440ff"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3ec66105b4204920" /><Relationship Type="http://schemas.openxmlformats.org/officeDocument/2006/relationships/notesSlide" Target="/ppt/notesSlides/notesSlide166.xml" Id="R2fa446798a704368"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a9256e40c42c4e28" /><Relationship Type="http://schemas.openxmlformats.org/officeDocument/2006/relationships/notesSlide" Target="/ppt/notesSlides/notesSlide167.xml" Id="Rfe71ed19a84d4769"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76c03bf6891843df" /><Relationship Type="http://schemas.openxmlformats.org/officeDocument/2006/relationships/notesSlide" Target="/ppt/notesSlides/notesSlide168.xml" Id="R08298d537628415d"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ac468dc54e5b4d17" /><Relationship Type="http://schemas.openxmlformats.org/officeDocument/2006/relationships/notesSlide" Target="/ppt/notesSlides/notesSlide169.xml" Id="Rfa0caf37f63a43a4"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xml" Id="Ra6b84c7316194d12" /><Relationship Type="http://schemas.openxmlformats.org/officeDocument/2006/relationships/notesSlide" Target="/ppt/notesSlides/notesSlide170.xml" Id="R0efb490ede544357"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xml" Id="Rf9d919f906c04735" /><Relationship Type="http://schemas.openxmlformats.org/officeDocument/2006/relationships/notesSlide" Target="/ppt/notesSlides/notesSlide171.xml" Id="R8ac5e1977d394b37"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xml" Id="R65b9f447309744ba" /><Relationship Type="http://schemas.openxmlformats.org/officeDocument/2006/relationships/notesSlide" Target="/ppt/notesSlides/notesSlide172.xml" Id="R67176b2e9f3a4036"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1.xml" Id="R1537fdae5e614337" /><Relationship Type="http://schemas.openxmlformats.org/officeDocument/2006/relationships/image" Target="/ppt/media/image12.png" Id="Rb7415d790bba4185" /><Relationship Type="http://schemas.openxmlformats.org/officeDocument/2006/relationships/notesSlide" Target="/ppt/notesSlides/notesSlide173.xml" Id="Rb54d24d3894e4639"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1.xml" Id="R2b006e2fff784086" /><Relationship Type="http://schemas.openxmlformats.org/officeDocument/2006/relationships/notesSlide" Target="/ppt/notesSlides/notesSlide174.xml" Id="R25ff751bb2254d16"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1.xml" Id="R7e2bd7cf9b714539" /><Relationship Type="http://schemas.openxmlformats.org/officeDocument/2006/relationships/notesSlide" Target="/ppt/notesSlides/notesSlide175.xml" Id="R056339b402e84771"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1.xml" Id="Rf292dedbcca84bf7" /><Relationship Type="http://schemas.openxmlformats.org/officeDocument/2006/relationships/notesSlide" Target="/ppt/notesSlides/notesSlide176.xml" Id="R62f1aea48370486a"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1.xml" Id="R45569492d4374d49" /><Relationship Type="http://schemas.openxmlformats.org/officeDocument/2006/relationships/notesSlide" Target="/ppt/notesSlides/notesSlide177.xml" Id="R909175f37f584ce4"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1.xml" Id="Rb438498d407c4725" /><Relationship Type="http://schemas.openxmlformats.org/officeDocument/2006/relationships/notesSlide" Target="/ppt/notesSlides/notesSlide178.xml" Id="R6132ab2b66e847ea"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1.xml" Id="Re7a1da5e67ee45e3" /><Relationship Type="http://schemas.openxmlformats.org/officeDocument/2006/relationships/notesSlide" Target="/ppt/notesSlides/notesSlide179.xml" Id="R636ba0574f8e4343"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1.xml" Id="R0cfb186988df42c5" /><Relationship Type="http://schemas.openxmlformats.org/officeDocument/2006/relationships/notesSlide" Target="/ppt/notesSlides/notesSlide180.xml" Id="R66f066af70424845"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1.xml" Id="R4c0b9ea6afaf47ba" /><Relationship Type="http://schemas.openxmlformats.org/officeDocument/2006/relationships/notesSlide" Target="/ppt/notesSlides/notesSlide181.xml" Id="Re70924eb8d374b6f"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1.xml" Id="Rb4989df8c1e94400" /><Relationship Type="http://schemas.openxmlformats.org/officeDocument/2006/relationships/notesSlide" Target="/ppt/notesSlides/notesSlide182.xml" Id="Ra63f42b047684784"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1.xml" Id="R2bfb6d474ad4492e" /><Relationship Type="http://schemas.openxmlformats.org/officeDocument/2006/relationships/notesSlide" Target="/ppt/notesSlides/notesSlide183.xml" Id="R663cb49b39de4bd7"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1.xml" Id="Ra2f4f1af663345cc" /><Relationship Type="http://schemas.openxmlformats.org/officeDocument/2006/relationships/notesSlide" Target="/ppt/notesSlides/notesSlide184.xml" Id="R5fe3282b5d5045ad"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1.xml" Id="R05d369d6b4a6405e" /><Relationship Type="http://schemas.openxmlformats.org/officeDocument/2006/relationships/notesSlide" Target="/ppt/notesSlides/notesSlide185.xml" Id="R3f3387dd725b43b0"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1.xml" Id="Redcea16025cb4bf0" /><Relationship Type="http://schemas.openxmlformats.org/officeDocument/2006/relationships/notesSlide" Target="/ppt/notesSlides/notesSlide186.xml" Id="R4ae49b6197184de6"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1.xml" Id="Rfceb93c7583c4fdf" /><Relationship Type="http://schemas.openxmlformats.org/officeDocument/2006/relationships/notesSlide" Target="/ppt/notesSlides/notesSlide187.xml" Id="Rce5b2b71ebad448e"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1.xml" Id="Ra2ddbc10799b47a2" /><Relationship Type="http://schemas.openxmlformats.org/officeDocument/2006/relationships/notesSlide" Target="/ppt/notesSlides/notesSlide188.xml" Id="R7426fce3ec204855"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1.xml" Id="R0c2fc6be18d44fe2" /><Relationship Type="http://schemas.openxmlformats.org/officeDocument/2006/relationships/notesSlide" Target="/ppt/notesSlides/notesSlide189.xml" Id="R76de5a1f500a47be"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1.xml" Id="R4fb6269e6d6646c5" /><Relationship Type="http://schemas.openxmlformats.org/officeDocument/2006/relationships/notesSlide" Target="/ppt/notesSlides/notesSlide190.xml" Id="Reeba21fc57cf4ca0"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1.xml" Id="R5778c054ec0e4a20" /><Relationship Type="http://schemas.openxmlformats.org/officeDocument/2006/relationships/notesSlide" Target="/ppt/notesSlides/notesSlide191.xml" Id="R413d26b41245414b"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1.xml" Id="R078ed36b798a4144" /><Relationship Type="http://schemas.openxmlformats.org/officeDocument/2006/relationships/notesSlide" Target="/ppt/notesSlides/notesSlide192.xml" Id="R726b64172b0b4078"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1.xml" Id="R259368a3de384403" /><Relationship Type="http://schemas.openxmlformats.org/officeDocument/2006/relationships/notesSlide" Target="/ppt/notesSlides/notesSlide193.xml" Id="Rf2022213820f4709"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1.xml" Id="Rc431a23e68334241" /><Relationship Type="http://schemas.openxmlformats.org/officeDocument/2006/relationships/notesSlide" Target="/ppt/notesSlides/notesSlide194.xml" Id="R041486b3b9be4d14"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1.xml" Id="R0c3aa70c2a964984" /><Relationship Type="http://schemas.openxmlformats.org/officeDocument/2006/relationships/notesSlide" Target="/ppt/notesSlides/notesSlide195.xml" Id="R9e900899e10044eb"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1.xml" Id="Re2fcbfbd95c84c2e" /><Relationship Type="http://schemas.openxmlformats.org/officeDocument/2006/relationships/notesSlide" Target="/ppt/notesSlides/notesSlide196.xml" Id="Rf9376110975c4e7c"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1.xml" Id="R8e6a57fb0ca44116" /><Relationship Type="http://schemas.openxmlformats.org/officeDocument/2006/relationships/notesSlide" Target="/ppt/notesSlides/notesSlide197.xml" Id="R5935af575fe04890"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1.xml" Id="R6ec1a62b8d804581" /><Relationship Type="http://schemas.openxmlformats.org/officeDocument/2006/relationships/notesSlide" Target="/ppt/notesSlides/notesSlide198.xml" Id="R041b6bc17e154220"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1.xml" Id="R192ccea285424eb2" /><Relationship Type="http://schemas.openxmlformats.org/officeDocument/2006/relationships/notesSlide" Target="/ppt/notesSlides/notesSlide199.xml" Id="Rcda44782bb9d44cb"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1.xml" Id="Raf2fc293d75240ea" /><Relationship Type="http://schemas.openxmlformats.org/officeDocument/2006/relationships/notesSlide" Target="/ppt/notesSlides/notesSlide200.xml" Id="R458bc3e3a78e48b2" /></Relationships>
</file>

<file path=ppt/slides/slide1.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CAC269-60E7-40A5-8333-9FEA654F194F}"/>
              </a:ext>
            </a:extLst>
          </p:cNvPr>
          <p:cNvSpPr>
            <a:spLocks xmlns:a="http://schemas.openxmlformats.org/drawingml/2006/main" noGrp="1"/>
          </p:cNvSpPr>
          <p:nvPr/>
        </p:nvSpPr>
        <p:spPr>
          <a:xfrm xmlns:a="http://schemas.openxmlformats.org/drawingml/2006/main">
            <a:off x="609600" y="5810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LLM AGENT &amp; WORKFLOW AUTOMATION</a:t>
            </a:r>
          </a:p>
        </p:txBody>
      </p:sp>
      <p:sp>
        <p:nvSpPr>
          <p:cNvPr id="2" name="">
            <a:extLst xmlns:a="http://schemas.openxmlformats.org/drawingml/2006/main">
              <a:ext uri="{FF2B5EF4-FFF2-40B4-BE49-F238E27FC236}">
                <a16:creationId xmlns:a16="http://schemas.microsoft.com/office/drawing/2014/main" id="{E355A33A-E648-4AE6-8259-F0696C33C646}"/>
              </a:ext>
            </a:extLst>
          </p:cNvPr>
          <p:cNvSpPr>
            <a:spLocks xmlns:a="http://schemas.openxmlformats.org/drawingml/2006/main" noGrp="1"/>
          </p:cNvSpPr>
          <p:nvPr/>
        </p:nvSpPr>
        <p:spPr>
          <a:xfrm xmlns:a="http://schemas.openxmlformats.org/drawingml/2006/main">
            <a:off x="609600" y="1657350"/>
            <a:ext cx="36671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00" b="1">
                <a:solidFill>
                  <a:srgbClr val="FFFFFF"/>
                </a:solidFill>
                <a:latin typeface="NanumGothic"/>
                <a:ea typeface="NanumGothic"/>
                <a:cs typeface="NanumGothic"/>
              </a:defRPr>
            </a:pPr>
            <a:r>
              <a:rPr sz="10800" b="1">
                <a:solidFill>
                  <a:srgbClr val="FFFFFF"/>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6F5D9E74-7857-4EA1-83AB-E9FB13D69BBC}"/>
              </a:ext>
            </a:extLst>
          </p:cNvPr>
          <p:cNvSpPr>
            <a:spLocks xmlns:a="http://schemas.openxmlformats.org/drawingml/2006/main" noGrp="1"/>
          </p:cNvSpPr>
          <p:nvPr/>
        </p:nvSpPr>
        <p:spPr>
          <a:xfrm xmlns:a="http://schemas.openxmlformats.org/drawingml/2006/main">
            <a:off x="609600" y="3467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PR 리뷰 · 문서 자동화</a:t>
            </a:r>
          </a:p>
        </p:txBody>
      </p:sp>
      <p:sp>
        <p:nvSpPr>
          <p:cNvPr id="4" name="">
            <a:extLst xmlns:a="http://schemas.openxmlformats.org/drawingml/2006/main">
              <a:ext uri="{FF2B5EF4-FFF2-40B4-BE49-F238E27FC236}">
                <a16:creationId xmlns:a16="http://schemas.microsoft.com/office/drawing/2014/main" id="{5D738D0E-101A-421B-A788-DB51F8981063}"/>
              </a:ext>
            </a:extLst>
          </p:cNvPr>
          <p:cNvSpPr>
            <a:spLocks xmlns:a="http://schemas.openxmlformats.org/drawingml/2006/main" noGrp="1"/>
          </p:cNvSpPr>
          <p:nvPr/>
        </p:nvSpPr>
        <p:spPr>
          <a:xfrm xmlns:a="http://schemas.openxmlformats.org/drawingml/2006/main">
            <a:off x="609600" y="4781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0">
                <a:solidFill>
                  <a:srgbClr val="FFFFFF"/>
                </a:solidFill>
                <a:latin typeface="NanumGothic"/>
                <a:ea typeface="NanumGothic"/>
                <a:cs typeface="NanumGothic"/>
              </a:defRPr>
            </a:pPr>
            <a:r>
              <a:rPr sz="2475" b="0">
                <a:solidFill>
                  <a:srgbClr val="FFFFFF"/>
                </a:solidFill>
                <a:latin typeface="NanumGothic"/>
                <a:ea typeface="NanumGothic"/>
                <a:cs typeface="NanumGothic"/>
              </a:rPr>
              <a:t>GitHub · Excel · Word · PowerPoint</a:t>
            </a:r>
          </a:p>
        </p:txBody>
      </p:sp>
      <p:sp>
        <p:nvSpPr>
          <p:cNvPr id="5" name="">
            <a:extLst xmlns:a="http://schemas.openxmlformats.org/drawingml/2006/main">
              <a:ext uri="{FF2B5EF4-FFF2-40B4-BE49-F238E27FC236}">
                <a16:creationId xmlns:a16="http://schemas.microsoft.com/office/drawing/2014/main" id="{3BBBBF49-8402-487E-A3DA-888A2155365D}"/>
              </a:ext>
            </a:extLst>
          </p:cNvPr>
          <p:cNvSpPr>
            <a:spLocks xmlns:a="http://schemas.openxmlformats.org/drawingml/2006/main" noGrp="1"/>
          </p:cNvSpPr>
          <p:nvPr/>
        </p:nvSpPr>
        <p:spPr>
          <a:xfrm xmlns:a="http://schemas.openxmlformats.org/drawingml/2006/main">
            <a:off x="609600" y="5695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FFFFFF"/>
                </a:solidFill>
                <a:latin typeface="NanumGothic"/>
                <a:ea typeface="NanumGothic"/>
                <a:cs typeface="NanumGothic"/>
              </a:defRPr>
            </a:pPr>
            <a:r>
              <a:rPr sz="1950" b="0">
                <a:solidFill>
                  <a:srgbClr val="FFFFFF"/>
                </a:solidFill>
                <a:latin typeface="NanumGothic"/>
                <a:ea typeface="NanumGothic"/>
                <a:cs typeface="NanumGothic"/>
              </a:rPr>
              <a:t>차성재 · Agentic AI PM / AI 겸임교수</a:t>
            </a:r>
          </a:p>
        </p:txBody>
      </p:sp>
      <p:sp>
        <p:nvSpPr>
          <p:cNvPr id="6" name="">
            <a:extLst xmlns:a="http://schemas.openxmlformats.org/drawingml/2006/main">
              <a:ext uri="{FF2B5EF4-FFF2-40B4-BE49-F238E27FC236}">
                <a16:creationId xmlns:a16="http://schemas.microsoft.com/office/drawing/2014/main" id="{4D313CA7-124B-4387-B912-69E137397CF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7" name="">
            <a:extLst xmlns:a="http://schemas.openxmlformats.org/drawingml/2006/main">
              <a:ext uri="{FF2B5EF4-FFF2-40B4-BE49-F238E27FC236}">
                <a16:creationId xmlns:a16="http://schemas.microsoft.com/office/drawing/2014/main" id="{5815B01B-3376-4494-90E4-770E347CC75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8" name="">
            <a:extLst xmlns:a="http://schemas.openxmlformats.org/drawingml/2006/main">
              <a:ext uri="{FF2B5EF4-FFF2-40B4-BE49-F238E27FC236}">
                <a16:creationId xmlns:a16="http://schemas.microsoft.com/office/drawing/2014/main" id="{37C875E6-1051-4E26-8C7E-3B2C49D0260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001</a:t>
            </a:r>
          </a:p>
        </p:txBody>
      </p:sp>
    </p:spTree>
    <p:extLst>
      <p:ext uri="{BB962C8B-B14F-4D97-AF65-F5344CB8AC3E}">
        <p14:creationId xmlns:p14="http://schemas.microsoft.com/office/powerpoint/2010/main" val="4231564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2891E5-1391-4320-9786-29B586B5C04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  이론</a:t>
            </a:r>
          </a:p>
        </p:txBody>
      </p:sp>
      <p:sp>
        <p:nvSpPr>
          <p:cNvPr id="2" name="">
            <a:extLst xmlns:a="http://schemas.openxmlformats.org/drawingml/2006/main">
              <a:ext uri="{FF2B5EF4-FFF2-40B4-BE49-F238E27FC236}">
                <a16:creationId xmlns:a16="http://schemas.microsoft.com/office/drawing/2014/main" id="{AE2BD429-DCBD-45A1-8FBD-306D0D802D3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4주차 학습 경로</a:t>
            </a:r>
          </a:p>
        </p:txBody>
      </p:sp>
      <p:sp>
        <p:nvSpPr>
          <p:cNvPr id="3" name="">
            <a:extLst xmlns:a="http://schemas.openxmlformats.org/drawingml/2006/main">
              <a:ext uri="{FF2B5EF4-FFF2-40B4-BE49-F238E27FC236}">
                <a16:creationId xmlns:a16="http://schemas.microsoft.com/office/drawing/2014/main" id="{C05C654F-0DFC-4D0E-9AD8-5A3C3A83E32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06017FE-0844-4F89-9044-2EDD89276AF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7745B45-FBD5-4D3A-B91E-B3C11305E50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002</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앞선 수업</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오늘의 확장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다음 주</a:t>
                      </a:r>
                    </a:p>
                  </a:txBody>
                  <a:tcPr marL="142875" marR="133350" marT="95250" marB="95250" anchor="ctr">
                    <a:solidFill>
                      <a:srgbClr val="161616"/>
                    </a:solidFill>
                  </a:tcPr>
                </a:tc>
              </a:tr>
              <a:tr h="1885950">
                <a:tc>
                  <a:txBody>
                    <a:bodyPr wrap="square">
                      <a:noAutofit/>
                    </a:bodyPr>
                    <a:lstStyle/>
                    <a:p>
                      <a:pPr algn="l">
                        <a:lnSpc>
                          <a:spcPct val="105000"/>
                        </a:lnSpc>
                        <a:buNone/>
                      </a:pPr>
                      <a:r>
                        <a:rPr sz="1950" b="1">
                          <a:solidFill>
                            <a:srgbClr val="161616"/>
                          </a:solidFill>
                          <a:latin typeface="NanumGothic"/>
                          <a:ea typeface="NanumGothic"/>
                          <a:cs typeface="NanumGothic"/>
                        </a:rPr>
                        <a:t>1·2주차</a:t>
                      </a:r>
                    </a:p>
                    <a:p>
                      <a:pPr algn="l">
                        <a:lnSpc>
                          <a:spcPct val="105000"/>
                        </a:lnSpc>
                        <a:buNone/>
                      </a:pPr>
                      <a:r>
                        <a:rPr sz="1950" b="1">
                          <a:solidFill>
                            <a:srgbClr val="161616"/>
                          </a:solidFill>
                          <a:latin typeface="NanumGothic"/>
                          <a:ea typeface="NanumGothic"/>
                          <a:cs typeface="NanumGothic"/>
                        </a:rPr>
                        <a:t>도구 호출·회의 기록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검증 가능한 입력과 파일</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업무 서비스 통합</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3주차</a:t>
                      </a:r>
                    </a:p>
                    <a:p>
                      <a:pPr algn="l">
                        <a:lnSpc>
                          <a:spcPct val="105000"/>
                        </a:lnSpc>
                        <a:buNone/>
                      </a:pPr>
                      <a:r>
                        <a:rPr sz="1950" b="1">
                          <a:solidFill>
                            <a:srgbClr val="161616"/>
                          </a:solidFill>
                          <a:latin typeface="NanumGothic"/>
                          <a:ea typeface="NanumGothic"/>
                          <a:cs typeface="NanumGothic"/>
                        </a:rPr>
                        <a:t>코드 리뷰 Agent</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PR 연동·테스트·사람 확인</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개인 기능 개선</a:t>
                      </a:r>
                    </a:p>
                  </a:txBody>
                  <a:tcPr marL="142875" marR="133350" marT="95250" marB="95250" anchor="ctr">
                    <a:solidFill>
                      <a:srgbClr val="F2F3F4"/>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문서 활용 경험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수식·템플릿·생성 코드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3시간 개인 미니 프로젝트</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961799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21A423-2A99-464B-8672-7A7329211FB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  이론</a:t>
            </a:r>
          </a:p>
        </p:txBody>
      </p:sp>
      <p:sp>
        <p:nvSpPr>
          <p:cNvPr id="2" name="">
            <a:extLst xmlns:a="http://schemas.openxmlformats.org/drawingml/2006/main">
              <a:ext uri="{FF2B5EF4-FFF2-40B4-BE49-F238E27FC236}">
                <a16:creationId xmlns:a16="http://schemas.microsoft.com/office/drawing/2014/main" id="{F976043A-CE8E-4C3E-89C5-086148DA2A0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하루 시간표</a:t>
            </a:r>
          </a:p>
        </p:txBody>
      </p:sp>
      <p:sp>
        <p:nvSpPr>
          <p:cNvPr id="3" name="">
            <a:extLst xmlns:a="http://schemas.openxmlformats.org/drawingml/2006/main">
              <a:ext uri="{FF2B5EF4-FFF2-40B4-BE49-F238E27FC236}">
                <a16:creationId xmlns:a16="http://schemas.microsoft.com/office/drawing/2014/main" id="{B8CFF24F-7C16-4C27-A87A-C5B0D117806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373FC12-42D3-4753-A157-4D3BFE40FC2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8C6DE5F-ACDA-4DE2-BFDF-E01D9E8DFBE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048000"/>
                <a:gridCol w="2286000"/>
                <a:gridCol w="5638800"/>
              </a:tblGrid>
              <a:tr h="800100">
                <a:tc>
                  <a:txBody>
                    <a:bodyPr wrap="square">
                      <a:noAutofit/>
                    </a:bodyPr>
                    <a:lstStyle/>
                    <a:p>
                      <a:pPr algn="l">
                        <a:lnSpc>
                          <a:spcPct val="105000"/>
                        </a:lnSpc>
                        <a:buNone/>
                      </a:pPr>
                      <a:r>
                        <a:rPr sz="1950" b="1">
                          <a:solidFill>
                            <a:srgbClr val="FFFFFF"/>
                          </a:solidFill>
                          <a:latin typeface="NanumGothic"/>
                          <a:ea typeface="NanumGothic"/>
                          <a:cs typeface="NanumGothic"/>
                        </a:rPr>
                        <a:t>수업 시간</a:t>
                      </a:r>
                    </a:p>
                    <a:p>
                      <a:pPr algn="l">
                        <a:lnSpc>
                          <a:spcPct val="105000"/>
                        </a:lnSpc>
                        <a:buNone/>
                      </a:pPr>
                      <a:r>
                        <a:rPr sz="1950" b="1">
                          <a:solidFill>
                            <a:srgbClr val="FFFFFF"/>
                          </a:solidFill>
                          <a:latin typeface="NanumGothic"/>
                          <a:ea typeface="NanumGothic"/>
                          <a:cs typeface="NanumGothic"/>
                        </a:rPr>
                        <a:t>(쉬는 시간)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차시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함께 챙길 내용</a:t>
                      </a:r>
                    </a:p>
                  </a:txBody>
                  <a:tcPr marL="142875" marR="133350" marT="95250" marB="95250" anchor="ctr">
                    <a:solidFill>
                      <a:srgbClr val="161616"/>
                    </a:solidFill>
                  </a:tcPr>
                </a:tc>
              </a:tr>
              <a:tr h="1017814">
                <a:tc>
                  <a:txBody>
                    <a:bodyPr wrap="square">
                      <a:noAutofit/>
                    </a:bodyPr>
                    <a:lstStyle/>
                    <a:p>
                      <a:pPr algn="l">
                        <a:lnSpc>
                          <a:spcPct val="105000"/>
                        </a:lnSpc>
                        <a:buNone/>
                      </a:pPr>
                      <a:r>
                        <a:rPr sz="1950" b="1">
                          <a:solidFill>
                            <a:srgbClr val="161616"/>
                          </a:solidFill>
                          <a:latin typeface="NanumGothic"/>
                          <a:ea typeface="NanumGothic"/>
                          <a:cs typeface="NanumGothic"/>
                        </a:rPr>
                        <a:t>09:00–12:00</a:t>
                      </a:r>
                    </a:p>
                    <a:p>
                      <a:pPr algn="l">
                        <a:lnSpc>
                          <a:spcPct val="105000"/>
                        </a:lnSpc>
                        <a:buNone/>
                      </a:pPr>
                      <a:r>
                        <a:rPr sz="1950" b="1">
                          <a:solidFill>
                            <a:srgbClr val="161616"/>
                          </a:solidFill>
                          <a:latin typeface="NanumGothic"/>
                          <a:ea typeface="NanumGothic"/>
                          <a:cs typeface="NanumGothic"/>
                        </a:rPr>
                        <a:t>(11:30–12:00)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1·2·3차시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PR 대상·리뷰·테스트</a:t>
                      </a:r>
                    </a:p>
                  </a:txBody>
                  <a:tcPr marL="142875" marR="133350" marT="95250" marB="95250" anchor="ctr">
                    <a:solidFill>
                      <a:srgbClr val="FFFFFF"/>
                    </a:solidFill>
                  </a:tcPr>
                </a:tc>
              </a:tr>
              <a:tr h="508907">
                <a:tc>
                  <a:txBody>
                    <a:bodyPr wrap="square">
                      <a:noAutofit/>
                    </a:bodyPr>
                    <a:lstStyle/>
                    <a:p>
                      <a:pPr algn="l">
                        <a:lnSpc>
                          <a:spcPct val="105000"/>
                        </a:lnSpc>
                        <a:buNone/>
                      </a:pPr>
                      <a:r>
                        <a:rPr sz="1950" b="1">
                          <a:solidFill>
                            <a:srgbClr val="161616"/>
                          </a:solidFill>
                          <a:latin typeface="NanumGothic"/>
                          <a:ea typeface="NanumGothic"/>
                          <a:cs typeface="NanumGothic"/>
                        </a:rPr>
                        <a:t>12:00–13:00</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점심시간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13시 수업 시작</a:t>
                      </a:r>
                    </a:p>
                  </a:txBody>
                  <a:tcPr marL="142875" marR="133350" marT="95250" marB="95250" anchor="ctr">
                    <a:solidFill>
                      <a:srgbClr val="F2F3F4"/>
                    </a:solidFill>
                  </a:tcPr>
                </a:tc>
              </a:tr>
              <a:tr h="1017814">
                <a:tc>
                  <a:txBody>
                    <a:bodyPr wrap="square">
                      <a:noAutofit/>
                    </a:bodyPr>
                    <a:lstStyle/>
                    <a:p>
                      <a:pPr algn="l">
                        <a:lnSpc>
                          <a:spcPct val="105000"/>
                        </a:lnSpc>
                        <a:buNone/>
                      </a:pPr>
                      <a:r>
                        <a:rPr sz="1950" b="1">
                          <a:solidFill>
                            <a:srgbClr val="161616"/>
                          </a:solidFill>
                          <a:latin typeface="NanumGothic"/>
                          <a:ea typeface="NanumGothic"/>
                          <a:cs typeface="NanumGothic"/>
                        </a:rPr>
                        <a:t>13:00–15:00</a:t>
                      </a:r>
                    </a:p>
                    <a:p>
                      <a:pPr algn="l">
                        <a:lnSpc>
                          <a:spcPct val="105000"/>
                        </a:lnSpc>
                        <a:buNone/>
                      </a:pPr>
                      <a:r>
                        <a:rPr sz="1950" b="1">
                          <a:solidFill>
                            <a:srgbClr val="161616"/>
                          </a:solidFill>
                          <a:latin typeface="NanumGothic"/>
                          <a:ea typeface="NanumGothic"/>
                          <a:cs typeface="NanumGothic"/>
                        </a:rPr>
                        <a:t>(14:40–15:00)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4·5차시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WBS·자동 채점</a:t>
                      </a:r>
                    </a:p>
                  </a:txBody>
                  <a:tcPr marL="142875" marR="133350" marT="95250" marB="95250" anchor="ctr">
                    <a:solidFill>
                      <a:srgbClr val="FFFFFF"/>
                    </a:solidFill>
                  </a:tcPr>
                </a:tc>
              </a:tr>
              <a:tr h="1017814">
                <a:tc>
                  <a:txBody>
                    <a:bodyPr wrap="square">
                      <a:noAutofit/>
                    </a:bodyPr>
                    <a:lstStyle/>
                    <a:p>
                      <a:pPr algn="l">
                        <a:lnSpc>
                          <a:spcPct val="105000"/>
                        </a:lnSpc>
                        <a:buNone/>
                      </a:pPr>
                      <a:r>
                        <a:rPr sz="1950" b="1">
                          <a:solidFill>
                            <a:srgbClr val="161616"/>
                          </a:solidFill>
                          <a:latin typeface="NanumGothic"/>
                          <a:ea typeface="NanumGothic"/>
                          <a:cs typeface="NanumGothic"/>
                        </a:rPr>
                        <a:t>15:00–18:00</a:t>
                      </a:r>
                    </a:p>
                    <a:p>
                      <a:pPr algn="l">
                        <a:lnSpc>
                          <a:spcPct val="105000"/>
                        </a:lnSpc>
                        <a:buNone/>
                      </a:pPr>
                      <a:r>
                        <a:rPr sz="1950" b="1">
                          <a:solidFill>
                            <a:srgbClr val="161616"/>
                          </a:solidFill>
                          <a:latin typeface="NanumGothic"/>
                          <a:ea typeface="NanumGothic"/>
                          <a:cs typeface="NanumGothic"/>
                        </a:rPr>
                        <a:t>(17:30–18:00)</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6·7·8차시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Word·PPT·통합</a:t>
                      </a:r>
                    </a:p>
                    <a:p>
                      <a:pPr algn="l">
                        <a:lnSpc>
                          <a:spcPct val="105000"/>
                        </a:lnSpc>
                        <a:buNone/>
                      </a:pPr>
                      <a:r>
                        <a:rPr sz="1950" b="0">
                          <a:solidFill>
                            <a:srgbClr val="161616"/>
                          </a:solidFill>
                          <a:latin typeface="NanumGothic"/>
                          <a:ea typeface="NanumGothic"/>
                          <a:cs typeface="NanumGothic"/>
                        </a:rPr>
                        <a:t>마지막 30분: 휴식·Q&amp;A</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3268987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7EBC58-B263-4945-A29A-00FD0B9204F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  이론</a:t>
            </a:r>
          </a:p>
        </p:txBody>
      </p:sp>
      <p:sp>
        <p:nvSpPr>
          <p:cNvPr id="2" name="">
            <a:extLst xmlns:a="http://schemas.openxmlformats.org/drawingml/2006/main">
              <a:ext uri="{FF2B5EF4-FFF2-40B4-BE49-F238E27FC236}">
                <a16:creationId xmlns:a16="http://schemas.microsoft.com/office/drawing/2014/main" id="{3AAC2C9D-6FCD-4B20-BE68-089B4B3CB40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실습 환경</a:t>
            </a:r>
          </a:p>
        </p:txBody>
      </p:sp>
      <p:sp>
        <p:nvSpPr>
          <p:cNvPr id="3" name="">
            <a:extLst xmlns:a="http://schemas.openxmlformats.org/drawingml/2006/main">
              <a:ext uri="{FF2B5EF4-FFF2-40B4-BE49-F238E27FC236}">
                <a16:creationId xmlns:a16="http://schemas.microsoft.com/office/drawing/2014/main" id="{3834DAF1-DEA9-49BB-8DBC-C222D436399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5D83D23-8FD5-4E1A-813E-3DDFC4AF2BA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9B31238-7370-408A-BD37-8F09CB85AD9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필수 준비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선택 연결</a:t>
                      </a:r>
                    </a:p>
                  </a:txBody>
                  <a:tcPr marL="142875" marR="133350" marT="95250" marB="95250" anchor="ctr">
                    <a:solidFill>
                      <a:srgbClr val="161616"/>
                    </a:solidFill>
                  </a:tcPr>
                </a:tc>
              </a:tr>
              <a:tr h="1077686">
                <a:tc>
                  <a:txBody>
                    <a:bodyPr wrap="square">
                      <a:noAutofit/>
                    </a:bodyPr>
                    <a:lstStyle/>
                    <a:p>
                      <a:pPr algn="l">
                        <a:lnSpc>
                          <a:spcPct val="105000"/>
                        </a:lnSpc>
                        <a:buNone/>
                      </a:pPr>
                      <a:r>
                        <a:rPr sz="1950" b="1">
                          <a:solidFill>
                            <a:srgbClr val="161616"/>
                          </a:solidFill>
                          <a:latin typeface="NanumGothic"/>
                          <a:ea typeface="NanumGothic"/>
                          <a:cs typeface="NanumGothic"/>
                        </a:rPr>
                        <a:t>Python 3.12·VS Code</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Notebook 커널 선택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Codex 로컬 프로젝트</a:t>
                      </a:r>
                    </a:p>
                  </a:txBody>
                  <a:tcPr marL="142875" marR="133350" marT="95250" marB="95250" anchor="ctr">
                    <a:solidFill>
                      <a:srgbClr val="FFFFFF"/>
                    </a:solidFill>
                  </a:tcPr>
                </a:tc>
              </a:tr>
              <a:tr h="1077686">
                <a:tc>
                  <a:txBody>
                    <a:bodyPr wrap="square">
                      <a:noAutofit/>
                    </a:bodyPr>
                    <a:lstStyle/>
                    <a:p>
                      <a:pPr algn="l">
                        <a:lnSpc>
                          <a:spcPct val="105000"/>
                        </a:lnSpc>
                        <a:buNone/>
                      </a:pPr>
                      <a:r>
                        <a:rPr sz="1950" b="1">
                          <a:solidFill>
                            <a:srgbClr val="161616"/>
                          </a:solidFill>
                          <a:latin typeface="NanumGothic"/>
                          <a:ea typeface="NanumGothic"/>
                          <a:cs typeface="NanumGothic"/>
                        </a:rPr>
                        <a:t>제공 저장소 또는 ZIP</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requirements-day4.txt 설치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Claude Code 로컬 폴더</a:t>
                      </a:r>
                    </a:p>
                  </a:txBody>
                  <a:tcPr marL="142875" marR="133350" marT="95250" marB="95250" anchor="ctr">
                    <a:solidFill>
                      <a:srgbClr val="F2F3F4"/>
                    </a:solidFill>
                  </a:tcPr>
                </a:tc>
              </a:tr>
              <a:tr h="1077686">
                <a:tc>
                  <a:txBody>
                    <a:bodyPr wrap="square">
                      <a:noAutofit/>
                    </a:bodyPr>
                    <a:lstStyle/>
                    <a:p>
                      <a:pPr algn="l">
                        <a:lnSpc>
                          <a:spcPct val="105000"/>
                        </a:lnSpc>
                        <a:buNone/>
                      </a:pPr>
                      <a:r>
                        <a:rPr sz="1950" b="1">
                          <a:solidFill>
                            <a:srgbClr val="161616"/>
                          </a:solidFill>
                          <a:latin typeface="NanumGothic"/>
                          <a:ea typeface="NanumGothic"/>
                          <a:cs typeface="NanumGothic"/>
                        </a:rPr>
                        <a:t>파일을 열 수 있는 도구</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XLSX·DOCX·PPTX·브라우저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개인 GitHub·Google 계정</a:t>
                      </a:r>
                    </a:p>
                  </a:txBody>
                  <a:tcPr marL="142875" marR="133350" marT="95250" marB="95250" anchor="ctr">
                    <a:solidFill>
                      <a:srgbClr val="FFFFFF"/>
                    </a:solidFill>
                  </a:tcPr>
                </a:tc>
              </a:tr>
              <a:tr h="538843">
                <a:tc>
                  <a:txBody>
                    <a:bodyPr wrap="square">
                      <a:noAutofit/>
                    </a:bodyPr>
                    <a:lstStyle/>
                    <a:p>
                      <a:pPr algn="l">
                        <a:lnSpc>
                          <a:spcPct val="105000"/>
                        </a:lnSpc>
                        <a:buNone/>
                      </a:pPr>
                      <a:r>
                        <a:rPr sz="1950" b="1">
                          <a:solidFill>
                            <a:srgbClr val="161616"/>
                          </a:solidFill>
                          <a:latin typeface="NanumGothic"/>
                          <a:ea typeface="NanumGothic"/>
                          <a:cs typeface="NanumGothic"/>
                        </a:rPr>
                        <a:t>합성 데이터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실제 고객·성적·키 미포함</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계정 제한 시 로컬 경로</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5291690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97CDDD-13A6-4614-874E-4DB05B921A9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  시연</a:t>
            </a:r>
          </a:p>
        </p:txBody>
      </p:sp>
      <p:sp>
        <p:nvSpPr>
          <p:cNvPr id="2" name="">
            <a:extLst xmlns:a="http://schemas.openxmlformats.org/drawingml/2006/main">
              <a:ext uri="{FF2B5EF4-FFF2-40B4-BE49-F238E27FC236}">
                <a16:creationId xmlns:a16="http://schemas.microsoft.com/office/drawing/2014/main" id="{3AC08124-0F77-4ABE-B148-AAA45EE6F2D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Notebook 시작</a:t>
            </a:r>
          </a:p>
        </p:txBody>
      </p:sp>
      <p:sp>
        <p:nvSpPr>
          <p:cNvPr id="3" name="">
            <a:extLst xmlns:a="http://schemas.openxmlformats.org/drawingml/2006/main">
              <a:ext uri="{FF2B5EF4-FFF2-40B4-BE49-F238E27FC236}">
                <a16:creationId xmlns:a16="http://schemas.microsoft.com/office/drawing/2014/main" id="{49AE2B4F-8BA2-4707-88EB-51CF8DD2227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263A5CE5-21F9-4ED5-BA96-CC0F04761C7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16157D1-B8DB-42FB-9EF9-6A511D2D872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005</a:t>
            </a:r>
          </a:p>
        </p:txBody>
      </p:sp>
      <p:sp>
        <p:nvSpPr>
          <p:cNvPr id="6" name="">
            <a:extLst xmlns:a="http://schemas.openxmlformats.org/drawingml/2006/main">
              <a:ext uri="{FF2B5EF4-FFF2-40B4-BE49-F238E27FC236}">
                <a16:creationId xmlns:a16="http://schemas.microsoft.com/office/drawing/2014/main" id="{6AB1526A-243E-4B29-954D-E89E5B8A7394}"/>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66349B-217A-401F-BB1F-DF059533F568}"/>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python -m pip install -r requirements-day4.txt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python -m jupyter lab</a:t>
            </a:r>
          </a:p>
        </p:txBody>
      </p:sp>
      <p:sp>
        <p:nvSpPr>
          <p:cNvPr id="8" name="">
            <a:extLst xmlns:a="http://schemas.openxmlformats.org/drawingml/2006/main">
              <a:ext uri="{FF2B5EF4-FFF2-40B4-BE49-F238E27FC236}">
                <a16:creationId xmlns:a16="http://schemas.microsoft.com/office/drawing/2014/main" id="{337AA5AE-808B-4C0E-9673-B1E65EF7BDC1}"/>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materials/day4/day4_pr_document_automation.ipynb</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추가 코드는 해당 차시에 새 코드 셀로 실행</a:t>
            </a:r>
          </a:p>
        </p:txBody>
      </p:sp>
    </p:spTree>
    <p:extLst>
      <p:ext uri="{BB962C8B-B14F-4D97-AF65-F5344CB8AC3E}">
        <p14:creationId xmlns:p14="http://schemas.microsoft.com/office/powerpoint/2010/main" val="1324070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94EE56-A052-4FA6-AD3E-EB45E840B31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  이론</a:t>
            </a:r>
          </a:p>
        </p:txBody>
      </p:sp>
      <p:sp>
        <p:nvSpPr>
          <p:cNvPr id="2" name="">
            <a:extLst xmlns:a="http://schemas.openxmlformats.org/drawingml/2006/main">
              <a:ext uri="{FF2B5EF4-FFF2-40B4-BE49-F238E27FC236}">
                <a16:creationId xmlns:a16="http://schemas.microsoft.com/office/drawing/2014/main" id="{E5DEAB77-1FDA-4884-9C4D-F25B215911E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도구별 작업 공간</a:t>
            </a:r>
          </a:p>
        </p:txBody>
      </p:sp>
      <p:sp>
        <p:nvSpPr>
          <p:cNvPr id="3" name="">
            <a:extLst xmlns:a="http://schemas.openxmlformats.org/drawingml/2006/main">
              <a:ext uri="{FF2B5EF4-FFF2-40B4-BE49-F238E27FC236}">
                <a16:creationId xmlns:a16="http://schemas.microsoft.com/office/drawing/2014/main" id="{392C76BB-95C9-4ADD-BC09-D2642BA85FB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5FD4EE3-E350-4868-B35E-8834982FEFF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E386116-FAF0-4708-8E80-EED9ADE714D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도구</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작업 방식</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이번 수업의 용도</a:t>
                      </a:r>
                    </a:p>
                  </a:txBody>
                  <a:tcPr marL="142875" marR="133350" marT="95250" marB="95250" anchor="ctr">
                    <a:solidFill>
                      <a:srgbClr val="161616"/>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Codex 로컬 프로젝트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폴더·코드·터미널·diff</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함수 수정과 테스트 실행</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Claude Code 로컬 환경</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허용한 폴더의 파일·명령</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동일 과제의 다른 구현</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ChatGPT·Claude 대화</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첨부한 파일·사용 가능 도구</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문장·문서 초안과 비교</a:t>
                      </a:r>
                    </a:p>
                  </a:txBody>
                  <a:tcPr marL="142875" marR="133350" marT="95250" marB="95250" anchor="ctr">
                    <a:solidFill>
                      <a:srgbClr val="FFFFFF"/>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Python·Node 코드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정해진 입력과 규칙</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계산·반복 생성·자동 검사</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4410636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276B13A-6203-4B6C-80EC-30A660BAF81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  수업 안내</a:t>
            </a:r>
          </a:p>
        </p:txBody>
      </p:sp>
      <p:sp>
        <p:nvSpPr>
          <p:cNvPr id="2" name="">
            <a:extLst xmlns:a="http://schemas.openxmlformats.org/drawingml/2006/main">
              <a:ext uri="{FF2B5EF4-FFF2-40B4-BE49-F238E27FC236}">
                <a16:creationId xmlns:a16="http://schemas.microsoft.com/office/drawing/2014/main" id="{FB4DF641-CA48-4AE9-9820-2EB825E211A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입력에서 결과 파일까지</a:t>
            </a:r>
          </a:p>
        </p:txBody>
      </p:sp>
      <p:sp>
        <p:nvSpPr>
          <p:cNvPr id="3" name="">
            <a:extLst xmlns:a="http://schemas.openxmlformats.org/drawingml/2006/main">
              <a:ext uri="{FF2B5EF4-FFF2-40B4-BE49-F238E27FC236}">
                <a16:creationId xmlns:a16="http://schemas.microsoft.com/office/drawing/2014/main" id="{2F8314A9-8C4B-43CC-8A69-C7D9F440F76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0744EC6-F421-4407-83C6-E3651EB5B0B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0C07D02-C540-45A4-82F5-BC900CE00D7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007</a:t>
            </a:r>
          </a:p>
        </p:txBody>
      </p:sp>
      <p:sp>
        <p:nvSpPr>
          <p:cNvPr id="6" name="">
            <a:extLst xmlns:a="http://schemas.openxmlformats.org/drawingml/2006/main">
              <a:ext uri="{FF2B5EF4-FFF2-40B4-BE49-F238E27FC236}">
                <a16:creationId xmlns:a16="http://schemas.microsoft.com/office/drawing/2014/main" id="{B6D26DE5-E1B4-46BA-A668-34CDC113A18F}"/>
              </a:ext>
            </a:extLst>
          </p:cNvPr>
          <p:cNvSpPr>
            <a:spLocks xmlns:a="http://schemas.openxmlformats.org/drawingml/2006/main" noGrp="1"/>
          </p:cNvSpPr>
          <p:nvPr/>
        </p:nvSpPr>
        <p:spPr>
          <a:xfrm xmlns:a="http://schemas.openxmlformats.org/drawingml/2006/main">
            <a:off x="609600" y="1857375"/>
            <a:ext cx="3467100" cy="828675"/>
          </a:xfrm>
          <a:prstGeom xmlns:a="http://schemas.openxmlformats.org/drawingml/2006/main" prst="rect">
            <a:avLst/>
          </a:prstGeom>
          <a:solidFill xmlns:a="http://schemas.openxmlformats.org/drawingml/2006/main">
            <a:srgbClr val="FFFFFF"/>
          </a:solidFill>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5096621A-FCCE-47BE-82CD-7BA349A5D9CE}"/>
              </a:ext>
            </a:extLst>
          </p:cNvPr>
          <p:cNvSpPr>
            <a:spLocks xmlns:a="http://schemas.openxmlformats.org/drawingml/2006/main" noGrp="1"/>
          </p:cNvSpPr>
          <p:nvPr/>
        </p:nvSpPr>
        <p:spPr>
          <a:xfrm xmlns:a="http://schemas.openxmlformats.org/drawingml/2006/main">
            <a:off x="781050" y="210502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0">
                <a:solidFill>
                  <a:srgbClr val="161616"/>
                </a:solidFill>
                <a:latin typeface="NanumGothic"/>
                <a:ea typeface="NanumGothic"/>
                <a:cs typeface="NanumGothic"/>
              </a:defRPr>
            </a:pPr>
            <a:r>
              <a:rPr sz="2100" b="0">
                <a:solidFill>
                  <a:srgbClr val="161616"/>
                </a:solidFill>
                <a:latin typeface="NanumGothic"/>
                <a:ea typeface="NanumGothic"/>
                <a:cs typeface="NanumGothic"/>
              </a:rPr>
              <a:t>PR diff·제품 규칙</a:t>
            </a:r>
          </a:p>
        </p:txBody>
      </p:sp>
      <p:sp>
        <p:nvSpPr>
          <p:cNvPr id="8" name="">
            <a:extLst xmlns:a="http://schemas.openxmlformats.org/drawingml/2006/main">
              <a:ext uri="{FF2B5EF4-FFF2-40B4-BE49-F238E27FC236}">
                <a16:creationId xmlns:a16="http://schemas.microsoft.com/office/drawing/2014/main" id="{CD37C0F1-8548-4437-8B5A-1B064DE0DA5E}"/>
              </a:ext>
            </a:extLst>
          </p:cNvPr>
          <p:cNvSpPr>
            <a:spLocks xmlns:a="http://schemas.openxmlformats.org/drawingml/2006/main" noGrp="1"/>
          </p:cNvSpPr>
          <p:nvPr/>
        </p:nvSpPr>
        <p:spPr>
          <a:xfrm xmlns:a="http://schemas.openxmlformats.org/drawingml/2006/main">
            <a:off x="609600" y="3267075"/>
            <a:ext cx="3467100" cy="828675"/>
          </a:xfrm>
          <a:prstGeom xmlns:a="http://schemas.openxmlformats.org/drawingml/2006/main" prst="rect">
            <a:avLst/>
          </a:prstGeom>
          <a:solidFill xmlns:a="http://schemas.openxmlformats.org/drawingml/2006/main">
            <a:srgbClr val="F2F3F4"/>
          </a:solidFill>
          <a:ln xmlns:a="http://schemas.openxmlformats.org/drawingml/2006/main" w="9525">
            <a:solidFill>
              <a:srgbClr val="161616"/>
            </a:solidFill>
          </a:ln>
        </p:spPr>
      </p:sp>
      <p:sp>
        <p:nvSpPr>
          <p:cNvPr id="9" name="">
            <a:extLst xmlns:a="http://schemas.openxmlformats.org/drawingml/2006/main">
              <a:ext uri="{FF2B5EF4-FFF2-40B4-BE49-F238E27FC236}">
                <a16:creationId xmlns:a16="http://schemas.microsoft.com/office/drawing/2014/main" id="{51871888-458B-4D6B-A05D-9FAA73014270}"/>
              </a:ext>
            </a:extLst>
          </p:cNvPr>
          <p:cNvSpPr>
            <a:spLocks xmlns:a="http://schemas.openxmlformats.org/drawingml/2006/main" noGrp="1"/>
          </p:cNvSpPr>
          <p:nvPr/>
        </p:nvSpPr>
        <p:spPr>
          <a:xfrm xmlns:a="http://schemas.openxmlformats.org/drawingml/2006/main">
            <a:off x="781050" y="351472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0">
                <a:solidFill>
                  <a:srgbClr val="161616"/>
                </a:solidFill>
                <a:latin typeface="NanumGothic"/>
                <a:ea typeface="NanumGothic"/>
                <a:cs typeface="NanumGothic"/>
              </a:defRPr>
            </a:pPr>
            <a:r>
              <a:rPr sz="2100" b="0">
                <a:solidFill>
                  <a:srgbClr val="161616"/>
                </a:solidFill>
                <a:latin typeface="NanumGothic"/>
                <a:ea typeface="NanumGothic"/>
                <a:cs typeface="NanumGothic"/>
              </a:rPr>
              <a:t>Codex 리뷰 + 테스트</a:t>
            </a:r>
          </a:p>
        </p:txBody>
      </p:sp>
      <p:sp>
        <p:nvSpPr>
          <p:cNvPr id="10" name="">
            <a:extLst xmlns:a="http://schemas.openxmlformats.org/drawingml/2006/main">
              <a:ext uri="{FF2B5EF4-FFF2-40B4-BE49-F238E27FC236}">
                <a16:creationId xmlns:a16="http://schemas.microsoft.com/office/drawing/2014/main" id="{1BCD0667-FE67-48AF-9CFC-24277E56CAC3}"/>
              </a:ext>
            </a:extLst>
          </p:cNvPr>
          <p:cNvSpPr>
            <a:spLocks xmlns:a="http://schemas.openxmlformats.org/drawingml/2006/main" noGrp="1"/>
          </p:cNvSpPr>
          <p:nvPr/>
        </p:nvSpPr>
        <p:spPr>
          <a:xfrm xmlns:a="http://schemas.openxmlformats.org/drawingml/2006/main">
            <a:off x="609600" y="5229225"/>
            <a:ext cx="3467100" cy="828675"/>
          </a:xfrm>
          <a:prstGeom xmlns:a="http://schemas.openxmlformats.org/drawingml/2006/main" prst="rect">
            <a:avLst/>
          </a:prstGeom>
          <a:solidFill xmlns:a="http://schemas.openxmlformats.org/drawingml/2006/main">
            <a:srgbClr val="FFFFFF"/>
          </a:solidFill>
          <a:ln xmlns:a="http://schemas.openxmlformats.org/drawingml/2006/main" w="9525">
            <a:solidFill>
              <a:srgbClr val="161616"/>
            </a:solidFill>
          </a:ln>
        </p:spPr>
      </p:sp>
      <p:sp>
        <p:nvSpPr>
          <p:cNvPr id="11" name="">
            <a:extLst xmlns:a="http://schemas.openxmlformats.org/drawingml/2006/main">
              <a:ext uri="{FF2B5EF4-FFF2-40B4-BE49-F238E27FC236}">
                <a16:creationId xmlns:a16="http://schemas.microsoft.com/office/drawing/2014/main" id="{5E7C0C83-A671-4C12-93B8-A842224F177D}"/>
              </a:ext>
            </a:extLst>
          </p:cNvPr>
          <p:cNvSpPr>
            <a:spLocks xmlns:a="http://schemas.openxmlformats.org/drawingml/2006/main" noGrp="1"/>
          </p:cNvSpPr>
          <p:nvPr/>
        </p:nvSpPr>
        <p:spPr>
          <a:xfrm xmlns:a="http://schemas.openxmlformats.org/drawingml/2006/main">
            <a:off x="781050" y="547687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Markdown·HTML</a:t>
            </a:r>
          </a:p>
        </p:txBody>
      </p:sp>
      <p:sp>
        <p:nvSpPr>
          <p:cNvPr id="12" name="">
            <a:extLst xmlns:a="http://schemas.openxmlformats.org/drawingml/2006/main">
              <a:ext uri="{FF2B5EF4-FFF2-40B4-BE49-F238E27FC236}">
                <a16:creationId xmlns:a16="http://schemas.microsoft.com/office/drawing/2014/main" id="{A66DB188-7AC4-4D56-944F-57191E849871}"/>
              </a:ext>
            </a:extLst>
          </p:cNvPr>
          <p:cNvSpPr>
            <a:spLocks xmlns:a="http://schemas.openxmlformats.org/drawingml/2006/main" noGrp="1"/>
          </p:cNvSpPr>
          <p:nvPr/>
        </p:nvSpPr>
        <p:spPr>
          <a:xfrm xmlns:a="http://schemas.openxmlformats.org/drawingml/2006/main">
            <a:off x="2228850" y="2800350"/>
            <a:ext cx="238125" cy="304800"/>
          </a:xfrm>
          <a:prstGeom xmlns:a="http://schemas.openxmlformats.org/drawingml/2006/main" prst="downArrow">
            <a:avLst/>
          </a:prstGeom>
          <a:solidFill xmlns:a="http://schemas.openxmlformats.org/drawingml/2006/main">
            <a:srgbClr val="16161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3164F9A-45EF-4AF1-8D44-5D81532235D9}"/>
              </a:ext>
            </a:extLst>
          </p:cNvPr>
          <p:cNvSpPr>
            <a:spLocks xmlns:a="http://schemas.openxmlformats.org/drawingml/2006/main" noGrp="1"/>
          </p:cNvSpPr>
          <p:nvPr/>
        </p:nvSpPr>
        <p:spPr>
          <a:xfrm xmlns:a="http://schemas.openxmlformats.org/drawingml/2006/main">
            <a:off x="2228850" y="4838700"/>
            <a:ext cx="238125" cy="276225"/>
          </a:xfrm>
          <a:prstGeom xmlns:a="http://schemas.openxmlformats.org/drawingml/2006/main" prst="downArrow">
            <a:avLst/>
          </a:prstGeom>
          <a:solidFill xmlns:a="http://schemas.openxmlformats.org/drawingml/2006/main">
            <a:srgbClr val="16161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2B8C685-A98D-43AC-BCBB-5A6ADEB13B7E}"/>
              </a:ext>
            </a:extLst>
          </p:cNvPr>
          <p:cNvSpPr>
            <a:spLocks xmlns:a="http://schemas.openxmlformats.org/drawingml/2006/main" noGrp="1"/>
          </p:cNvSpPr>
          <p:nvPr/>
        </p:nvSpPr>
        <p:spPr>
          <a:xfrm xmlns:a="http://schemas.openxmlformats.org/drawingml/2006/main">
            <a:off x="4362450" y="1857375"/>
            <a:ext cx="3467100" cy="828675"/>
          </a:xfrm>
          <a:prstGeom xmlns:a="http://schemas.openxmlformats.org/drawingml/2006/main" prst="rect">
            <a:avLst/>
          </a:prstGeom>
          <a:solidFill xmlns:a="http://schemas.openxmlformats.org/drawingml/2006/main">
            <a:srgbClr val="FFFFFF"/>
          </a:solidFill>
          <a:ln xmlns:a="http://schemas.openxmlformats.org/drawingml/2006/main" w="9525">
            <a:solidFill>
              <a:srgbClr val="161616"/>
            </a:solidFill>
          </a:ln>
        </p:spPr>
      </p:sp>
      <p:sp>
        <p:nvSpPr>
          <p:cNvPr id="15" name="">
            <a:extLst xmlns:a="http://schemas.openxmlformats.org/drawingml/2006/main">
              <a:ext uri="{FF2B5EF4-FFF2-40B4-BE49-F238E27FC236}">
                <a16:creationId xmlns:a16="http://schemas.microsoft.com/office/drawing/2014/main" id="{72228E1C-E193-4855-93B8-6003AEF67637}"/>
              </a:ext>
            </a:extLst>
          </p:cNvPr>
          <p:cNvSpPr>
            <a:spLocks xmlns:a="http://schemas.openxmlformats.org/drawingml/2006/main" noGrp="1"/>
          </p:cNvSpPr>
          <p:nvPr/>
        </p:nvSpPr>
        <p:spPr>
          <a:xfrm xmlns:a="http://schemas.openxmlformats.org/drawingml/2006/main">
            <a:off x="4533900" y="210502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0">
                <a:solidFill>
                  <a:srgbClr val="161616"/>
                </a:solidFill>
                <a:latin typeface="NanumGothic"/>
                <a:ea typeface="NanumGothic"/>
                <a:cs typeface="NanumGothic"/>
              </a:defRPr>
            </a:pPr>
            <a:r>
              <a:rPr sz="2100" b="0">
                <a:solidFill>
                  <a:srgbClr val="161616"/>
                </a:solidFill>
                <a:latin typeface="NanumGothic"/>
                <a:ea typeface="NanumGothic"/>
                <a:cs typeface="NanumGothic"/>
              </a:rPr>
              <a:t>WBS·합성 답안</a:t>
            </a:r>
          </a:p>
        </p:txBody>
      </p:sp>
      <p:sp>
        <p:nvSpPr>
          <p:cNvPr id="16" name="">
            <a:extLst xmlns:a="http://schemas.openxmlformats.org/drawingml/2006/main">
              <a:ext uri="{FF2B5EF4-FFF2-40B4-BE49-F238E27FC236}">
                <a16:creationId xmlns:a16="http://schemas.microsoft.com/office/drawing/2014/main" id="{ABCC266D-8353-4B14-83B1-9E684239F332}"/>
              </a:ext>
            </a:extLst>
          </p:cNvPr>
          <p:cNvSpPr>
            <a:spLocks xmlns:a="http://schemas.openxmlformats.org/drawingml/2006/main" noGrp="1"/>
          </p:cNvSpPr>
          <p:nvPr/>
        </p:nvSpPr>
        <p:spPr>
          <a:xfrm xmlns:a="http://schemas.openxmlformats.org/drawingml/2006/main">
            <a:off x="4362450" y="3267075"/>
            <a:ext cx="3467100" cy="828675"/>
          </a:xfrm>
          <a:prstGeom xmlns:a="http://schemas.openxmlformats.org/drawingml/2006/main" prst="rect">
            <a:avLst/>
          </a:prstGeom>
          <a:solidFill xmlns:a="http://schemas.openxmlformats.org/drawingml/2006/main">
            <a:srgbClr val="F2F3F4"/>
          </a:solidFill>
          <a:ln xmlns:a="http://schemas.openxmlformats.org/drawingml/2006/main" w="9525">
            <a:solidFill>
              <a:srgbClr val="161616"/>
            </a:solidFill>
          </a:ln>
        </p:spPr>
      </p:sp>
      <p:sp>
        <p:nvSpPr>
          <p:cNvPr id="17" name="">
            <a:extLst xmlns:a="http://schemas.openxmlformats.org/drawingml/2006/main">
              <a:ext uri="{FF2B5EF4-FFF2-40B4-BE49-F238E27FC236}">
                <a16:creationId xmlns:a16="http://schemas.microsoft.com/office/drawing/2014/main" id="{AAF0A7D2-8DB8-4B50-BCBF-DDEBD218CBAC}"/>
              </a:ext>
            </a:extLst>
          </p:cNvPr>
          <p:cNvSpPr>
            <a:spLocks xmlns:a="http://schemas.openxmlformats.org/drawingml/2006/main" noGrp="1"/>
          </p:cNvSpPr>
          <p:nvPr/>
        </p:nvSpPr>
        <p:spPr>
          <a:xfrm xmlns:a="http://schemas.openxmlformats.org/drawingml/2006/main">
            <a:off x="4533900" y="351472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0">
                <a:solidFill>
                  <a:srgbClr val="161616"/>
                </a:solidFill>
                <a:latin typeface="NanumGothic"/>
                <a:ea typeface="NanumGothic"/>
                <a:cs typeface="NanumGothic"/>
              </a:defRPr>
            </a:pPr>
            <a:r>
              <a:rPr sz="2100" b="0">
                <a:solidFill>
                  <a:srgbClr val="161616"/>
                </a:solidFill>
                <a:latin typeface="NanumGothic"/>
                <a:ea typeface="NanumGothic"/>
                <a:cs typeface="NanumGothic"/>
              </a:rPr>
              <a:t>Python·수식 계산</a:t>
            </a:r>
          </a:p>
        </p:txBody>
      </p:sp>
      <p:sp>
        <p:nvSpPr>
          <p:cNvPr id="18" name="">
            <a:extLst xmlns:a="http://schemas.openxmlformats.org/drawingml/2006/main">
              <a:ext uri="{FF2B5EF4-FFF2-40B4-BE49-F238E27FC236}">
                <a16:creationId xmlns:a16="http://schemas.microsoft.com/office/drawing/2014/main" id="{8854BFFF-8825-48A7-9DF8-B968481CAFCB}"/>
              </a:ext>
            </a:extLst>
          </p:cNvPr>
          <p:cNvSpPr>
            <a:spLocks xmlns:a="http://schemas.openxmlformats.org/drawingml/2006/main" noGrp="1"/>
          </p:cNvSpPr>
          <p:nvPr/>
        </p:nvSpPr>
        <p:spPr>
          <a:xfrm xmlns:a="http://schemas.openxmlformats.org/drawingml/2006/main">
            <a:off x="4362450" y="5229225"/>
            <a:ext cx="3467100" cy="828675"/>
          </a:xfrm>
          <a:prstGeom xmlns:a="http://schemas.openxmlformats.org/drawingml/2006/main" prst="rect">
            <a:avLst/>
          </a:prstGeom>
          <a:solidFill xmlns:a="http://schemas.openxmlformats.org/drawingml/2006/main">
            <a:srgbClr val="FFFFFF"/>
          </a:solidFill>
          <a:ln xmlns:a="http://schemas.openxmlformats.org/drawingml/2006/main" w="9525">
            <a:solidFill>
              <a:srgbClr val="161616"/>
            </a:solidFill>
          </a:ln>
        </p:spPr>
      </p:sp>
      <p:sp>
        <p:nvSpPr>
          <p:cNvPr id="19" name="">
            <a:extLst xmlns:a="http://schemas.openxmlformats.org/drawingml/2006/main">
              <a:ext uri="{FF2B5EF4-FFF2-40B4-BE49-F238E27FC236}">
                <a16:creationId xmlns:a16="http://schemas.microsoft.com/office/drawing/2014/main" id="{17F8728E-1B44-46EA-BC6C-A43739E056AA}"/>
              </a:ext>
            </a:extLst>
          </p:cNvPr>
          <p:cNvSpPr>
            <a:spLocks xmlns:a="http://schemas.openxmlformats.org/drawingml/2006/main" noGrp="1"/>
          </p:cNvSpPr>
          <p:nvPr/>
        </p:nvSpPr>
        <p:spPr>
          <a:xfrm xmlns:a="http://schemas.openxmlformats.org/drawingml/2006/main">
            <a:off x="4533900" y="547687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Excel·PPT</a:t>
            </a:r>
          </a:p>
        </p:txBody>
      </p:sp>
      <p:sp>
        <p:nvSpPr>
          <p:cNvPr id="20" name="">
            <a:extLst xmlns:a="http://schemas.openxmlformats.org/drawingml/2006/main">
              <a:ext uri="{FF2B5EF4-FFF2-40B4-BE49-F238E27FC236}">
                <a16:creationId xmlns:a16="http://schemas.microsoft.com/office/drawing/2014/main" id="{431BB441-59AC-4557-9366-86D6C9DFE24C}"/>
              </a:ext>
            </a:extLst>
          </p:cNvPr>
          <p:cNvSpPr>
            <a:spLocks xmlns:a="http://schemas.openxmlformats.org/drawingml/2006/main" noGrp="1"/>
          </p:cNvSpPr>
          <p:nvPr/>
        </p:nvSpPr>
        <p:spPr>
          <a:xfrm xmlns:a="http://schemas.openxmlformats.org/drawingml/2006/main">
            <a:off x="5981700" y="2800350"/>
            <a:ext cx="238125" cy="304800"/>
          </a:xfrm>
          <a:prstGeom xmlns:a="http://schemas.openxmlformats.org/drawingml/2006/main" prst="downArrow">
            <a:avLst/>
          </a:prstGeom>
          <a:solidFill xmlns:a="http://schemas.openxmlformats.org/drawingml/2006/main">
            <a:srgbClr val="16161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353D681-1303-4318-B298-49F6D1D4117B}"/>
              </a:ext>
            </a:extLst>
          </p:cNvPr>
          <p:cNvSpPr>
            <a:spLocks xmlns:a="http://schemas.openxmlformats.org/drawingml/2006/main" noGrp="1"/>
          </p:cNvSpPr>
          <p:nvPr/>
        </p:nvSpPr>
        <p:spPr>
          <a:xfrm xmlns:a="http://schemas.openxmlformats.org/drawingml/2006/main">
            <a:off x="5981700" y="4838700"/>
            <a:ext cx="238125" cy="276225"/>
          </a:xfrm>
          <a:prstGeom xmlns:a="http://schemas.openxmlformats.org/drawingml/2006/main" prst="downArrow">
            <a:avLst/>
          </a:prstGeom>
          <a:solidFill xmlns:a="http://schemas.openxmlformats.org/drawingml/2006/main">
            <a:srgbClr val="16161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5FB74CD-4AEE-423E-9186-C5A37C77B7A4}"/>
              </a:ext>
            </a:extLst>
          </p:cNvPr>
          <p:cNvSpPr>
            <a:spLocks xmlns:a="http://schemas.openxmlformats.org/drawingml/2006/main" noGrp="1"/>
          </p:cNvSpPr>
          <p:nvPr/>
        </p:nvSpPr>
        <p:spPr>
          <a:xfrm xmlns:a="http://schemas.openxmlformats.org/drawingml/2006/main">
            <a:off x="8115300" y="1857375"/>
            <a:ext cx="3467100" cy="828675"/>
          </a:xfrm>
          <a:prstGeom xmlns:a="http://schemas.openxmlformats.org/drawingml/2006/main" prst="rect">
            <a:avLst/>
          </a:prstGeom>
          <a:solidFill xmlns:a="http://schemas.openxmlformats.org/drawingml/2006/main">
            <a:srgbClr val="FFFFFF"/>
          </a:solidFill>
          <a:ln xmlns:a="http://schemas.openxmlformats.org/drawingml/2006/main" w="9525">
            <a:solidFill>
              <a:srgbClr val="161616"/>
            </a:solidFill>
          </a:ln>
        </p:spPr>
      </p:sp>
      <p:sp>
        <p:nvSpPr>
          <p:cNvPr id="23" name="">
            <a:extLst xmlns:a="http://schemas.openxmlformats.org/drawingml/2006/main">
              <a:ext uri="{FF2B5EF4-FFF2-40B4-BE49-F238E27FC236}">
                <a16:creationId xmlns:a16="http://schemas.microsoft.com/office/drawing/2014/main" id="{567B3497-BA64-4916-9C59-4A0885371E73}"/>
              </a:ext>
            </a:extLst>
          </p:cNvPr>
          <p:cNvSpPr>
            <a:spLocks xmlns:a="http://schemas.openxmlformats.org/drawingml/2006/main" noGrp="1"/>
          </p:cNvSpPr>
          <p:nvPr/>
        </p:nvSpPr>
        <p:spPr>
          <a:xfrm xmlns:a="http://schemas.openxmlformats.org/drawingml/2006/main">
            <a:off x="8286750" y="210502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0">
                <a:solidFill>
                  <a:srgbClr val="161616"/>
                </a:solidFill>
                <a:latin typeface="NanumGothic"/>
                <a:ea typeface="NanumGothic"/>
                <a:cs typeface="NanumGothic"/>
              </a:defRPr>
            </a:pPr>
            <a:r>
              <a:rPr sz="2100" b="0">
                <a:solidFill>
                  <a:srgbClr val="161616"/>
                </a:solidFill>
                <a:latin typeface="NanumGothic"/>
                <a:ea typeface="NanumGothic"/>
                <a:cs typeface="NanumGothic"/>
              </a:rPr>
              <a:t>경력 사실 목록</a:t>
            </a:r>
          </a:p>
        </p:txBody>
      </p:sp>
      <p:sp>
        <p:nvSpPr>
          <p:cNvPr id="24" name="">
            <a:extLst xmlns:a="http://schemas.openxmlformats.org/drawingml/2006/main">
              <a:ext uri="{FF2B5EF4-FFF2-40B4-BE49-F238E27FC236}">
                <a16:creationId xmlns:a16="http://schemas.microsoft.com/office/drawing/2014/main" id="{F75E7BEA-18A0-47A0-B6A7-3B3C726E8171}"/>
              </a:ext>
            </a:extLst>
          </p:cNvPr>
          <p:cNvSpPr>
            <a:spLocks xmlns:a="http://schemas.openxmlformats.org/drawingml/2006/main" noGrp="1"/>
          </p:cNvSpPr>
          <p:nvPr/>
        </p:nvSpPr>
        <p:spPr>
          <a:xfrm xmlns:a="http://schemas.openxmlformats.org/drawingml/2006/main">
            <a:off x="8115300" y="3267075"/>
            <a:ext cx="3467100" cy="828675"/>
          </a:xfrm>
          <a:prstGeom xmlns:a="http://schemas.openxmlformats.org/drawingml/2006/main" prst="rect">
            <a:avLst/>
          </a:prstGeom>
          <a:solidFill xmlns:a="http://schemas.openxmlformats.org/drawingml/2006/main">
            <a:srgbClr val="F2F3F4"/>
          </a:solidFill>
          <a:ln xmlns:a="http://schemas.openxmlformats.org/drawingml/2006/main" w="9525">
            <a:solidFill>
              <a:srgbClr val="161616"/>
            </a:solidFill>
          </a:ln>
        </p:spPr>
      </p:sp>
      <p:sp>
        <p:nvSpPr>
          <p:cNvPr id="25" name="">
            <a:extLst xmlns:a="http://schemas.openxmlformats.org/drawingml/2006/main">
              <a:ext uri="{FF2B5EF4-FFF2-40B4-BE49-F238E27FC236}">
                <a16:creationId xmlns:a16="http://schemas.microsoft.com/office/drawing/2014/main" id="{BED4B5E7-DA52-4153-87F4-0C55A9D1EC49}"/>
              </a:ext>
            </a:extLst>
          </p:cNvPr>
          <p:cNvSpPr>
            <a:spLocks xmlns:a="http://schemas.openxmlformats.org/drawingml/2006/main" noGrp="1"/>
          </p:cNvSpPr>
          <p:nvPr/>
        </p:nvSpPr>
        <p:spPr>
          <a:xfrm xmlns:a="http://schemas.openxmlformats.org/drawingml/2006/main">
            <a:off x="8286750" y="351472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0">
                <a:solidFill>
                  <a:srgbClr val="161616"/>
                </a:solidFill>
                <a:latin typeface="NanumGothic"/>
                <a:ea typeface="NanumGothic"/>
                <a:cs typeface="NanumGothic"/>
              </a:defRPr>
            </a:pPr>
            <a:r>
              <a:rPr sz="2100" b="0">
                <a:solidFill>
                  <a:srgbClr val="161616"/>
                </a:solidFill>
                <a:latin typeface="NanumGothic"/>
                <a:ea typeface="NanumGothic"/>
                <a:cs typeface="NanumGothic"/>
              </a:rPr>
              <a:t>문장 개선 + 사실 비교</a:t>
            </a:r>
          </a:p>
        </p:txBody>
      </p:sp>
      <p:sp>
        <p:nvSpPr>
          <p:cNvPr id="26" name="">
            <a:extLst xmlns:a="http://schemas.openxmlformats.org/drawingml/2006/main">
              <a:ext uri="{FF2B5EF4-FFF2-40B4-BE49-F238E27FC236}">
                <a16:creationId xmlns:a16="http://schemas.microsoft.com/office/drawing/2014/main" id="{168F06B6-6D80-47C2-82A7-3F0D13A19B0C}"/>
              </a:ext>
            </a:extLst>
          </p:cNvPr>
          <p:cNvSpPr>
            <a:spLocks xmlns:a="http://schemas.openxmlformats.org/drawingml/2006/main" noGrp="1"/>
          </p:cNvSpPr>
          <p:nvPr/>
        </p:nvSpPr>
        <p:spPr>
          <a:xfrm xmlns:a="http://schemas.openxmlformats.org/drawingml/2006/main">
            <a:off x="8115300" y="5229225"/>
            <a:ext cx="3467100" cy="828675"/>
          </a:xfrm>
          <a:prstGeom xmlns:a="http://schemas.openxmlformats.org/drawingml/2006/main" prst="rect">
            <a:avLst/>
          </a:prstGeom>
          <a:solidFill xmlns:a="http://schemas.openxmlformats.org/drawingml/2006/main">
            <a:srgbClr val="FFFFFF"/>
          </a:solidFill>
          <a:ln xmlns:a="http://schemas.openxmlformats.org/drawingml/2006/main" w="9525">
            <a:solidFill>
              <a:srgbClr val="161616"/>
            </a:solidFill>
          </a:ln>
        </p:spPr>
      </p:sp>
      <p:sp>
        <p:nvSpPr>
          <p:cNvPr id="27" name="">
            <a:extLst xmlns:a="http://schemas.openxmlformats.org/drawingml/2006/main">
              <a:ext uri="{FF2B5EF4-FFF2-40B4-BE49-F238E27FC236}">
                <a16:creationId xmlns:a16="http://schemas.microsoft.com/office/drawing/2014/main" id="{CC200BE3-3962-4BDA-ADF9-0C8FD866AC5D}"/>
              </a:ext>
            </a:extLst>
          </p:cNvPr>
          <p:cNvSpPr>
            <a:spLocks xmlns:a="http://schemas.openxmlformats.org/drawingml/2006/main" noGrp="1"/>
          </p:cNvSpPr>
          <p:nvPr/>
        </p:nvSpPr>
        <p:spPr>
          <a:xfrm xmlns:a="http://schemas.openxmlformats.org/drawingml/2006/main">
            <a:off x="8286750" y="5476875"/>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Word</a:t>
            </a:r>
          </a:p>
        </p:txBody>
      </p:sp>
      <p:sp>
        <p:nvSpPr>
          <p:cNvPr id="28" name="">
            <a:extLst xmlns:a="http://schemas.openxmlformats.org/drawingml/2006/main">
              <a:ext uri="{FF2B5EF4-FFF2-40B4-BE49-F238E27FC236}">
                <a16:creationId xmlns:a16="http://schemas.microsoft.com/office/drawing/2014/main" id="{32BC9B6F-9DDB-4B92-8994-A2DD9124CB62}"/>
              </a:ext>
            </a:extLst>
          </p:cNvPr>
          <p:cNvSpPr>
            <a:spLocks xmlns:a="http://schemas.openxmlformats.org/drawingml/2006/main" noGrp="1"/>
          </p:cNvSpPr>
          <p:nvPr/>
        </p:nvSpPr>
        <p:spPr>
          <a:xfrm xmlns:a="http://schemas.openxmlformats.org/drawingml/2006/main">
            <a:off x="9734550" y="2800350"/>
            <a:ext cx="238125" cy="304800"/>
          </a:xfrm>
          <a:prstGeom xmlns:a="http://schemas.openxmlformats.org/drawingml/2006/main" prst="downArrow">
            <a:avLst/>
          </a:prstGeom>
          <a:solidFill xmlns:a="http://schemas.openxmlformats.org/drawingml/2006/main">
            <a:srgbClr val="161616"/>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8722895-5EF2-411B-99F2-B493F72754B9}"/>
              </a:ext>
            </a:extLst>
          </p:cNvPr>
          <p:cNvSpPr>
            <a:spLocks xmlns:a="http://schemas.openxmlformats.org/drawingml/2006/main" noGrp="1"/>
          </p:cNvSpPr>
          <p:nvPr/>
        </p:nvSpPr>
        <p:spPr>
          <a:xfrm xmlns:a="http://schemas.openxmlformats.org/drawingml/2006/main">
            <a:off x="9734550" y="4838700"/>
            <a:ext cx="238125" cy="276225"/>
          </a:xfrm>
          <a:prstGeom xmlns:a="http://schemas.openxmlformats.org/drawingml/2006/main" prst="downArrow">
            <a:avLst/>
          </a:prstGeom>
          <a:solidFill xmlns:a="http://schemas.openxmlformats.org/drawingml/2006/main">
            <a:srgbClr val="16161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8C934D4-A3F1-4E9A-ABBC-3AC7BFAFA464}"/>
              </a:ext>
            </a:extLst>
          </p:cNvPr>
          <p:cNvSpPr>
            <a:spLocks xmlns:a="http://schemas.openxmlformats.org/drawingml/2006/main" noGrp="1"/>
          </p:cNvSpPr>
          <p:nvPr/>
        </p:nvSpPr>
        <p:spPr>
          <a:xfrm xmlns:a="http://schemas.openxmlformats.org/drawingml/2006/main">
            <a:off x="609600" y="4362450"/>
            <a:ext cx="10972800" cy="40957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AA66470-23A1-4F2E-94F8-C6071706402E}"/>
              </a:ext>
            </a:extLst>
          </p:cNvPr>
          <p:cNvSpPr>
            <a:spLocks xmlns:a="http://schemas.openxmlformats.org/drawingml/2006/main" noGrp="1"/>
          </p:cNvSpPr>
          <p:nvPr/>
        </p:nvSpPr>
        <p:spPr>
          <a:xfrm xmlns:a="http://schemas.openxmlformats.org/drawingml/2006/main">
            <a:off x="752475" y="4429125"/>
            <a:ext cx="10687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대상·수치·사실·파일 확인  /  외부 전송은 별도 사람 확인</a:t>
            </a:r>
          </a:p>
        </p:txBody>
      </p:sp>
    </p:spTree>
    <p:extLst>
      <p:ext uri="{BB962C8B-B14F-4D97-AF65-F5344CB8AC3E}">
        <p14:creationId xmlns:p14="http://schemas.microsoft.com/office/powerpoint/2010/main" val="57941053"/>
      </p:ext>
    </p:extLst>
  </p:cSld>
</p:sld>
</file>

<file path=ppt/slides/slide8.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427462-460F-4094-AECD-FE73DF57097C}"/>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1차시</a:t>
            </a:r>
          </a:p>
        </p:txBody>
      </p:sp>
      <p:sp>
        <p:nvSpPr>
          <p:cNvPr id="2" name="">
            <a:extLst xmlns:a="http://schemas.openxmlformats.org/drawingml/2006/main">
              <a:ext uri="{FF2B5EF4-FFF2-40B4-BE49-F238E27FC236}">
                <a16:creationId xmlns:a16="http://schemas.microsoft.com/office/drawing/2014/main" id="{0D7548F3-478B-4107-A565-709858F2710A}"/>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09:00–09:50</a:t>
            </a:r>
          </a:p>
        </p:txBody>
      </p:sp>
      <p:sp>
        <p:nvSpPr>
          <p:cNvPr id="3" name="">
            <a:extLst xmlns:a="http://schemas.openxmlformats.org/drawingml/2006/main">
              <a:ext uri="{FF2B5EF4-FFF2-40B4-BE49-F238E27FC236}">
                <a16:creationId xmlns:a16="http://schemas.microsoft.com/office/drawing/2014/main" id="{B1F48E18-1CBB-42BA-BF12-0D8009C3A204}"/>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PR 대상과 변경 코드</a:t>
            </a:r>
          </a:p>
        </p:txBody>
      </p:sp>
      <p:sp>
        <p:nvSpPr>
          <p:cNvPr id="4" name="">
            <a:extLst xmlns:a="http://schemas.openxmlformats.org/drawingml/2006/main">
              <a:ext uri="{FF2B5EF4-FFF2-40B4-BE49-F238E27FC236}">
                <a16:creationId xmlns:a16="http://schemas.microsoft.com/office/drawing/2014/main" id="{2A343F6C-7879-4440-AC47-00D46AC1029F}"/>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저장소·PR·commit 구분과 변경 코드 검증</a:t>
            </a:r>
          </a:p>
        </p:txBody>
      </p:sp>
      <p:sp>
        <p:nvSpPr>
          <p:cNvPr id="5" name="">
            <a:extLst xmlns:a="http://schemas.openxmlformats.org/drawingml/2006/main">
              <a:ext uri="{FF2B5EF4-FFF2-40B4-BE49-F238E27FC236}">
                <a16:creationId xmlns:a16="http://schemas.microsoft.com/office/drawing/2014/main" id="{32CCAAB5-104D-4A2E-948F-89C1C52431DC}"/>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E543FBD1-12A7-4B03-8E68-A5913EB3CBB1}"/>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pr.json · changes.diff · review.html</a:t>
            </a:r>
          </a:p>
        </p:txBody>
      </p:sp>
      <p:sp>
        <p:nvSpPr>
          <p:cNvPr id="7" name="">
            <a:extLst xmlns:a="http://schemas.openxmlformats.org/drawingml/2006/main">
              <a:ext uri="{FF2B5EF4-FFF2-40B4-BE49-F238E27FC236}">
                <a16:creationId xmlns:a16="http://schemas.microsoft.com/office/drawing/2014/main" id="{3317840B-306A-4595-8D29-0FFFB3A8C7F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CC64639B-1F0F-4C76-A2B9-FD9D6036FE1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08BD4057-64F7-41F0-B7AC-E4C5ED41FDB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008</a:t>
            </a:r>
          </a:p>
        </p:txBody>
      </p:sp>
    </p:spTree>
    <p:extLst>
      <p:ext uri="{BB962C8B-B14F-4D97-AF65-F5344CB8AC3E}">
        <p14:creationId xmlns:p14="http://schemas.microsoft.com/office/powerpoint/2010/main" val="3611051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5692AE-2E60-49B1-A92C-FAAB7C9CD78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B0BC947C-8705-4326-92E5-2A7336F1023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리뷰 결과의 목적지</a:t>
            </a:r>
          </a:p>
        </p:txBody>
      </p:sp>
      <p:sp>
        <p:nvSpPr>
          <p:cNvPr id="3" name="">
            <a:extLst xmlns:a="http://schemas.openxmlformats.org/drawingml/2006/main">
              <a:ext uri="{FF2B5EF4-FFF2-40B4-BE49-F238E27FC236}">
                <a16:creationId xmlns:a16="http://schemas.microsoft.com/office/drawing/2014/main" id="{6FCC1FB5-0CC8-4FE1-A7E9-9F908FF7BDC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247EBDB-0A8E-471E-B0B7-8D021B9C5B1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BDAB21E-C1B1-4E63-BB00-4630E2DC6E9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009</a:t>
            </a:r>
          </a:p>
        </p:txBody>
      </p:sp>
      <p:sp>
        <p:nvSpPr>
          <p:cNvPr id="6" name="">
            <a:extLst xmlns:a="http://schemas.openxmlformats.org/drawingml/2006/main">
              <a:ext uri="{FF2B5EF4-FFF2-40B4-BE49-F238E27FC236}">
                <a16:creationId xmlns:a16="http://schemas.microsoft.com/office/drawing/2014/main" id="{A13ACE0D-3529-4658-B4D3-586FCA7C999F}"/>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9E787B06-9FDA-45A1-9B1E-951510925ACC}"/>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같은 코드라도 저장소와 PR이 다르면 다른 작업</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commit SHA: 리뷰가 기준으로 삼은 코드 버전</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좋은 리뷰 문장보다 먼저 확인할 대상 정보</a:t>
            </a:r>
          </a:p>
        </p:txBody>
      </p:sp>
    </p:spTree>
    <p:extLst>
      <p:ext uri="{BB962C8B-B14F-4D97-AF65-F5344CB8AC3E}">
        <p14:creationId xmlns:p14="http://schemas.microsoft.com/office/powerpoint/2010/main" val="21147885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6E6C37-3F92-4E5E-8683-FE55BE80C75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3C8E7F1C-E141-4077-9E43-6B64AE9356A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PR 구성</a:t>
            </a:r>
          </a:p>
        </p:txBody>
      </p:sp>
      <p:sp>
        <p:nvSpPr>
          <p:cNvPr id="3" name="">
            <a:extLst xmlns:a="http://schemas.openxmlformats.org/drawingml/2006/main">
              <a:ext uri="{FF2B5EF4-FFF2-40B4-BE49-F238E27FC236}">
                <a16:creationId xmlns:a16="http://schemas.microsoft.com/office/drawing/2014/main" id="{BECC1D53-5B71-4DF8-83D5-B19E82CD51A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429F4EE-07E9-41B9-AAE1-A43D85C48DB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0CBA8BF-15FB-4859-96CF-9023EF43A91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예시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의미</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Repository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training-example/checkout-demo</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합성 연습 저장소</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PR number</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42</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변경 묶음의 번호</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head SHA</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40자리 commit 식별값</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리뷰 대상 코드 버전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diff</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 변경 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추가·삭제된 코드</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7377308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0E9A24-6AF1-464A-B9C2-FB5553C3258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1CB778B0-A575-493F-8120-263844A2B98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AI와 코드의 Role</a:t>
            </a:r>
          </a:p>
        </p:txBody>
      </p:sp>
      <p:sp>
        <p:nvSpPr>
          <p:cNvPr id="3" name="">
            <a:extLst xmlns:a="http://schemas.openxmlformats.org/drawingml/2006/main">
              <a:ext uri="{FF2B5EF4-FFF2-40B4-BE49-F238E27FC236}">
                <a16:creationId xmlns:a16="http://schemas.microsoft.com/office/drawing/2014/main" id="{3F7C6DE8-8170-40C7-8D1B-A1CDC0D0900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26150023-9EF4-4635-B7D6-00C78000D0F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C10C813-D95B-4247-893A-E448BEC82CB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작업</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AI의 Role</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코드의 Role</a:t>
                      </a:r>
                    </a:p>
                  </a:txBody>
                  <a:tcPr marL="142875" marR="133350" marT="95250" marB="95250" anchor="ctr">
                    <a:solidFill>
                      <a:srgbClr val="161616"/>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변경 코드 이해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사용자 영향 추론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경로·줄 번호 검사</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리뷰 내용</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설명과 수정 제안</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형식·대상 일치 검사</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승인 이후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판단 근거 보조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버전·중복·권한 검사</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439416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818812-94C8-441F-8574-5FFC78990AB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A86064ED-105C-4192-89C5-9E911B5AF4F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Diff 읽기</a:t>
            </a:r>
          </a:p>
        </p:txBody>
      </p:sp>
      <p:sp>
        <p:nvSpPr>
          <p:cNvPr id="3" name="">
            <a:extLst xmlns:a="http://schemas.openxmlformats.org/drawingml/2006/main">
              <a:ext uri="{FF2B5EF4-FFF2-40B4-BE49-F238E27FC236}">
                <a16:creationId xmlns:a16="http://schemas.microsoft.com/office/drawing/2014/main" id="{DCA7421F-F2DE-48CF-AD48-06E77C27A1A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DBBE22E-2DFE-4280-9064-E489570E492D}"/>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44F7A88-8FE4-471E-BA32-884DA67A3C4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012</a:t>
            </a:r>
          </a:p>
        </p:txBody>
      </p:sp>
      <p:sp>
        <p:nvSpPr>
          <p:cNvPr id="6" name="">
            <a:extLst xmlns:a="http://schemas.openxmlformats.org/drawingml/2006/main">
              <a:ext uri="{FF2B5EF4-FFF2-40B4-BE49-F238E27FC236}">
                <a16:creationId xmlns:a16="http://schemas.microsoft.com/office/drawing/2014/main" id="{0898867D-007E-4441-B533-09D4C46BF515}"/>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ED97D9-5520-4EE8-A9CE-49AA9ECDDF9C}"/>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return price * quantity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return price * quantity - coupon</a:t>
            </a:r>
          </a:p>
        </p:txBody>
      </p:sp>
      <p:sp>
        <p:nvSpPr>
          <p:cNvPr id="8" name="">
            <a:extLst xmlns:a="http://schemas.openxmlformats.org/drawingml/2006/main">
              <a:ext uri="{FF2B5EF4-FFF2-40B4-BE49-F238E27FC236}">
                <a16:creationId xmlns:a16="http://schemas.microsoft.com/office/drawing/2014/main" id="{21556427-9E47-4F22-B524-3AB6B61BB56D}"/>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 삭제한 코드 / + 추가한 코드</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새 쿠폰 인자와 음수 결제 가능성</a:t>
            </a:r>
          </a:p>
        </p:txBody>
      </p:sp>
    </p:spTree>
    <p:extLst>
      <p:ext uri="{BB962C8B-B14F-4D97-AF65-F5344CB8AC3E}">
        <p14:creationId xmlns:p14="http://schemas.microsoft.com/office/powerpoint/2010/main" val="14220084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33C047-1055-4230-83C4-DA613CCF36B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9EBF6531-E5E6-460A-8FBB-FA1D5DC7B02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 검증의 순서</a:t>
            </a:r>
          </a:p>
        </p:txBody>
      </p:sp>
      <p:sp>
        <p:nvSpPr>
          <p:cNvPr id="3" name="">
            <a:extLst xmlns:a="http://schemas.openxmlformats.org/drawingml/2006/main">
              <a:ext uri="{FF2B5EF4-FFF2-40B4-BE49-F238E27FC236}">
                <a16:creationId xmlns:a16="http://schemas.microsoft.com/office/drawing/2014/main" id="{F389F43F-1AEB-4440-92FF-87FC5C73C8F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2C8288A-86E7-47B7-96E4-5D842AA3759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7D179C3-F4B6-45CD-8C2D-5CD2264F4FD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먼저 확인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그다음 확인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문제 발생 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저장소·PR 번호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예상한 대상과 일치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다른 PR 처리 중단</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SHA 40자리 형식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최신 head SHA와 일치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diff 수집</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파일 경로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작업 폴더 안쪽</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접근 차단</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변경 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리뷰 줄의 실제 존재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의견 수정 요청</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7007635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29FCF3-CEA4-44D0-A686-B613F785E9F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시연</a:t>
            </a:r>
          </a:p>
        </p:txBody>
      </p:sp>
      <p:sp>
        <p:nvSpPr>
          <p:cNvPr id="2" name="">
            <a:extLst xmlns:a="http://schemas.openxmlformats.org/drawingml/2006/main">
              <a:ext uri="{FF2B5EF4-FFF2-40B4-BE49-F238E27FC236}">
                <a16:creationId xmlns:a16="http://schemas.microsoft.com/office/drawing/2014/main" id="{E06F7B6A-1135-4626-8F6F-08E736B8755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PR 리뷰 작업대</a:t>
            </a:r>
          </a:p>
        </p:txBody>
      </p:sp>
      <p:sp>
        <p:nvSpPr>
          <p:cNvPr id="3" name="">
            <a:extLst xmlns:a="http://schemas.openxmlformats.org/drawingml/2006/main">
              <a:ext uri="{FF2B5EF4-FFF2-40B4-BE49-F238E27FC236}">
                <a16:creationId xmlns:a16="http://schemas.microsoft.com/office/drawing/2014/main" id="{7F94CF38-3B10-4BBF-9E2C-553EE19F6F1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C4F1683-FC61-46D3-B8E8-DF72C3225CA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5ABC58F-5FFA-4207-A00B-90F70E58B45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f00d49b60c2493a"/>
          <a:stretch xmlns:a="http://schemas.openxmlformats.org/drawingml/2006/main"/>
        </p:blipFill>
        <p:spPr>
          <a:xfrm xmlns:a="http://schemas.openxmlformats.org/drawingml/2006/main">
            <a:off x="609600" y="2295725"/>
            <a:ext cx="10972800" cy="2685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3990459-F6A6-4554-8AEF-3B9E3BC3CFBE}"/>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합성 PR의 함수 변경 확대 · 로컬 화면 · GitHub 게시 없음</a:t>
            </a:r>
          </a:p>
        </p:txBody>
      </p:sp>
    </p:spTree>
    <p:extLst>
      <p:ext uri="{BB962C8B-B14F-4D97-AF65-F5344CB8AC3E}">
        <p14:creationId xmlns:p14="http://schemas.microsoft.com/office/powerpoint/2010/main" val="1053359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CDB4C9-89A0-400B-82E1-DB82650C63A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시연</a:t>
            </a:r>
          </a:p>
        </p:txBody>
      </p:sp>
      <p:sp>
        <p:nvSpPr>
          <p:cNvPr id="2" name="">
            <a:extLst xmlns:a="http://schemas.openxmlformats.org/drawingml/2006/main">
              <a:ext uri="{FF2B5EF4-FFF2-40B4-BE49-F238E27FC236}">
                <a16:creationId xmlns:a16="http://schemas.microsoft.com/office/drawing/2014/main" id="{156D5DC4-71E9-45E7-AA09-E1CB3CD74C8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합성 PR 로딩</a:t>
            </a:r>
          </a:p>
        </p:txBody>
      </p:sp>
      <p:sp>
        <p:nvSpPr>
          <p:cNvPr id="3" name="">
            <a:extLst xmlns:a="http://schemas.openxmlformats.org/drawingml/2006/main">
              <a:ext uri="{FF2B5EF4-FFF2-40B4-BE49-F238E27FC236}">
                <a16:creationId xmlns:a16="http://schemas.microsoft.com/office/drawing/2014/main" id="{08F29395-3F69-4A76-B13E-45A6235CB3F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39AAF33-E470-462B-A0C9-157ED6CF834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88C7978-2E3E-441B-B1F0-CFE26A8B750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015</a:t>
            </a:r>
          </a:p>
        </p:txBody>
      </p:sp>
      <p:sp>
        <p:nvSpPr>
          <p:cNvPr id="6" name="">
            <a:extLst xmlns:a="http://schemas.openxmlformats.org/drawingml/2006/main">
              <a:ext uri="{FF2B5EF4-FFF2-40B4-BE49-F238E27FC236}">
                <a16:creationId xmlns:a16="http://schemas.microsoft.com/office/drawing/2014/main" id="{16C95F29-E3F5-45F0-9CC8-9409D159805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510568-42A6-472E-9252-2BBEDBEACAE0}"/>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labs.day4.pr_review_lab import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load_fixture, validate_snapshot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snapshot = load_fixture()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validate_snapshot(snapshot,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expected_repo=snapshot["repo"], expected_pr=42)</a:t>
            </a:r>
          </a:p>
        </p:txBody>
      </p:sp>
      <p:sp>
        <p:nvSpPr>
          <p:cNvPr id="8" name="">
            <a:extLst xmlns:a="http://schemas.openxmlformats.org/drawingml/2006/main">
              <a:ext uri="{FF2B5EF4-FFF2-40B4-BE49-F238E27FC236}">
                <a16:creationId xmlns:a16="http://schemas.microsoft.com/office/drawing/2014/main" id="{812BE679-CC52-472F-8C63-24EBFA112F09}"/>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코드: labs/day4/pr_review_lab/</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1차시</a:t>
            </a:r>
          </a:p>
        </p:txBody>
      </p:sp>
    </p:spTree>
    <p:extLst>
      <p:ext uri="{BB962C8B-B14F-4D97-AF65-F5344CB8AC3E}">
        <p14:creationId xmlns:p14="http://schemas.microsoft.com/office/powerpoint/2010/main" val="9314543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7065E9-EA98-49D0-BB45-94E2956D404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시연</a:t>
            </a:r>
          </a:p>
        </p:txBody>
      </p:sp>
      <p:sp>
        <p:nvSpPr>
          <p:cNvPr id="2" name="">
            <a:extLst xmlns:a="http://schemas.openxmlformats.org/drawingml/2006/main">
              <a:ext uri="{FF2B5EF4-FFF2-40B4-BE49-F238E27FC236}">
                <a16:creationId xmlns:a16="http://schemas.microsoft.com/office/drawing/2014/main" id="{2FCB4340-73D4-49CD-BF45-050E441B8CE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Notebook 실행 위치</a:t>
            </a:r>
          </a:p>
        </p:txBody>
      </p:sp>
      <p:sp>
        <p:nvSpPr>
          <p:cNvPr id="3" name="">
            <a:extLst xmlns:a="http://schemas.openxmlformats.org/drawingml/2006/main">
              <a:ext uri="{FF2B5EF4-FFF2-40B4-BE49-F238E27FC236}">
                <a16:creationId xmlns:a16="http://schemas.microsoft.com/office/drawing/2014/main" id="{7E80487E-658E-4532-8994-F8CE943DBA6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6AD8231-90FE-4506-866A-5C98DE6D5D7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F082789-EB7F-41D2-BD57-6EF88D9FE5B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016</a:t>
            </a:r>
          </a:p>
        </p:txBody>
      </p:sp>
      <p:sp>
        <p:nvSpPr>
          <p:cNvPr id="6" name="">
            <a:extLst xmlns:a="http://schemas.openxmlformats.org/drawingml/2006/main">
              <a:ext uri="{FF2B5EF4-FFF2-40B4-BE49-F238E27FC236}">
                <a16:creationId xmlns:a16="http://schemas.microsoft.com/office/drawing/2014/main" id="{B3FAE206-5CA9-4D15-A204-38E1E2F26B8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426AA1-E683-4F50-9C58-1CB3A68449BD}"/>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print("Python:", sys.executable)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print("프로젝트:", ROOT)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print("실행 위치:", Path.cwd())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print((ROOT / "requirements-day4.txt").is_file())</a:t>
            </a:r>
          </a:p>
        </p:txBody>
      </p:sp>
      <p:sp>
        <p:nvSpPr>
          <p:cNvPr id="8" name="">
            <a:extLst xmlns:a="http://schemas.openxmlformats.org/drawingml/2006/main">
              <a:ext uri="{FF2B5EF4-FFF2-40B4-BE49-F238E27FC236}">
                <a16:creationId xmlns:a16="http://schemas.microsoft.com/office/drawing/2014/main" id="{53C2BB1E-0EDB-455B-84B7-7B454E46DE60}"/>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준비 셀 실행 후 새 코드 셀에 입력</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마지막 값 True · ROOT 아래 labs 폴더 확인</a:t>
            </a:r>
          </a:p>
        </p:txBody>
      </p:sp>
    </p:spTree>
    <p:extLst>
      <p:ext uri="{BB962C8B-B14F-4D97-AF65-F5344CB8AC3E}">
        <p14:creationId xmlns:p14="http://schemas.microsoft.com/office/powerpoint/2010/main" val="18858335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13613B-50FE-46F4-AB29-C3B074193B1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84718C33-30F7-490E-9DFE-EDC606D1A5B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대상 정보 확인</a:t>
            </a:r>
          </a:p>
        </p:txBody>
      </p:sp>
      <p:sp>
        <p:nvSpPr>
          <p:cNvPr id="3" name="">
            <a:extLst xmlns:a="http://schemas.openxmlformats.org/drawingml/2006/main">
              <a:ext uri="{FF2B5EF4-FFF2-40B4-BE49-F238E27FC236}">
                <a16:creationId xmlns:a16="http://schemas.microsoft.com/office/drawing/2014/main" id="{D5ABDCA1-7BED-4ACA-A83B-692E98D10B0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84687A0-9C90-4732-B5A8-72B89064FEE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AFCE913-BCC2-440D-8E1C-0B00829BE8E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017</a:t>
            </a:r>
          </a:p>
        </p:txBody>
      </p:sp>
      <p:sp>
        <p:nvSpPr>
          <p:cNvPr id="6" name="">
            <a:extLst xmlns:a="http://schemas.openxmlformats.org/drawingml/2006/main">
              <a:ext uri="{FF2B5EF4-FFF2-40B4-BE49-F238E27FC236}">
                <a16:creationId xmlns:a16="http://schemas.microsoft.com/office/drawing/2014/main" id="{9DFF49E0-60F5-4B40-A486-60A8D4D36594}"/>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7AEEAFC7-ACC8-43B0-B5C5-A86EC94F3EB9}"/>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Notebook 1차시에서 합성 PR 로딩</a:t>
            </a:r>
          </a:p>
        </p:txBody>
      </p:sp>
      <p:sp>
        <p:nvSpPr>
          <p:cNvPr id="8" name="">
            <a:extLst xmlns:a="http://schemas.openxmlformats.org/drawingml/2006/main">
              <a:ext uri="{FF2B5EF4-FFF2-40B4-BE49-F238E27FC236}">
                <a16:creationId xmlns:a16="http://schemas.microsoft.com/office/drawing/2014/main" id="{943AFE24-3FA0-415E-A60F-A67D65FA47FD}"/>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4B96F8ED-53EB-444C-B933-99B9ABAED86F}"/>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저장소·번호·SHA를 각각 출력</a:t>
            </a:r>
          </a:p>
        </p:txBody>
      </p:sp>
      <p:sp>
        <p:nvSpPr>
          <p:cNvPr id="10" name="">
            <a:extLst xmlns:a="http://schemas.openxmlformats.org/drawingml/2006/main">
              <a:ext uri="{FF2B5EF4-FFF2-40B4-BE49-F238E27FC236}">
                <a16:creationId xmlns:a16="http://schemas.microsoft.com/office/drawing/2014/main" id="{8E29A245-7D80-4C58-8F5F-E76101DCAA6A}"/>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0D282E98-D50D-4EC6-BA89-DA1832B6C5CA}"/>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changes.diff와 checkout.py 변경 줄 비교</a:t>
            </a:r>
          </a:p>
        </p:txBody>
      </p:sp>
      <p:sp>
        <p:nvSpPr>
          <p:cNvPr id="12" name="">
            <a:extLst xmlns:a="http://schemas.openxmlformats.org/drawingml/2006/main">
              <a:ext uri="{FF2B5EF4-FFF2-40B4-BE49-F238E27FC236}">
                <a16:creationId xmlns:a16="http://schemas.microsoft.com/office/drawing/2014/main" id="{5CD102D2-B5FF-4ECA-BD4C-BC5410526F90}"/>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90C70D71-BCF6-4DC6-ADAB-4A3BE3707093}"/>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labs/day4/pr_review_lab/fixtures/pr.json</a:t>
            </a:r>
          </a:p>
        </p:txBody>
      </p:sp>
      <p:sp>
        <p:nvSpPr>
          <p:cNvPr id="14" name="">
            <a:extLst xmlns:a="http://schemas.openxmlformats.org/drawingml/2006/main">
              <a:ext uri="{FF2B5EF4-FFF2-40B4-BE49-F238E27FC236}">
                <a16:creationId xmlns:a16="http://schemas.microsoft.com/office/drawing/2014/main" id="{F079581A-A9C7-4D0C-A3FE-AC06D3BC0616}"/>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세 값의 의미를 구분하고 해당 변경 파일을 열기</a:t>
            </a:r>
          </a:p>
        </p:txBody>
      </p:sp>
    </p:spTree>
    <p:extLst>
      <p:ext uri="{BB962C8B-B14F-4D97-AF65-F5344CB8AC3E}">
        <p14:creationId xmlns:p14="http://schemas.microsoft.com/office/powerpoint/2010/main" val="17800933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63B2AC-3F7E-433A-ACD0-A2BA6B19693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310C330B-529F-48C3-BFA9-76D3F090DD9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PR 번호 검사의 수정</a:t>
            </a:r>
          </a:p>
        </p:txBody>
      </p:sp>
      <p:sp>
        <p:nvSpPr>
          <p:cNvPr id="3" name="">
            <a:extLst xmlns:a="http://schemas.openxmlformats.org/drawingml/2006/main">
              <a:ext uri="{FF2B5EF4-FFF2-40B4-BE49-F238E27FC236}">
                <a16:creationId xmlns:a16="http://schemas.microsoft.com/office/drawing/2014/main" id="{30F585FB-EF4E-4A4C-8631-35A3D3EB6F5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E4317B8-8248-43B0-9781-8795F539843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D011F78-5AC1-435B-8B3E-1FB60ED9AC9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018</a:t>
            </a:r>
          </a:p>
        </p:txBody>
      </p:sp>
      <p:sp>
        <p:nvSpPr>
          <p:cNvPr id="6" name="">
            <a:extLst xmlns:a="http://schemas.openxmlformats.org/drawingml/2006/main">
              <a:ext uri="{FF2B5EF4-FFF2-40B4-BE49-F238E27FC236}">
                <a16:creationId xmlns:a16="http://schemas.microsoft.com/office/drawing/2014/main" id="{71FA4B55-7326-458C-BD8D-ACB340D49DBA}"/>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FC32973-71DA-41FD-884E-7DC1A4ED97A8}"/>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def my_target_matches(pr, repo, number):</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return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pr["repo"].lower() == repo.lower()</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and pr["number"] == number</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my_target_matches(snapshot, snapshot["repo"], 42)</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not my_target_matches(snapshot, snapshot["repo"], 43)</a:t>
            </a:r>
          </a:p>
        </p:txBody>
      </p:sp>
      <p:sp>
        <p:nvSpPr>
          <p:cNvPr id="8" name="">
            <a:extLst xmlns:a="http://schemas.openxmlformats.org/drawingml/2006/main">
              <a:ext uri="{FF2B5EF4-FFF2-40B4-BE49-F238E27FC236}">
                <a16:creationId xmlns:a16="http://schemas.microsoft.com/office/drawing/2014/main" id="{1FB5CD17-8748-4D00-AF30-9F711E6C11B4}"/>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and 행 제거 시 PR 43 검사 실패</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조건 복구 후 같은 셀의 두 assert 통과</a:t>
            </a:r>
          </a:p>
        </p:txBody>
      </p:sp>
    </p:spTree>
    <p:extLst>
      <p:ext uri="{BB962C8B-B14F-4D97-AF65-F5344CB8AC3E}">
        <p14:creationId xmlns:p14="http://schemas.microsoft.com/office/powerpoint/2010/main" val="11153891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47E9AA7-5856-40CD-A55F-1AEAACF8192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77E1EE82-5498-4FAB-A386-4702AF249C1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잘못된 대상의 차단</a:t>
            </a:r>
          </a:p>
        </p:txBody>
      </p:sp>
      <p:sp>
        <p:nvSpPr>
          <p:cNvPr id="3" name="">
            <a:extLst xmlns:a="http://schemas.openxmlformats.org/drawingml/2006/main">
              <a:ext uri="{FF2B5EF4-FFF2-40B4-BE49-F238E27FC236}">
                <a16:creationId xmlns:a16="http://schemas.microsoft.com/office/drawing/2014/main" id="{C57A0D14-EF50-4D83-ADFA-4B9F03F46C5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FDD09E1-DE81-4B78-9D42-43D9936AEEF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212F2BD-BD34-45D0-B40D-39F23051D34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019</a:t>
            </a:r>
          </a:p>
        </p:txBody>
      </p:sp>
      <p:sp>
        <p:nvSpPr>
          <p:cNvPr id="6" name="">
            <a:extLst xmlns:a="http://schemas.openxmlformats.org/drawingml/2006/main">
              <a:ext uri="{FF2B5EF4-FFF2-40B4-BE49-F238E27FC236}">
                <a16:creationId xmlns:a16="http://schemas.microsoft.com/office/drawing/2014/main" id="{8689F9D7-AF78-41A7-B96C-ACDF41A5D430}"/>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A5D65DA4-A796-4C0C-A693-81BD8DB0E140}"/>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deepcopy로 snapshot 복사</a:t>
            </a:r>
          </a:p>
        </p:txBody>
      </p:sp>
      <p:sp>
        <p:nvSpPr>
          <p:cNvPr id="8" name="">
            <a:extLst xmlns:a="http://schemas.openxmlformats.org/drawingml/2006/main">
              <a:ext uri="{FF2B5EF4-FFF2-40B4-BE49-F238E27FC236}">
                <a16:creationId xmlns:a16="http://schemas.microsoft.com/office/drawing/2014/main" id="{554B89C0-24C2-4156-8594-1C2735C3CA00}"/>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129C6D53-AFDB-47C1-B661-01AB44CDC4A4}"/>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repo를 another/repository로 변경</a:t>
            </a:r>
          </a:p>
        </p:txBody>
      </p:sp>
      <p:sp>
        <p:nvSpPr>
          <p:cNvPr id="10" name="">
            <a:extLst xmlns:a="http://schemas.openxmlformats.org/drawingml/2006/main">
              <a:ext uri="{FF2B5EF4-FFF2-40B4-BE49-F238E27FC236}">
                <a16:creationId xmlns:a16="http://schemas.microsoft.com/office/drawing/2014/main" id="{A67331BF-9562-49E5-BFCB-76645C461B87}"/>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231D9BF7-01BD-46A2-9F9E-002FE326082C}"/>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expected_repo를 원본으로 주고 검증 실행</a:t>
            </a:r>
          </a:p>
        </p:txBody>
      </p:sp>
      <p:sp>
        <p:nvSpPr>
          <p:cNvPr id="12" name="">
            <a:extLst xmlns:a="http://schemas.openxmlformats.org/drawingml/2006/main">
              <a:ext uri="{FF2B5EF4-FFF2-40B4-BE49-F238E27FC236}">
                <a16:creationId xmlns:a16="http://schemas.microsoft.com/office/drawing/2014/main" id="{051BBB2E-222A-4A8E-B0E1-20E71F71760E}"/>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F09BB734-D7DE-4C37-92CF-CEC33934223A}"/>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 1차시 실패 입력</a:t>
            </a:r>
          </a:p>
        </p:txBody>
      </p:sp>
      <p:sp>
        <p:nvSpPr>
          <p:cNvPr id="14" name="">
            <a:extLst xmlns:a="http://schemas.openxmlformats.org/drawingml/2006/main">
              <a:ext uri="{FF2B5EF4-FFF2-40B4-BE49-F238E27FC236}">
                <a16:creationId xmlns:a16="http://schemas.microsoft.com/office/drawing/2014/main" id="{1154EE36-D576-4220-AB5D-5C49620B84B6}"/>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REPO_MISMATCH 확인 · 원본 fixture 보존</a:t>
            </a:r>
          </a:p>
        </p:txBody>
      </p:sp>
    </p:spTree>
    <p:extLst>
      <p:ext uri="{BB962C8B-B14F-4D97-AF65-F5344CB8AC3E}">
        <p14:creationId xmlns:p14="http://schemas.microsoft.com/office/powerpoint/2010/main" val="1941617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F092B8-0B1E-4F15-AF55-EE3D0981929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FB372A6B-F9DB-4580-B4E9-492B545508E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다른 저장소의 차단</a:t>
            </a:r>
          </a:p>
        </p:txBody>
      </p:sp>
      <p:sp>
        <p:nvSpPr>
          <p:cNvPr id="3" name="">
            <a:extLst xmlns:a="http://schemas.openxmlformats.org/drawingml/2006/main">
              <a:ext uri="{FF2B5EF4-FFF2-40B4-BE49-F238E27FC236}">
                <a16:creationId xmlns:a16="http://schemas.microsoft.com/office/drawing/2014/main" id="{6AE057B8-9F3A-4B13-878E-FAFF438CF66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743B99A-4087-463B-B090-AF07C19A43E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B343336-6B92-4A87-AD14-E47860700D1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020</a:t>
            </a:r>
          </a:p>
        </p:txBody>
      </p:sp>
      <p:sp>
        <p:nvSpPr>
          <p:cNvPr id="6" name="">
            <a:extLst xmlns:a="http://schemas.openxmlformats.org/drawingml/2006/main">
              <a:ext uri="{FF2B5EF4-FFF2-40B4-BE49-F238E27FC236}">
                <a16:creationId xmlns:a16="http://schemas.microsoft.com/office/drawing/2014/main" id="{923D6578-BCC5-40AA-8BCD-00CD56350B23}"/>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91694F-1B27-47D2-A529-1C77C72A9BD0}"/>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copy import deepcopy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broken = deepcopy(snapshot)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broken["repo"] = "another/repository"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validate_snapshot(broken,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expected_repo=snapshot["repo"], expected_pr=42)</a:t>
            </a:r>
          </a:p>
        </p:txBody>
      </p:sp>
      <p:sp>
        <p:nvSpPr>
          <p:cNvPr id="8" name="">
            <a:extLst xmlns:a="http://schemas.openxmlformats.org/drawingml/2006/main">
              <a:ext uri="{FF2B5EF4-FFF2-40B4-BE49-F238E27FC236}">
                <a16:creationId xmlns:a16="http://schemas.microsoft.com/office/drawing/2014/main" id="{EA75E436-AE09-4BCA-9B41-785E09FDF51B}"/>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예상 오류: REPO_MISMATCH</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Notebook의 예외 처리 함수로 확인</a:t>
            </a:r>
          </a:p>
        </p:txBody>
      </p:sp>
    </p:spTree>
    <p:extLst>
      <p:ext uri="{BB962C8B-B14F-4D97-AF65-F5344CB8AC3E}">
        <p14:creationId xmlns:p14="http://schemas.microsoft.com/office/powerpoint/2010/main" val="6182578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9BE13D-2E5E-4F35-AFFC-183D38A8A79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B8CD6890-F64B-4BEC-8174-0BBDC9EA29E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SHA 입력의 오류 복구</a:t>
            </a:r>
          </a:p>
        </p:txBody>
      </p:sp>
      <p:sp>
        <p:nvSpPr>
          <p:cNvPr id="3" name="">
            <a:extLst xmlns:a="http://schemas.openxmlformats.org/drawingml/2006/main">
              <a:ext uri="{FF2B5EF4-FFF2-40B4-BE49-F238E27FC236}">
                <a16:creationId xmlns:a16="http://schemas.microsoft.com/office/drawing/2014/main" id="{6D706C16-62AC-485C-A610-6A77AD29ED9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05D3A88-AAD2-40C8-A954-70362FA229D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9D2C171-9B9E-4B20-94F8-2460F2C5578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021</a:t>
            </a:r>
          </a:p>
        </p:txBody>
      </p:sp>
      <p:sp>
        <p:nvSpPr>
          <p:cNvPr id="6" name="">
            <a:extLst xmlns:a="http://schemas.openxmlformats.org/drawingml/2006/main">
              <a:ext uri="{FF2B5EF4-FFF2-40B4-BE49-F238E27FC236}">
                <a16:creationId xmlns:a16="http://schemas.microsoft.com/office/drawing/2014/main" id="{E0319D81-F6EE-40F0-B2C3-D669D3655ABD}"/>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A8FDEB-2C54-4437-B46F-1BD86B006695}"/>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bad = deepcopy(snapshot)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bad["head_sha"] = "최신버전"</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target = dict(expected_repo=snapshot["repo"], expected_pr=42)</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try: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validate_snapshot(bad, **target)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except LabError as error:</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print(error.code)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bad["head_sha"] = snapshot["head_sha"]</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validate_snapshot(bad, **target) is bad</a:t>
            </a:r>
          </a:p>
        </p:txBody>
      </p:sp>
      <p:sp>
        <p:nvSpPr>
          <p:cNvPr id="8" name="">
            <a:extLst xmlns:a="http://schemas.openxmlformats.org/drawingml/2006/main">
              <a:ext uri="{FF2B5EF4-FFF2-40B4-BE49-F238E27FC236}">
                <a16:creationId xmlns:a16="http://schemas.microsoft.com/office/drawing/2014/main" id="{82DB8463-EFD5-48BB-966A-A1070CD74C68}"/>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INVALID_SHA 출력 후 마지막 assert 통과</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형식 복구 실험 · 최신 버전 조회는 별도</a:t>
            </a:r>
          </a:p>
        </p:txBody>
      </p:sp>
    </p:spTree>
    <p:extLst>
      <p:ext uri="{BB962C8B-B14F-4D97-AF65-F5344CB8AC3E}">
        <p14:creationId xmlns:p14="http://schemas.microsoft.com/office/powerpoint/2010/main" val="7209157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0BD82D1-29A5-4783-82F3-95104B306AC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6653784A-3F8E-4DEC-B75F-9749D4A05B4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로컬 작업 폴더 생성</a:t>
            </a:r>
          </a:p>
        </p:txBody>
      </p:sp>
      <p:sp>
        <p:nvSpPr>
          <p:cNvPr id="3" name="">
            <a:extLst xmlns:a="http://schemas.openxmlformats.org/drawingml/2006/main">
              <a:ext uri="{FF2B5EF4-FFF2-40B4-BE49-F238E27FC236}">
                <a16:creationId xmlns:a16="http://schemas.microsoft.com/office/drawing/2014/main" id="{D0928862-572F-4532-98DA-9559935D4B9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9C3147F-BFA5-432B-8930-8B3E208766A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D398FF2-8745-48C3-B89C-D026A93ECAA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022</a:t>
            </a:r>
          </a:p>
        </p:txBody>
      </p:sp>
      <p:sp>
        <p:nvSpPr>
          <p:cNvPr id="6" name="">
            <a:extLst xmlns:a="http://schemas.openxmlformats.org/drawingml/2006/main">
              <a:ext uri="{FF2B5EF4-FFF2-40B4-BE49-F238E27FC236}">
                <a16:creationId xmlns:a16="http://schemas.microsoft.com/office/drawing/2014/main" id="{2F55B002-655F-4A5C-8785-A900EFDE7875}"/>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F3E319B-5E23-461E-AC9D-2026B2A8D0FD}"/>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prepare_exercise로 새 폴더 생성</a:t>
            </a:r>
          </a:p>
        </p:txBody>
      </p:sp>
      <p:sp>
        <p:nvSpPr>
          <p:cNvPr id="8" name="">
            <a:extLst xmlns:a="http://schemas.openxmlformats.org/drawingml/2006/main">
              <a:ext uri="{FF2B5EF4-FFF2-40B4-BE49-F238E27FC236}">
                <a16:creationId xmlns:a16="http://schemas.microsoft.com/office/drawing/2014/main" id="{ED844075-AA23-4CEE-B766-E5E37A8AE348}"/>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58ABA198-2B7C-495E-9397-A7B59B98816A}"/>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checkout.py와 test_checkout.py 열기</a:t>
            </a:r>
          </a:p>
        </p:txBody>
      </p:sp>
      <p:sp>
        <p:nvSpPr>
          <p:cNvPr id="10" name="">
            <a:extLst xmlns:a="http://schemas.openxmlformats.org/drawingml/2006/main">
              <a:ext uri="{FF2B5EF4-FFF2-40B4-BE49-F238E27FC236}">
                <a16:creationId xmlns:a16="http://schemas.microsoft.com/office/drawing/2014/main" id="{41633CFF-2D33-467B-B668-8F0B04B86DF0}"/>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10DF616E-D2A7-4838-8644-6CC968D32955}"/>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check_exercise로 현재 테스트 실행</a:t>
            </a:r>
          </a:p>
        </p:txBody>
      </p:sp>
      <p:sp>
        <p:nvSpPr>
          <p:cNvPr id="12" name="">
            <a:extLst xmlns:a="http://schemas.openxmlformats.org/drawingml/2006/main">
              <a:ext uri="{FF2B5EF4-FFF2-40B4-BE49-F238E27FC236}">
                <a16:creationId xmlns:a16="http://schemas.microsoft.com/office/drawing/2014/main" id="{77A4208D-B685-40F4-BEB3-313312FE2EE1}"/>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516A78FC-38CD-4EE5-96B9-9F58421F309D}"/>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Notebook에 출력된 EXERCISE 경로</a:t>
            </a:r>
          </a:p>
        </p:txBody>
      </p:sp>
      <p:sp>
        <p:nvSpPr>
          <p:cNvPr id="14" name="">
            <a:extLst xmlns:a="http://schemas.openxmlformats.org/drawingml/2006/main">
              <a:ext uri="{FF2B5EF4-FFF2-40B4-BE49-F238E27FC236}">
                <a16:creationId xmlns:a16="http://schemas.microsoft.com/office/drawing/2014/main" id="{36795086-934E-4908-8FFB-C17383B1725F}"/>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4 failed, 1 passed · 기존 파일 덮어쓰기 없음</a:t>
            </a:r>
          </a:p>
        </p:txBody>
      </p:sp>
    </p:spTree>
    <p:extLst>
      <p:ext uri="{BB962C8B-B14F-4D97-AF65-F5344CB8AC3E}">
        <p14:creationId xmlns:p14="http://schemas.microsoft.com/office/powerpoint/2010/main" val="6317870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4BE636-BAEF-45E6-BDE5-EF6E9E16CD6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38FB0F81-F429-4951-BFC2-B3B6DD68A61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실습 파일의 역할</a:t>
            </a:r>
          </a:p>
        </p:txBody>
      </p:sp>
      <p:sp>
        <p:nvSpPr>
          <p:cNvPr id="3" name="">
            <a:extLst xmlns:a="http://schemas.openxmlformats.org/drawingml/2006/main">
              <a:ext uri="{FF2B5EF4-FFF2-40B4-BE49-F238E27FC236}">
                <a16:creationId xmlns:a16="http://schemas.microsoft.com/office/drawing/2014/main" id="{77ED3F84-FDEE-4557-B489-4F12F1719DB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28A56E8-C6AE-4D1C-95BA-C2F66AD01C0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DB10940-A3F1-48D4-9616-61523B7DBF6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524250"/>
                <a:gridCol w="3714750"/>
                <a:gridCol w="373380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파일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열어서 확인할 내용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수정 기준</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checkout.py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checkout_total 함수</a:t>
                      </a:r>
                    </a:p>
                    <a:p>
                      <a:pPr algn="l">
                        <a:lnSpc>
                          <a:spcPct val="105000"/>
                        </a:lnSpc>
                        <a:buNone/>
                      </a:pPr>
                      <a:r>
                        <a:rPr sz="1950" b="0">
                          <a:solidFill>
                            <a:srgbClr val="161616"/>
                          </a:solidFill>
                          <a:latin typeface="NanumGothic"/>
                          <a:ea typeface="NanumGothic"/>
                          <a:cs typeface="NanumGothic"/>
                        </a:rPr>
                        <a:t>실제 결제 계산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기능 수정 대상</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test_checkout.py</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입력과 assert 기대값</a:t>
                      </a:r>
                    </a:p>
                    <a:p>
                      <a:pPr algn="l">
                        <a:lnSpc>
                          <a:spcPct val="105000"/>
                        </a:lnSpc>
                        <a:buNone/>
                      </a:pPr>
                      <a:r>
                        <a:rPr sz="1950" b="0">
                          <a:solidFill>
                            <a:srgbClr val="161616"/>
                          </a:solidFill>
                          <a:latin typeface="NanumGothic"/>
                          <a:ea typeface="NanumGothic"/>
                          <a:cs typeface="NanumGothic"/>
                        </a:rPr>
                        <a:t>ValueError 검사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기존 검사 유지</a:t>
                      </a:r>
                    </a:p>
                    <a:p>
                      <a:pPr algn="l">
                        <a:lnSpc>
                          <a:spcPct val="105000"/>
                        </a:lnSpc>
                        <a:buNone/>
                      </a:pPr>
                      <a:r>
                        <a:rPr sz="1950" b="0">
                          <a:solidFill>
                            <a:srgbClr val="161616"/>
                          </a:solidFill>
                          <a:latin typeface="NanumGothic"/>
                          <a:ea typeface="NanumGothic"/>
                          <a:cs typeface="NanumGothic"/>
                        </a:rPr>
                        <a:t>새 검사 추가</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reference_solution.py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참고 구현</a:t>
                      </a:r>
                    </a:p>
                    <a:p>
                      <a:pPr algn="l">
                        <a:lnSpc>
                          <a:spcPct val="105000"/>
                        </a:lnSpc>
                        <a:buNone/>
                      </a:pPr>
                      <a:r>
                        <a:rPr sz="1950" b="0">
                          <a:solidFill>
                            <a:srgbClr val="161616"/>
                          </a:solidFill>
                          <a:latin typeface="NanumGothic"/>
                          <a:ea typeface="NanumGothic"/>
                          <a:cs typeface="NanumGothic"/>
                        </a:rPr>
                        <a:t>비교용 정답 코드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필요할 때 비교</a:t>
                      </a:r>
                    </a:p>
                    <a:p>
                      <a:pPr algn="l">
                        <a:lnSpc>
                          <a:spcPct val="105000"/>
                        </a:lnSpc>
                        <a:buNone/>
                      </a:pPr>
                      <a:r>
                        <a:rPr sz="1950" b="0">
                          <a:solidFill>
                            <a:srgbClr val="161616"/>
                          </a:solidFill>
                          <a:latin typeface="NanumGothic"/>
                          <a:ea typeface="NanumGothic"/>
                          <a:cs typeface="NanumGothic"/>
                        </a:rPr>
                        <a:t>자동 복사 기본 꺼짐</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checkout_before.py</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쿠폰 추가 이전 코드</a:t>
                      </a:r>
                    </a:p>
                    <a:p>
                      <a:pPr algn="l">
                        <a:lnSpc>
                          <a:spcPct val="105000"/>
                        </a:lnSpc>
                        <a:buNone/>
                      </a:pPr>
                      <a:r>
                        <a:rPr sz="1950" b="0">
                          <a:solidFill>
                            <a:srgbClr val="161616"/>
                          </a:solidFill>
                          <a:latin typeface="NanumGothic"/>
                          <a:ea typeface="NanumGothic"/>
                          <a:cs typeface="NanumGothic"/>
                        </a:rPr>
                        <a:t>변경 배경</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읽기 전용 비교</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6795977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C435808-CEA8-4D34-B6F1-2D5986B8629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코드·파일 작업</a:t>
            </a:r>
          </a:p>
        </p:txBody>
      </p:sp>
      <p:sp>
        <p:nvSpPr>
          <p:cNvPr id="2" name="">
            <a:extLst xmlns:a="http://schemas.openxmlformats.org/drawingml/2006/main">
              <a:ext uri="{FF2B5EF4-FFF2-40B4-BE49-F238E27FC236}">
                <a16:creationId xmlns:a16="http://schemas.microsoft.com/office/drawing/2014/main" id="{B3534E01-8034-4255-AC24-F03D9050E62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생성 셀의 재실행 오류</a:t>
            </a:r>
          </a:p>
        </p:txBody>
      </p:sp>
      <p:sp>
        <p:nvSpPr>
          <p:cNvPr id="3" name="">
            <a:extLst xmlns:a="http://schemas.openxmlformats.org/drawingml/2006/main">
              <a:ext uri="{FF2B5EF4-FFF2-40B4-BE49-F238E27FC236}">
                <a16:creationId xmlns:a16="http://schemas.microsoft.com/office/drawing/2014/main" id="{DF0D264C-3C2D-499F-8548-AE3B121A909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39C24C6-54A5-4CED-A491-1C62098F499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3CB69A6-7B62-4766-94D0-57B8AFF067F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024</a:t>
            </a:r>
          </a:p>
        </p:txBody>
      </p:sp>
      <p:sp>
        <p:nvSpPr>
          <p:cNvPr id="6" name="">
            <a:extLst xmlns:a="http://schemas.openxmlformats.org/drawingml/2006/main">
              <a:ext uri="{FF2B5EF4-FFF2-40B4-BE49-F238E27FC236}">
                <a16:creationId xmlns:a16="http://schemas.microsoft.com/office/drawing/2014/main" id="{0974A4A8-BDAD-4F73-A600-40BA1570CF74}"/>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624F0848-AB99-45D7-A9CE-33170056A108}"/>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실습 폴더 생성 셀을 같은 RUN에서 다시 실행</a:t>
            </a:r>
          </a:p>
        </p:txBody>
      </p:sp>
      <p:sp>
        <p:nvSpPr>
          <p:cNvPr id="8" name="">
            <a:extLst xmlns:a="http://schemas.openxmlformats.org/drawingml/2006/main">
              <a:ext uri="{FF2B5EF4-FFF2-40B4-BE49-F238E27FC236}">
                <a16:creationId xmlns:a16="http://schemas.microsoft.com/office/drawing/2014/main" id="{CDE5CC32-814F-423A-AC14-807E9AD33457}"/>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3E5071F0-8043-438F-B28E-E03265DE0579}"/>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EXERCISE_EXISTS와 기존 파일 보존 확인</a:t>
            </a:r>
          </a:p>
        </p:txBody>
      </p:sp>
      <p:sp>
        <p:nvSpPr>
          <p:cNvPr id="10" name="">
            <a:extLst xmlns:a="http://schemas.openxmlformats.org/drawingml/2006/main">
              <a:ext uri="{FF2B5EF4-FFF2-40B4-BE49-F238E27FC236}">
                <a16:creationId xmlns:a16="http://schemas.microsoft.com/office/drawing/2014/main" id="{5986E789-DC99-4A34-8009-3967E5299C29}"/>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C8E85B17-DCA0-4A52-91A1-7BC0F35D0F92}"/>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생성 셀을 건너뛰고 현재 EXERCISE 경로 확인</a:t>
            </a:r>
          </a:p>
        </p:txBody>
      </p:sp>
      <p:sp>
        <p:nvSpPr>
          <p:cNvPr id="12" name="">
            <a:extLst xmlns:a="http://schemas.openxmlformats.org/drawingml/2006/main">
              <a:ext uri="{FF2B5EF4-FFF2-40B4-BE49-F238E27FC236}">
                <a16:creationId xmlns:a16="http://schemas.microsoft.com/office/drawing/2014/main" id="{63EECBE5-EB21-4465-82CB-161DE5E241B9}"/>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F40F180E-30F8-49BD-B26F-90666C039749}"/>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아래 check_exercise 셀에서 기존 수정본 검사</a:t>
            </a:r>
          </a:p>
        </p:txBody>
      </p:sp>
      <p:sp>
        <p:nvSpPr>
          <p:cNvPr id="14" name="">
            <a:extLst xmlns:a="http://schemas.openxmlformats.org/drawingml/2006/main">
              <a:ext uri="{FF2B5EF4-FFF2-40B4-BE49-F238E27FC236}">
                <a16:creationId xmlns:a16="http://schemas.microsoft.com/office/drawing/2014/main" id="{F9E3E2D1-908A-4E7F-B481-88232C55AEEC}"/>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F5659203-3C8B-450F-9432-E8D7A7690297}"/>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1차시 · prepare_exercise / check_exercise</a:t>
            </a:r>
          </a:p>
        </p:txBody>
      </p:sp>
      <p:sp>
        <p:nvSpPr>
          <p:cNvPr id="16" name="">
            <a:extLst xmlns:a="http://schemas.openxmlformats.org/drawingml/2006/main">
              <a:ext uri="{FF2B5EF4-FFF2-40B4-BE49-F238E27FC236}">
                <a16:creationId xmlns:a16="http://schemas.microsoft.com/office/drawing/2014/main" id="{68A5166B-47F6-475C-A06C-882DAA85C4A8}"/>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기존 코드 유지 · 검사 셀만 재실행</a:t>
            </a:r>
          </a:p>
        </p:txBody>
      </p:sp>
    </p:spTree>
    <p:extLst>
      <p:ext uri="{BB962C8B-B14F-4D97-AF65-F5344CB8AC3E}">
        <p14:creationId xmlns:p14="http://schemas.microsoft.com/office/powerpoint/2010/main" val="17954384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B7DF58-07F9-4A72-8704-1D86C9B4937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이론</a:t>
            </a:r>
          </a:p>
        </p:txBody>
      </p:sp>
      <p:sp>
        <p:nvSpPr>
          <p:cNvPr id="2" name="">
            <a:extLst xmlns:a="http://schemas.openxmlformats.org/drawingml/2006/main">
              <a:ext uri="{FF2B5EF4-FFF2-40B4-BE49-F238E27FC236}">
                <a16:creationId xmlns:a16="http://schemas.microsoft.com/office/drawing/2014/main" id="{91509305-FFB5-4C27-A313-964251347CD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입력과 실행의 구분</a:t>
            </a:r>
          </a:p>
        </p:txBody>
      </p:sp>
      <p:sp>
        <p:nvSpPr>
          <p:cNvPr id="3" name="">
            <a:extLst xmlns:a="http://schemas.openxmlformats.org/drawingml/2006/main">
              <a:ext uri="{FF2B5EF4-FFF2-40B4-BE49-F238E27FC236}">
                <a16:creationId xmlns:a16="http://schemas.microsoft.com/office/drawing/2014/main" id="{95A30CD9-0554-4C29-8025-5A52D8330AF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BDDB411-3955-4C0B-A66D-EFF331D4C05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7A9932D-82AC-4815-8CCD-DB95AAEE5AE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입력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취급</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기본 정책</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PR 제목·설명</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외부 사람이 쓴 자료</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명령으로 실행하지 않음</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PR 변경 코드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검토할 자료</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자동 checkout·실행 금지</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수업용 checkout.py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확인된 합성 코드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로컬 테스트 실행</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계정 키·고객 파일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실습 대상 아님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읽기·캡처·커밋 제외</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0867216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9D0138-1379-43DF-BAED-C09E0681718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결과 확인</a:t>
            </a:r>
          </a:p>
        </p:txBody>
      </p:sp>
      <p:sp>
        <p:nvSpPr>
          <p:cNvPr id="2" name="">
            <a:extLst xmlns:a="http://schemas.openxmlformats.org/drawingml/2006/main">
              <a:ext uri="{FF2B5EF4-FFF2-40B4-BE49-F238E27FC236}">
                <a16:creationId xmlns:a16="http://schemas.microsoft.com/office/drawing/2014/main" id="{830DC7BD-F6C8-4154-B9C3-E9BC030C520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1차시 확인</a:t>
            </a:r>
          </a:p>
        </p:txBody>
      </p:sp>
      <p:sp>
        <p:nvSpPr>
          <p:cNvPr id="3" name="">
            <a:extLst xmlns:a="http://schemas.openxmlformats.org/drawingml/2006/main">
              <a:ext uri="{FF2B5EF4-FFF2-40B4-BE49-F238E27FC236}">
                <a16:creationId xmlns:a16="http://schemas.microsoft.com/office/drawing/2014/main" id="{1ACE2574-F00E-47FE-AF56-408BEB05EBD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94C4720-B335-4187-979B-9B2F88EA067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698822D-3A9F-4B7E-907D-97C3C357EE3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대상 구분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저장소·PR·SHA를 각각 설명</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실제 파일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checkout.py와 test_checkout.py 열기</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실패 처리</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다른 repo 입력의 차단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테스트 출발점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4 failed, 1 passed 출력 보관</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84638785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10DFEA-BE63-401B-8068-7FF58E42634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선택 확장</a:t>
            </a:r>
          </a:p>
        </p:txBody>
      </p:sp>
      <p:sp>
        <p:nvSpPr>
          <p:cNvPr id="2" name="">
            <a:extLst xmlns:a="http://schemas.openxmlformats.org/drawingml/2006/main">
              <a:ext uri="{FF2B5EF4-FFF2-40B4-BE49-F238E27FC236}">
                <a16:creationId xmlns:a16="http://schemas.microsoft.com/office/drawing/2014/main" id="{3B8E638A-E239-4B74-8528-4DF48C68B20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API 응답의 누락</a:t>
            </a:r>
          </a:p>
        </p:txBody>
      </p:sp>
      <p:sp>
        <p:nvSpPr>
          <p:cNvPr id="3" name="">
            <a:extLst xmlns:a="http://schemas.openxmlformats.org/drawingml/2006/main">
              <a:ext uri="{FF2B5EF4-FFF2-40B4-BE49-F238E27FC236}">
                <a16:creationId xmlns:a16="http://schemas.microsoft.com/office/drawing/2014/main" id="{DD152B84-32F1-4800-AB24-5CF969EE10A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F48EA57-8854-45C5-8350-786BF3725CD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D74F9B1-07FA-4E85-939F-5C19BAFACE9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상황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피해야 할 처리</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필요한 처리</a:t>
                      </a:r>
                    </a:p>
                  </a:txBody>
                  <a:tcPr marL="142875" marR="133350" marT="95250" marB="95250" anchor="ctr">
                    <a:solidFill>
                      <a:srgbClr val="161616"/>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binary 변경</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없는 diff를 정상으로 간주</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검토 불가 표시</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페이지 수 초과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앞부분만 보고 완료 표시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범위 초과 중단</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읽는 중 새 commit</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서로 다른 버전 혼합</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SHA 재확인</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319665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81A49D-37B9-493D-A508-59BF077F09C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1차시 · 09:00–09:50  /  선택 확장</a:t>
            </a:r>
          </a:p>
        </p:txBody>
      </p:sp>
      <p:sp>
        <p:nvSpPr>
          <p:cNvPr id="2" name="">
            <a:extLst xmlns:a="http://schemas.openxmlformats.org/drawingml/2006/main">
              <a:ext uri="{FF2B5EF4-FFF2-40B4-BE49-F238E27FC236}">
                <a16:creationId xmlns:a16="http://schemas.microsoft.com/office/drawing/2014/main" id="{B82B8A32-C774-4234-9606-3E9A20F1259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Context의 우선순위</a:t>
            </a:r>
          </a:p>
        </p:txBody>
      </p:sp>
      <p:sp>
        <p:nvSpPr>
          <p:cNvPr id="3" name="">
            <a:extLst xmlns:a="http://schemas.openxmlformats.org/drawingml/2006/main">
              <a:ext uri="{FF2B5EF4-FFF2-40B4-BE49-F238E27FC236}">
                <a16:creationId xmlns:a16="http://schemas.microsoft.com/office/drawing/2014/main" id="{9B8BCEE6-1938-45A1-B48F-B34AA7251F6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B205C3F0-5E9E-429F-933E-48BC2FDE709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5445C4C-3BAA-45BA-A21B-818CEBD4DAF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028</a:t>
            </a:r>
          </a:p>
        </p:txBody>
      </p:sp>
      <p:sp>
        <p:nvSpPr>
          <p:cNvPr id="6" name="">
            <a:extLst xmlns:a="http://schemas.openxmlformats.org/drawingml/2006/main">
              <a:ext uri="{FF2B5EF4-FFF2-40B4-BE49-F238E27FC236}">
                <a16:creationId xmlns:a16="http://schemas.microsoft.com/office/drawing/2014/main" id="{A52673D9-0EA3-4586-ACC2-9A52BA1BA8FD}"/>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6D84F8C4-C343-4A9D-A31E-DE2C316C9872}"/>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제품 규칙과 변경 목적</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관련 함수·테스트·호출 위치</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리뷰 범위를 넘는 자료는 제외</a:t>
            </a:r>
          </a:p>
        </p:txBody>
      </p:sp>
    </p:spTree>
    <p:extLst>
      <p:ext uri="{BB962C8B-B14F-4D97-AF65-F5344CB8AC3E}">
        <p14:creationId xmlns:p14="http://schemas.microsoft.com/office/powerpoint/2010/main" val="2059728425"/>
      </p:ext>
    </p:extLst>
  </p:cSld>
</p:sld>
</file>

<file path=ppt/slides/slide29.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4A9334-06E1-4E2F-9699-CBFD9BFB6210}"/>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2차시</a:t>
            </a:r>
          </a:p>
        </p:txBody>
      </p:sp>
      <p:sp>
        <p:nvSpPr>
          <p:cNvPr id="2" name="">
            <a:extLst xmlns:a="http://schemas.openxmlformats.org/drawingml/2006/main">
              <a:ext uri="{FF2B5EF4-FFF2-40B4-BE49-F238E27FC236}">
                <a16:creationId xmlns:a16="http://schemas.microsoft.com/office/drawing/2014/main" id="{B657DC0A-5DB2-44A6-959F-6D5EA39BDDA7}"/>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09:50–10:40</a:t>
            </a:r>
          </a:p>
        </p:txBody>
      </p:sp>
      <p:sp>
        <p:nvSpPr>
          <p:cNvPr id="3" name="">
            <a:extLst xmlns:a="http://schemas.openxmlformats.org/drawingml/2006/main">
              <a:ext uri="{FF2B5EF4-FFF2-40B4-BE49-F238E27FC236}">
                <a16:creationId xmlns:a16="http://schemas.microsoft.com/office/drawing/2014/main" id="{745F0B36-B8C2-44C9-8EB5-1C7886FFA908}"/>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리뷰 초안과 코드 수정</a:t>
            </a:r>
          </a:p>
        </p:txBody>
      </p:sp>
      <p:sp>
        <p:nvSpPr>
          <p:cNvPr id="4" name="">
            <a:extLst xmlns:a="http://schemas.openxmlformats.org/drawingml/2006/main">
              <a:ext uri="{FF2B5EF4-FFF2-40B4-BE49-F238E27FC236}">
                <a16:creationId xmlns:a16="http://schemas.microsoft.com/office/drawing/2014/main" id="{C7C1B7BC-6C9F-481C-9A79-03382DD67834}"/>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Codex 리뷰 요청, 결제 코드 수정, 게시 전 확인</a:t>
            </a:r>
          </a:p>
        </p:txBody>
      </p:sp>
      <p:sp>
        <p:nvSpPr>
          <p:cNvPr id="5" name="">
            <a:extLst xmlns:a="http://schemas.openxmlformats.org/drawingml/2006/main">
              <a:ext uri="{FF2B5EF4-FFF2-40B4-BE49-F238E27FC236}">
                <a16:creationId xmlns:a16="http://schemas.microsoft.com/office/drawing/2014/main" id="{9D1B9EEA-426A-4AFE-8B6E-9F17EE8BA72B}"/>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1D37378C-7C29-4AEA-833D-B06F4946524D}"/>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checkout.py · test_checkout.py · review.md</a:t>
            </a:r>
          </a:p>
        </p:txBody>
      </p:sp>
      <p:sp>
        <p:nvSpPr>
          <p:cNvPr id="7" name="">
            <a:extLst xmlns:a="http://schemas.openxmlformats.org/drawingml/2006/main">
              <a:ext uri="{FF2B5EF4-FFF2-40B4-BE49-F238E27FC236}">
                <a16:creationId xmlns:a16="http://schemas.microsoft.com/office/drawing/2014/main" id="{6FAEA51C-202F-441C-88E7-A63E9A46084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AFC7B599-B137-41F4-94BE-35C2BE084CF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0231D7EC-7651-4537-B01B-058DAD446B8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029</a:t>
            </a:r>
          </a:p>
        </p:txBody>
      </p:sp>
    </p:spTree>
    <p:extLst>
      <p:ext uri="{BB962C8B-B14F-4D97-AF65-F5344CB8AC3E}">
        <p14:creationId xmlns:p14="http://schemas.microsoft.com/office/powerpoint/2010/main" val="48801966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A39F59-42DA-405B-A63D-759DB90C97EB}"/>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557F6C72-9417-4CED-9085-9EA6F913FE3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리뷰 의견의 구성</a:t>
            </a:r>
          </a:p>
        </p:txBody>
      </p:sp>
      <p:sp>
        <p:nvSpPr>
          <p:cNvPr id="3" name="">
            <a:extLst xmlns:a="http://schemas.openxmlformats.org/drawingml/2006/main">
              <a:ext uri="{FF2B5EF4-FFF2-40B4-BE49-F238E27FC236}">
                <a16:creationId xmlns:a16="http://schemas.microsoft.com/office/drawing/2014/main" id="{11979022-65B9-4A94-AD4A-59A12B9B1B1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1A00F09-6636-4AA2-94F1-15DAB7C0386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0DBC478-3E1C-481A-AFC9-71F67467BD6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초과 쿠폰 예시</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위치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checkout.py:6</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사용자 영향</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결제액이 −4,000원으로 계산</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재현 입력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가격 1,000 · 수량 1 · 쿠폰 5,000</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최소 수정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 검사 후 결제액 0원 하한</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검증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초과 쿠폰과 기존 정상 케이스 테스트</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4485109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F09672-0500-4021-859E-5B0D9FF1A9D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5603D670-6181-4E36-B673-D2AC7AA7757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그럴듯한 의견과 유용한 의견</a:t>
            </a:r>
          </a:p>
        </p:txBody>
      </p:sp>
      <p:sp>
        <p:nvSpPr>
          <p:cNvPr id="3" name="">
            <a:extLst xmlns:a="http://schemas.openxmlformats.org/drawingml/2006/main">
              <a:ext uri="{FF2B5EF4-FFF2-40B4-BE49-F238E27FC236}">
                <a16:creationId xmlns:a16="http://schemas.microsoft.com/office/drawing/2014/main" id="{A1DCF84A-E813-437E-AF1B-BF6E9A67165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4B61F84-AA89-48D7-AFAF-C69DBA8D824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0650756-50F8-48D7-8DDF-C2EE6E2BA2B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비교</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모호한 의견</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실행 가능한 의견</a:t>
                      </a:r>
                    </a:p>
                  </a:txBody>
                  <a:tcPr marL="142875" marR="133350" marT="95250" marB="95250" anchor="ctr">
                    <a:solidFill>
                      <a:srgbClr val="161616"/>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문제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예외 처리가 부족함</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수량 0이 주문으로 처리됨</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수정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클린 코드 적용</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quantity &lt; 1 검사 추가</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검증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잘 동작하는지 확인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ValueError 테스트 통과</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203892761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67FB91-CD63-4C07-A44F-C044F31F9D4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06505020-7D0E-44C4-A072-D47F74B8C47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추론 결과의 확인</a:t>
            </a:r>
          </a:p>
        </p:txBody>
      </p:sp>
      <p:sp>
        <p:nvSpPr>
          <p:cNvPr id="3" name="">
            <a:extLst xmlns:a="http://schemas.openxmlformats.org/drawingml/2006/main">
              <a:ext uri="{FF2B5EF4-FFF2-40B4-BE49-F238E27FC236}">
                <a16:creationId xmlns:a16="http://schemas.microsoft.com/office/drawing/2014/main" id="{69A8A0BA-7714-45C5-9FF7-055E8DA9485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C5D6F37-C45F-4C86-9B87-FBD784FC560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4989FB3-80CF-42B0-B9AB-7F1F1F7A9DE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032</a:t>
            </a:r>
          </a:p>
        </p:txBody>
      </p:sp>
      <p:sp>
        <p:nvSpPr>
          <p:cNvPr id="6" name="">
            <a:extLst xmlns:a="http://schemas.openxmlformats.org/drawingml/2006/main">
              <a:ext uri="{FF2B5EF4-FFF2-40B4-BE49-F238E27FC236}">
                <a16:creationId xmlns:a16="http://schemas.microsoft.com/office/drawing/2014/main" id="{F464B474-E044-4DA6-BD10-645E50C6A866}"/>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407C2A91-D05E-425B-AE5F-7BBF97F54546}"/>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모델의 설명은 가설과 제안</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재현 테스트는 관찰 가능한 증거</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제품 규칙은 사람이 정한 기준</a:t>
            </a:r>
          </a:p>
        </p:txBody>
      </p:sp>
    </p:spTree>
    <p:extLst>
      <p:ext uri="{BB962C8B-B14F-4D97-AF65-F5344CB8AC3E}">
        <p14:creationId xmlns:p14="http://schemas.microsoft.com/office/powerpoint/2010/main" val="11559725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12D798-94A1-40D3-82FC-E608719D6D1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4BE200B6-3FA4-4953-8830-9962E6802C1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리뷰 요청의 Context</a:t>
            </a:r>
          </a:p>
        </p:txBody>
      </p:sp>
      <p:sp>
        <p:nvSpPr>
          <p:cNvPr id="3" name="">
            <a:extLst xmlns:a="http://schemas.openxmlformats.org/drawingml/2006/main">
              <a:ext uri="{FF2B5EF4-FFF2-40B4-BE49-F238E27FC236}">
                <a16:creationId xmlns:a16="http://schemas.microsoft.com/office/drawing/2014/main" id="{EF98363A-7B81-4E10-86D5-1A90249EB70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3CD8EB0-1EAC-4875-8904-136E1C7D990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98A9CAD-6E4F-4603-A21E-B0A06771448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필수 자료</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이번 파일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선택 이유</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업무 규칙</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review_policy.md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무엇이 버그인지 판단</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구현 코드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어디를 바꿀지 확인</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테스트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test_checkout.py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기존 동작 보존</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금지 행동</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수정·게시 전 확인</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범위 확장 방지</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73448017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B13FE1-6F2A-48BA-91BB-B5526B09685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시연</a:t>
            </a:r>
          </a:p>
        </p:txBody>
      </p:sp>
      <p:sp>
        <p:nvSpPr>
          <p:cNvPr id="2" name="">
            <a:extLst xmlns:a="http://schemas.openxmlformats.org/drawingml/2006/main">
              <a:ext uri="{FF2B5EF4-FFF2-40B4-BE49-F238E27FC236}">
                <a16:creationId xmlns:a16="http://schemas.microsoft.com/office/drawing/2014/main" id="{1658CFB8-5701-4C52-A012-F87B67CF311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Codex 리뷰 요청</a:t>
            </a:r>
          </a:p>
        </p:txBody>
      </p:sp>
      <p:sp>
        <p:nvSpPr>
          <p:cNvPr id="3" name="">
            <a:extLst xmlns:a="http://schemas.openxmlformats.org/drawingml/2006/main">
              <a:ext uri="{FF2B5EF4-FFF2-40B4-BE49-F238E27FC236}">
                <a16:creationId xmlns:a16="http://schemas.microsoft.com/office/drawing/2014/main" id="{62FD36C5-5135-46CC-B2A9-65F7B997C62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65BFE61-C758-40A3-A5A2-3852C4075C4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D937C09-AB1F-493C-8FC6-734C72FE52F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034</a:t>
            </a:r>
          </a:p>
        </p:txBody>
      </p:sp>
      <p:sp>
        <p:nvSpPr>
          <p:cNvPr id="6" name="">
            <a:extLst xmlns:a="http://schemas.openxmlformats.org/drawingml/2006/main">
              <a:ext uri="{FF2B5EF4-FFF2-40B4-BE49-F238E27FC236}">
                <a16:creationId xmlns:a16="http://schemas.microsoft.com/office/drawing/2014/main" id="{8B979885-E5A5-46D9-8C81-26F17FFAA8A9}"/>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370802BC-EF6A-4B4B-89B3-B4713BA2C290}"/>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F4E2A7-BC31-44CC-AFFF-BC21E8A174E6}"/>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review_policy.md와 내 실습 폴더의 checkout.py, test_checkout.py를 읽어 줘. 실패 입력과 사용자 영향을 먼저 설명해 줘. 파일 수정과 GitHub 게시는 아직 하지 마. 의견은 위치·재현 조건·최소 수정·관련 테스트 순서로 써 줘.</a:t>
            </a:r>
          </a:p>
        </p:txBody>
      </p:sp>
      <p:sp>
        <p:nvSpPr>
          <p:cNvPr id="9" name="">
            <a:extLst xmlns:a="http://schemas.openxmlformats.org/drawingml/2006/main">
              <a:ext uri="{FF2B5EF4-FFF2-40B4-BE49-F238E27FC236}">
                <a16:creationId xmlns:a16="http://schemas.microsoft.com/office/drawing/2014/main" id="{A0D37924-A204-44EB-8CFF-D79038233AE8}"/>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A62B042B-A5AB-4D5A-8418-35E39EA16008}"/>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재현 입력 · 수정 범위 · 실행 여부</a:t>
            </a:r>
          </a:p>
        </p:txBody>
      </p:sp>
    </p:spTree>
    <p:extLst>
      <p:ext uri="{BB962C8B-B14F-4D97-AF65-F5344CB8AC3E}">
        <p14:creationId xmlns:p14="http://schemas.microsoft.com/office/powerpoint/2010/main" val="130503893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8C9CCC-58B4-44E3-A6C2-69634386E82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시연</a:t>
            </a:r>
          </a:p>
        </p:txBody>
      </p:sp>
      <p:sp>
        <p:nvSpPr>
          <p:cNvPr id="2" name="">
            <a:extLst xmlns:a="http://schemas.openxmlformats.org/drawingml/2006/main">
              <a:ext uri="{FF2B5EF4-FFF2-40B4-BE49-F238E27FC236}">
                <a16:creationId xmlns:a16="http://schemas.microsoft.com/office/drawing/2014/main" id="{F0383B47-7960-4E92-B09F-405E4BEB30F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실제 Codex 리뷰 응답</a:t>
            </a:r>
          </a:p>
        </p:txBody>
      </p:sp>
      <p:sp>
        <p:nvSpPr>
          <p:cNvPr id="3" name="">
            <a:extLst xmlns:a="http://schemas.openxmlformats.org/drawingml/2006/main">
              <a:ext uri="{FF2B5EF4-FFF2-40B4-BE49-F238E27FC236}">
                <a16:creationId xmlns:a16="http://schemas.microsoft.com/office/drawing/2014/main" id="{4492CF87-CB08-421E-8D53-93F68AE9352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5022D68-3090-46EF-975B-F5CA761629D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9702E87-4CC6-4DC6-9180-E0F3578A6EA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e2f536b60041d7"/>
          <a:stretch xmlns:a="http://schemas.openxmlformats.org/drawingml/2006/main"/>
        </p:blipFill>
        <p:spPr>
          <a:xfrm xmlns:a="http://schemas.openxmlformats.org/drawingml/2006/main">
            <a:off x="609600" y="1684490"/>
            <a:ext cx="10972800" cy="390812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4AAB32F-36D6-4DB4-96CB-8152D76A0CD0}"/>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실제 CLI 응답 일부 확대 · Desktop 대화 UI 아님</a:t>
            </a:r>
          </a:p>
        </p:txBody>
      </p:sp>
    </p:spTree>
    <p:extLst>
      <p:ext uri="{BB962C8B-B14F-4D97-AF65-F5344CB8AC3E}">
        <p14:creationId xmlns:p14="http://schemas.microsoft.com/office/powerpoint/2010/main" val="39496767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A95748-689B-4E8B-AE18-B2E9CFDEF33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9849A56C-D486-4D8F-A5AE-B1667E9BFCA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모델 의견과 코드 근거</a:t>
            </a:r>
          </a:p>
        </p:txBody>
      </p:sp>
      <p:sp>
        <p:nvSpPr>
          <p:cNvPr id="3" name="">
            <a:extLst xmlns:a="http://schemas.openxmlformats.org/drawingml/2006/main">
              <a:ext uri="{FF2B5EF4-FFF2-40B4-BE49-F238E27FC236}">
                <a16:creationId xmlns:a16="http://schemas.microsoft.com/office/drawing/2014/main" id="{0C5080B0-2875-4ADF-9108-62B9FEBA296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29E5173-3B11-47BE-8919-DEDE90FB74C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1733516-4CD0-43DE-BB8B-7D2DAA46B44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실제 모델 응답</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사람 확인</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초과 쿠폰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−4,000원 가능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계산식과 일치</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입력 검사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수량 0·음수 거절</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제품 규칙과 일치</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문제 위치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checkout.py:5</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계산식은 6행</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실행 여부</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테스트 미실행</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별도 pytest 필요</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87204296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486BF6-2799-4649-AAAD-0E85C80AA2A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시연</a:t>
            </a:r>
          </a:p>
        </p:txBody>
      </p:sp>
      <p:sp>
        <p:nvSpPr>
          <p:cNvPr id="2" name="">
            <a:extLst xmlns:a="http://schemas.openxmlformats.org/drawingml/2006/main">
              <a:ext uri="{FF2B5EF4-FFF2-40B4-BE49-F238E27FC236}">
                <a16:creationId xmlns:a16="http://schemas.microsoft.com/office/drawing/2014/main" id="{CCFAE40D-DD39-4DA4-9433-DEB2F1BF21B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초과 쿠폰의 재현</a:t>
            </a:r>
          </a:p>
        </p:txBody>
      </p:sp>
      <p:sp>
        <p:nvSpPr>
          <p:cNvPr id="3" name="">
            <a:extLst xmlns:a="http://schemas.openxmlformats.org/drawingml/2006/main">
              <a:ext uri="{FF2B5EF4-FFF2-40B4-BE49-F238E27FC236}">
                <a16:creationId xmlns:a16="http://schemas.microsoft.com/office/drawing/2014/main" id="{72DDEC5D-4E46-4C3B-A452-594E36D77AF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45EFCD1-8594-41C4-85E7-AEC3B15D1E6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85298C0-7BF8-466B-9EB2-CC8704AF42F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037</a:t>
            </a:r>
          </a:p>
        </p:txBody>
      </p:sp>
      <p:sp>
        <p:nvSpPr>
          <p:cNvPr id="6" name="">
            <a:extLst xmlns:a="http://schemas.openxmlformats.org/drawingml/2006/main">
              <a:ext uri="{FF2B5EF4-FFF2-40B4-BE49-F238E27FC236}">
                <a16:creationId xmlns:a16="http://schemas.microsoft.com/office/drawing/2014/main" id="{BC7A0E0D-269C-4A28-B7C2-AA994BB635A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D035FD-93E8-41B4-9D3B-5607789D04E7}"/>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checkout import checkout_total</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print(checkout_total(1000, 1, 5000))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수정 전: -4000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요구사항: 0</a:t>
            </a:r>
          </a:p>
        </p:txBody>
      </p:sp>
      <p:sp>
        <p:nvSpPr>
          <p:cNvPr id="8" name="">
            <a:extLst xmlns:a="http://schemas.openxmlformats.org/drawingml/2006/main">
              <a:ext uri="{FF2B5EF4-FFF2-40B4-BE49-F238E27FC236}">
                <a16:creationId xmlns:a16="http://schemas.microsoft.com/office/drawing/2014/main" id="{58400431-8EAC-4A87-BD71-89FD7D16D874}"/>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실습 폴더 안에서 import</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정상 가격·수량 계산은 유지</a:t>
            </a:r>
          </a:p>
        </p:txBody>
      </p:sp>
    </p:spTree>
    <p:extLst>
      <p:ext uri="{BB962C8B-B14F-4D97-AF65-F5344CB8AC3E}">
        <p14:creationId xmlns:p14="http://schemas.microsoft.com/office/powerpoint/2010/main" val="1839418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A737C8-E2A0-45FF-B3A0-EDA84A406A9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23150B82-A532-4A4E-A563-4F3B4222198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결제 입력 규칙</a:t>
            </a:r>
          </a:p>
        </p:txBody>
      </p:sp>
      <p:sp>
        <p:nvSpPr>
          <p:cNvPr id="3" name="">
            <a:extLst xmlns:a="http://schemas.openxmlformats.org/drawingml/2006/main">
              <a:ext uri="{FF2B5EF4-FFF2-40B4-BE49-F238E27FC236}">
                <a16:creationId xmlns:a16="http://schemas.microsoft.com/office/drawing/2014/main" id="{39C0C35C-8DFF-40E4-8597-801FA7F3365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947C7AB-D108-4944-ADF0-009DBD953C0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12A6842-0F8C-433C-9EAA-82DF3870AEF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038</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입력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허용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거절</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가격</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 이상의 값</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음수 가격</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수량</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1 이상의 값</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 또는 음수</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쿠폰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 이상의 값</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음수 쿠폰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최종 결제액</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0원 이상</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음수 결과</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29559405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2D7495-27AE-4D60-89B0-03DC02D1CE5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E1D245F4-652C-4731-BC01-07B395D1313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실패 테스트 읽기</a:t>
            </a:r>
          </a:p>
        </p:txBody>
      </p:sp>
      <p:sp>
        <p:nvSpPr>
          <p:cNvPr id="3" name="">
            <a:extLst xmlns:a="http://schemas.openxmlformats.org/drawingml/2006/main">
              <a:ext uri="{FF2B5EF4-FFF2-40B4-BE49-F238E27FC236}">
                <a16:creationId xmlns:a16="http://schemas.microsoft.com/office/drawing/2014/main" id="{86F2BC06-1BAB-48B4-9492-FBAA20A60F6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A1EFF8C-B6B2-4D27-9DD2-188DE005DEC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7C6F264-3FFF-4DA0-977D-2828992E607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039</a:t>
            </a:r>
          </a:p>
        </p:txBody>
      </p:sp>
      <p:sp>
        <p:nvSpPr>
          <p:cNvPr id="6" name="">
            <a:extLst xmlns:a="http://schemas.openxmlformats.org/drawingml/2006/main">
              <a:ext uri="{FF2B5EF4-FFF2-40B4-BE49-F238E27FC236}">
                <a16:creationId xmlns:a16="http://schemas.microsoft.com/office/drawing/2014/main" id="{F5C34375-A06E-442F-A480-C5863D344DA2}"/>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2109F646-C7F9-46BF-94FD-9AADB37888D0}"/>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check_exercise 실행</a:t>
            </a:r>
          </a:p>
        </p:txBody>
      </p:sp>
      <p:sp>
        <p:nvSpPr>
          <p:cNvPr id="8" name="">
            <a:extLst xmlns:a="http://schemas.openxmlformats.org/drawingml/2006/main">
              <a:ext uri="{FF2B5EF4-FFF2-40B4-BE49-F238E27FC236}">
                <a16:creationId xmlns:a16="http://schemas.microsoft.com/office/drawing/2014/main" id="{F6F91D29-714D-42E7-8950-8C088D2935F9}"/>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5F0BD399-1FAD-4B8E-A340-616CCB69A9B2}"/>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assert의 실제값과 기대값 비교</a:t>
            </a:r>
          </a:p>
        </p:txBody>
      </p:sp>
      <p:sp>
        <p:nvSpPr>
          <p:cNvPr id="10" name="">
            <a:extLst xmlns:a="http://schemas.openxmlformats.org/drawingml/2006/main">
              <a:ext uri="{FF2B5EF4-FFF2-40B4-BE49-F238E27FC236}">
                <a16:creationId xmlns:a16="http://schemas.microsoft.com/office/drawing/2014/main" id="{226B80C7-88DB-48DF-B3FB-893A3675387A}"/>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DA749453-5472-482F-AE33-26F6ED5834BF}"/>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실패한 입력을 제품 규칙과 연결</a:t>
            </a:r>
          </a:p>
        </p:txBody>
      </p:sp>
      <p:sp>
        <p:nvSpPr>
          <p:cNvPr id="12" name="">
            <a:extLst xmlns:a="http://schemas.openxmlformats.org/drawingml/2006/main">
              <a:ext uri="{FF2B5EF4-FFF2-40B4-BE49-F238E27FC236}">
                <a16:creationId xmlns:a16="http://schemas.microsoft.com/office/drawing/2014/main" id="{D9C31516-941B-4E7E-9F6E-0FE88A91BE5F}"/>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95D25916-8A28-4898-B541-2761E343633C}"/>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실습 폴더/test_checkout.py</a:t>
            </a:r>
          </a:p>
        </p:txBody>
      </p:sp>
      <p:sp>
        <p:nvSpPr>
          <p:cNvPr id="14" name="">
            <a:extLst xmlns:a="http://schemas.openxmlformats.org/drawingml/2006/main">
              <a:ext uri="{FF2B5EF4-FFF2-40B4-BE49-F238E27FC236}">
                <a16:creationId xmlns:a16="http://schemas.microsoft.com/office/drawing/2014/main" id="{617B4758-FCE6-461D-858C-8BFB1E05FB4D}"/>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실패 네 건의 원인 구분</a:t>
            </a:r>
          </a:p>
        </p:txBody>
      </p:sp>
    </p:spTree>
    <p:extLst>
      <p:ext uri="{BB962C8B-B14F-4D97-AF65-F5344CB8AC3E}">
        <p14:creationId xmlns:p14="http://schemas.microsoft.com/office/powerpoint/2010/main" val="176125003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ECEF99-9A53-4582-841E-5BF87809994B}"/>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결과 확인</a:t>
            </a:r>
          </a:p>
        </p:txBody>
      </p:sp>
      <p:sp>
        <p:nvSpPr>
          <p:cNvPr id="2" name="">
            <a:extLst xmlns:a="http://schemas.openxmlformats.org/drawingml/2006/main">
              <a:ext uri="{FF2B5EF4-FFF2-40B4-BE49-F238E27FC236}">
                <a16:creationId xmlns:a16="http://schemas.microsoft.com/office/drawing/2014/main" id="{27658203-5803-42AA-AC30-3B2285D0AB3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pytest 메시지의 구분</a:t>
            </a:r>
          </a:p>
        </p:txBody>
      </p:sp>
      <p:sp>
        <p:nvSpPr>
          <p:cNvPr id="3" name="">
            <a:extLst xmlns:a="http://schemas.openxmlformats.org/drawingml/2006/main">
              <a:ext uri="{FF2B5EF4-FFF2-40B4-BE49-F238E27FC236}">
                <a16:creationId xmlns:a16="http://schemas.microsoft.com/office/drawing/2014/main" id="{437F6049-5DAD-4246-A6B4-0EF456B211D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0ADC8D0-8459-41F4-918D-3428F1A47AC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AAC8274-22ED-4FEF-90F0-5F7DB1996D8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524250"/>
                <a:gridCol w="3714750"/>
                <a:gridCol w="373380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표시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뜻</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다음 수정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assert -4000 == 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실제 계산값과</a:t>
                      </a:r>
                    </a:p>
                    <a:p>
                      <a:pPr algn="l">
                        <a:lnSpc>
                          <a:spcPct val="105000"/>
                        </a:lnSpc>
                        <a:buNone/>
                      </a:pPr>
                      <a:r>
                        <a:rPr sz="1950" b="0">
                          <a:solidFill>
                            <a:srgbClr val="161616"/>
                          </a:solidFill>
                          <a:latin typeface="NanumGothic"/>
                          <a:ea typeface="NanumGothic"/>
                          <a:cs typeface="NanumGothic"/>
                        </a:rPr>
                        <a:t>기대값 불일치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a:t>
                      </a:r>
                    </a:p>
                    <a:p>
                      <a:pPr algn="l">
                        <a:lnSpc>
                          <a:spcPct val="105000"/>
                        </a:lnSpc>
                        <a:buNone/>
                      </a:pPr>
                      <a:r>
                        <a:rPr sz="1950" b="0">
                          <a:solidFill>
                            <a:srgbClr val="161616"/>
                          </a:solidFill>
                          <a:latin typeface="NanumGothic"/>
                          <a:ea typeface="NanumGothic"/>
                          <a:cs typeface="NanumGothic"/>
                        </a:rPr>
                        <a:t>최종 금액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DID NOT RAISE</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거절해야 할 입력을</a:t>
                      </a:r>
                    </a:p>
                    <a:p>
                      <a:pPr algn="l">
                        <a:lnSpc>
                          <a:spcPct val="105000"/>
                        </a:lnSpc>
                        <a:buNone/>
                      </a:pPr>
                      <a:r>
                        <a:rPr sz="1950" b="0">
                          <a:solidFill>
                            <a:srgbClr val="161616"/>
                          </a:solidFill>
                          <a:latin typeface="NanumGothic"/>
                          <a:ea typeface="NanumGothic"/>
                          <a:cs typeface="NanumGothic"/>
                        </a:rPr>
                        <a:t>함수가 그대로 처리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checkout.py</a:t>
                      </a:r>
                    </a:p>
                    <a:p>
                      <a:pPr algn="l">
                        <a:lnSpc>
                          <a:spcPct val="105000"/>
                        </a:lnSpc>
                        <a:buNone/>
                      </a:pPr>
                      <a:r>
                        <a:rPr sz="1950" b="0">
                          <a:solidFill>
                            <a:srgbClr val="161616"/>
                          </a:solidFill>
                          <a:latin typeface="NanumGothic"/>
                          <a:ea typeface="NanumGothic"/>
                          <a:cs typeface="NanumGothic"/>
                        </a:rPr>
                        <a:t>입력 검사 추가</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IndentationError</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Python 들여쓰기 오류</a:t>
                      </a:r>
                    </a:p>
                    <a:p>
                      <a:pPr algn="l">
                        <a:lnSpc>
                          <a:spcPct val="105000"/>
                        </a:lnSpc>
                        <a:buNone/>
                      </a:pPr>
                      <a:r>
                        <a:rPr sz="1950" b="0">
                          <a:solidFill>
                            <a:srgbClr val="161616"/>
                          </a:solidFill>
                          <a:latin typeface="NanumGothic"/>
                          <a:ea typeface="NanumGothic"/>
                          <a:cs typeface="NanumGothic"/>
                        </a:rPr>
                        <a:t>기능 검사 전 중단</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함수 안에서</a:t>
                      </a:r>
                    </a:p>
                    <a:p>
                      <a:pPr algn="l">
                        <a:lnSpc>
                          <a:spcPct val="105000"/>
                        </a:lnSpc>
                        <a:buNone/>
                      </a:pPr>
                      <a:r>
                        <a:rPr sz="1950" b="0">
                          <a:solidFill>
                            <a:srgbClr val="161616"/>
                          </a:solidFill>
                          <a:latin typeface="NanumGothic"/>
                          <a:ea typeface="NanumGothic"/>
                          <a:cs typeface="NanumGothic"/>
                        </a:rPr>
                        <a:t>공백 깊이 정렬</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ModuleNotFoundError</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실행 Python에서</a:t>
                      </a:r>
                    </a:p>
                    <a:p>
                      <a:pPr algn="l">
                        <a:lnSpc>
                          <a:spcPct val="105000"/>
                        </a:lnSpc>
                        <a:buNone/>
                      </a:pPr>
                      <a:r>
                        <a:rPr sz="1950" b="0">
                          <a:solidFill>
                            <a:srgbClr val="161616"/>
                          </a:solidFill>
                          <a:latin typeface="NanumGothic"/>
                          <a:ea typeface="NanumGothic"/>
                          <a:cs typeface="NanumGothic"/>
                        </a:rPr>
                        <a:t>모듈을 찾지 못함</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커널·설치·경로 확인</a:t>
                      </a:r>
                    </a:p>
                    <a:p>
                      <a:pPr algn="l">
                        <a:lnSpc>
                          <a:spcPct val="105000"/>
                        </a:lnSpc>
                        <a:buNone/>
                      </a:pPr>
                      <a:r>
                        <a:rPr sz="1950" b="0">
                          <a:solidFill>
                            <a:srgbClr val="161616"/>
                          </a:solidFill>
                          <a:latin typeface="NanumGothic"/>
                          <a:ea typeface="NanumGothic"/>
                          <a:cs typeface="NanumGothic"/>
                        </a:rPr>
                        <a:t>기대값 수정 금지</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42960556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558318-CB37-49B2-B885-0632B846D06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159C3C5E-F655-4719-8294-EB80F1D38A0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결제 코드 수정</a:t>
            </a:r>
          </a:p>
        </p:txBody>
      </p:sp>
      <p:sp>
        <p:nvSpPr>
          <p:cNvPr id="3" name="">
            <a:extLst xmlns:a="http://schemas.openxmlformats.org/drawingml/2006/main">
              <a:ext uri="{FF2B5EF4-FFF2-40B4-BE49-F238E27FC236}">
                <a16:creationId xmlns:a16="http://schemas.microsoft.com/office/drawing/2014/main" id="{5742E2EB-6B24-4C50-B0FA-F1E3AF8D540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2AFFA1C6-080C-423A-91F5-BF2A0E62ED3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69E484F-946A-4DB3-821E-0DCF8273D04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041</a:t>
            </a:r>
          </a:p>
        </p:txBody>
      </p:sp>
      <p:sp>
        <p:nvSpPr>
          <p:cNvPr id="6" name="">
            <a:extLst xmlns:a="http://schemas.openxmlformats.org/drawingml/2006/main">
              <a:ext uri="{FF2B5EF4-FFF2-40B4-BE49-F238E27FC236}">
                <a16:creationId xmlns:a16="http://schemas.microsoft.com/office/drawing/2014/main" id="{9812C6AA-353C-4818-BFAB-F7DFF6E3D5D6}"/>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E8FA9BA0-35F3-44AE-8727-8A3BE7CC6F87}"/>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가격·수량·쿠폰 입력 검사 추가</a:t>
            </a:r>
          </a:p>
        </p:txBody>
      </p:sp>
      <p:sp>
        <p:nvSpPr>
          <p:cNvPr id="8" name="">
            <a:extLst xmlns:a="http://schemas.openxmlformats.org/drawingml/2006/main">
              <a:ext uri="{FF2B5EF4-FFF2-40B4-BE49-F238E27FC236}">
                <a16:creationId xmlns:a16="http://schemas.microsoft.com/office/drawing/2014/main" id="{703DE16A-5376-46F3-9C35-83565D8BFC0F}"/>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F465FF70-BE15-4B5D-A156-2998EDFE26FF}"/>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음수 결제액을 0으로 제한</a:t>
            </a:r>
          </a:p>
        </p:txBody>
      </p:sp>
      <p:sp>
        <p:nvSpPr>
          <p:cNvPr id="10" name="">
            <a:extLst xmlns:a="http://schemas.openxmlformats.org/drawingml/2006/main">
              <a:ext uri="{FF2B5EF4-FFF2-40B4-BE49-F238E27FC236}">
                <a16:creationId xmlns:a16="http://schemas.microsoft.com/office/drawing/2014/main" id="{5992F684-95A4-4708-95DF-DF0C7143B38B}"/>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6FFB8A15-6967-4EDE-927B-C33C08A2C0A7}"/>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같은 테스트 명령으로 재실행</a:t>
            </a:r>
          </a:p>
        </p:txBody>
      </p:sp>
      <p:sp>
        <p:nvSpPr>
          <p:cNvPr id="12" name="">
            <a:extLst xmlns:a="http://schemas.openxmlformats.org/drawingml/2006/main">
              <a:ext uri="{FF2B5EF4-FFF2-40B4-BE49-F238E27FC236}">
                <a16:creationId xmlns:a16="http://schemas.microsoft.com/office/drawing/2014/main" id="{F3482ABD-DBDF-4120-8644-A3B54DFB5218}"/>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E8A9C05D-5B5E-4598-9941-8F935E01C6B7}"/>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실습 폴더/checkout.py</a:t>
            </a:r>
          </a:p>
        </p:txBody>
      </p:sp>
      <p:sp>
        <p:nvSpPr>
          <p:cNvPr id="14" name="">
            <a:extLst xmlns:a="http://schemas.openxmlformats.org/drawingml/2006/main">
              <a:ext uri="{FF2B5EF4-FFF2-40B4-BE49-F238E27FC236}">
                <a16:creationId xmlns:a16="http://schemas.microsoft.com/office/drawing/2014/main" id="{4DC3022B-6269-4F27-9470-AFFBEF05FF89}"/>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5 passed · 테스트 기대값 변경 금지</a:t>
            </a:r>
          </a:p>
        </p:txBody>
      </p:sp>
    </p:spTree>
    <p:extLst>
      <p:ext uri="{BB962C8B-B14F-4D97-AF65-F5344CB8AC3E}">
        <p14:creationId xmlns:p14="http://schemas.microsoft.com/office/powerpoint/2010/main" val="160495292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C8ADA9-3EB6-49C3-AEC4-5F6D39D6896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FA478D67-7ADA-4916-9443-7AE1F73C80E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최소 수정 예시</a:t>
            </a:r>
          </a:p>
        </p:txBody>
      </p:sp>
      <p:sp>
        <p:nvSpPr>
          <p:cNvPr id="3" name="">
            <a:extLst xmlns:a="http://schemas.openxmlformats.org/drawingml/2006/main">
              <a:ext uri="{FF2B5EF4-FFF2-40B4-BE49-F238E27FC236}">
                <a16:creationId xmlns:a16="http://schemas.microsoft.com/office/drawing/2014/main" id="{15309EFB-7B29-48D0-9621-6119C4CE162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049CBDA-78BB-46DC-994A-74952F23360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A3B2BC7-71BD-4929-A24E-455A41F4545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042</a:t>
            </a:r>
          </a:p>
        </p:txBody>
      </p:sp>
      <p:sp>
        <p:nvSpPr>
          <p:cNvPr id="6" name="">
            <a:extLst xmlns:a="http://schemas.openxmlformats.org/drawingml/2006/main">
              <a:ext uri="{FF2B5EF4-FFF2-40B4-BE49-F238E27FC236}">
                <a16:creationId xmlns:a16="http://schemas.microsoft.com/office/drawing/2014/main" id="{DD5B513A-4189-4628-B78D-4534C9D44F01}"/>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BA98BC-E704-4143-BBEC-7A2060755866}"/>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if price &lt; 0 or quantity &lt; 1 or coupon &lt; 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raise ValueError("INVALID_CHECKOUT_INPUT")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return max(0, price * quantity - coupon)</a:t>
            </a:r>
          </a:p>
        </p:txBody>
      </p:sp>
      <p:sp>
        <p:nvSpPr>
          <p:cNvPr id="8" name="">
            <a:extLst xmlns:a="http://schemas.openxmlformats.org/drawingml/2006/main">
              <a:ext uri="{FF2B5EF4-FFF2-40B4-BE49-F238E27FC236}">
                <a16:creationId xmlns:a16="http://schemas.microsoft.com/office/drawing/2014/main" id="{BBA0A2F0-0AAF-40D1-85AF-D813FE9741E6}"/>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기존 함수 안의 수정</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정상 입력 + 초과 쿠폰 + 잘못된 입력</a:t>
            </a:r>
          </a:p>
        </p:txBody>
      </p:sp>
    </p:spTree>
    <p:extLst>
      <p:ext uri="{BB962C8B-B14F-4D97-AF65-F5344CB8AC3E}">
        <p14:creationId xmlns:p14="http://schemas.microsoft.com/office/powerpoint/2010/main" val="169222074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9870BC6-5DEA-40A1-B018-96CFE8F04F3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06AEC87A-29B7-4DD6-A97F-1A31122D2EB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파일과 저장 상태</a:t>
            </a:r>
          </a:p>
        </p:txBody>
      </p:sp>
      <p:sp>
        <p:nvSpPr>
          <p:cNvPr id="3" name="">
            <a:extLst xmlns:a="http://schemas.openxmlformats.org/drawingml/2006/main">
              <a:ext uri="{FF2B5EF4-FFF2-40B4-BE49-F238E27FC236}">
                <a16:creationId xmlns:a16="http://schemas.microsoft.com/office/drawing/2014/main" id="{70A79861-0C89-4867-90D0-2BA344D4A83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02C90DA-61F6-4E1D-B1F3-EF5215B7416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7DA1EC5-6ECC-490F-B4A2-896A49B15AE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043</a:t>
            </a:r>
          </a:p>
        </p:txBody>
      </p:sp>
      <p:sp>
        <p:nvSpPr>
          <p:cNvPr id="6" name="">
            <a:extLst xmlns:a="http://schemas.openxmlformats.org/drawingml/2006/main">
              <a:ext uri="{FF2B5EF4-FFF2-40B4-BE49-F238E27FC236}">
                <a16:creationId xmlns:a16="http://schemas.microsoft.com/office/drawing/2014/main" id="{E5FACC09-3ADA-442F-BE7E-431DD3CE943E}"/>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617830C-91B9-45CE-8E68-7289A3D7A722}"/>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Notebook이 출력한 EXERCISE/checkout.py 열기</a:t>
            </a:r>
          </a:p>
        </p:txBody>
      </p:sp>
      <p:sp>
        <p:nvSpPr>
          <p:cNvPr id="8" name="">
            <a:extLst xmlns:a="http://schemas.openxmlformats.org/drawingml/2006/main">
              <a:ext uri="{FF2B5EF4-FFF2-40B4-BE49-F238E27FC236}">
                <a16:creationId xmlns:a16="http://schemas.microsoft.com/office/drawing/2014/main" id="{90E6D825-DC82-4AEC-9214-74696F14D4BC}"/>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E11C0614-A6AD-4BE2-8BB7-58625D350ACF}"/>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checkout_total 함수 안에 검사·반환식 수정</a:t>
            </a:r>
          </a:p>
        </p:txBody>
      </p:sp>
      <p:sp>
        <p:nvSpPr>
          <p:cNvPr id="10" name="">
            <a:extLst xmlns:a="http://schemas.openxmlformats.org/drawingml/2006/main">
              <a:ext uri="{FF2B5EF4-FFF2-40B4-BE49-F238E27FC236}">
                <a16:creationId xmlns:a16="http://schemas.microsoft.com/office/drawing/2014/main" id="{A846D36F-4045-4A79-BAF1-0303ADD8C519}"/>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1548751E-6E70-41EB-83E8-FD1BB83C5274}"/>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Ctrl+S 또는 ⌘S로 저장하고 수정 표시 확인</a:t>
            </a:r>
          </a:p>
        </p:txBody>
      </p:sp>
      <p:sp>
        <p:nvSpPr>
          <p:cNvPr id="12" name="">
            <a:extLst xmlns:a="http://schemas.openxmlformats.org/drawingml/2006/main">
              <a:ext uri="{FF2B5EF4-FFF2-40B4-BE49-F238E27FC236}">
                <a16:creationId xmlns:a16="http://schemas.microsoft.com/office/drawing/2014/main" id="{EFD246EA-8BBB-4C1C-88A9-4538C0E05374}"/>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F91BEB46-67A5-4DC4-9322-0E693AA10435}"/>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current_test 셀만 다시 실행해 새 결과 확인</a:t>
            </a:r>
          </a:p>
        </p:txBody>
      </p:sp>
      <p:sp>
        <p:nvSpPr>
          <p:cNvPr id="14" name="">
            <a:extLst xmlns:a="http://schemas.openxmlformats.org/drawingml/2006/main">
              <a:ext uri="{FF2B5EF4-FFF2-40B4-BE49-F238E27FC236}">
                <a16:creationId xmlns:a16="http://schemas.microsoft.com/office/drawing/2014/main" id="{F8F2634D-DDEE-4E15-AB3F-8B0EBD7D49DA}"/>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1CAAC687-9407-4370-ABB6-927546986C0D}"/>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실습 폴더/checkout.py · Notebook current_test 셀</a:t>
            </a:r>
          </a:p>
        </p:txBody>
      </p:sp>
      <p:sp>
        <p:nvSpPr>
          <p:cNvPr id="16" name="">
            <a:extLst xmlns:a="http://schemas.openxmlformats.org/drawingml/2006/main">
              <a:ext uri="{FF2B5EF4-FFF2-40B4-BE49-F238E27FC236}">
                <a16:creationId xmlns:a16="http://schemas.microsoft.com/office/drawing/2014/main" id="{3A5C2F78-31E2-414E-A186-708F751C35A0}"/>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기본 제공 5개 테스트 모두 통과</a:t>
            </a:r>
          </a:p>
        </p:txBody>
      </p:sp>
    </p:spTree>
    <p:extLst>
      <p:ext uri="{BB962C8B-B14F-4D97-AF65-F5344CB8AC3E}">
        <p14:creationId xmlns:p14="http://schemas.microsoft.com/office/powerpoint/2010/main" val="139392788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7FDADD-6275-4D59-8A15-4A77A2E94BF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F8ECF168-675B-4C5E-B3B8-78963A88255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정상 계산의 회귀 검사</a:t>
            </a:r>
          </a:p>
        </p:txBody>
      </p:sp>
      <p:sp>
        <p:nvSpPr>
          <p:cNvPr id="3" name="">
            <a:extLst xmlns:a="http://schemas.openxmlformats.org/drawingml/2006/main">
              <a:ext uri="{FF2B5EF4-FFF2-40B4-BE49-F238E27FC236}">
                <a16:creationId xmlns:a16="http://schemas.microsoft.com/office/drawing/2014/main" id="{F7FB64CA-3E3E-4B46-92B2-9FC7834C8BF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1585FB3-2AD8-47DA-BA9D-31112A69548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B999775-543A-4096-9A9A-BB9FF5BBB32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044</a:t>
            </a:r>
          </a:p>
        </p:txBody>
      </p:sp>
      <p:sp>
        <p:nvSpPr>
          <p:cNvPr id="6" name="">
            <a:extLst xmlns:a="http://schemas.openxmlformats.org/drawingml/2006/main">
              <a:ext uri="{FF2B5EF4-FFF2-40B4-BE49-F238E27FC236}">
                <a16:creationId xmlns:a16="http://schemas.microsoft.com/office/drawing/2014/main" id="{C47C337B-BA58-4908-A143-EFF7C6DB5DC6}"/>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90862D7-DBAA-4552-A4D7-0690B4E6C02F}"/>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command =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sys.executable, "-m", "pytest", "-q",</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"test_checkout.py", "-k", "normal_coupon",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normal = subprocess.run(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command, cwd=EXERCISE, capture_output=True, text=True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print(normal.stdout)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normal.returncode == 0</a:t>
            </a:r>
          </a:p>
        </p:txBody>
      </p:sp>
      <p:sp>
        <p:nvSpPr>
          <p:cNvPr id="8" name="">
            <a:extLst xmlns:a="http://schemas.openxmlformats.org/drawingml/2006/main">
              <a:ext uri="{FF2B5EF4-FFF2-40B4-BE49-F238E27FC236}">
                <a16:creationId xmlns:a16="http://schemas.microsoft.com/office/drawing/2014/main" id="{DC57066D-EC2B-442C-A7A5-90B70B53D5F8}"/>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기본 샘플: 1 passed, 4 deselected</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회귀 검사: 수정 전 정상 기능의 유지 확인</a:t>
            </a:r>
          </a:p>
        </p:txBody>
      </p:sp>
    </p:spTree>
    <p:extLst>
      <p:ext uri="{BB962C8B-B14F-4D97-AF65-F5344CB8AC3E}">
        <p14:creationId xmlns:p14="http://schemas.microsoft.com/office/powerpoint/2010/main" val="9158435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9ECEEE-C8EE-4BAF-9591-7087A92B396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CF2B552F-6FE4-4C84-9AB9-7D2A9DBBD37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Diff의 재검토</a:t>
            </a:r>
          </a:p>
        </p:txBody>
      </p:sp>
      <p:sp>
        <p:nvSpPr>
          <p:cNvPr id="3" name="">
            <a:extLst xmlns:a="http://schemas.openxmlformats.org/drawingml/2006/main">
              <a:ext uri="{FF2B5EF4-FFF2-40B4-BE49-F238E27FC236}">
                <a16:creationId xmlns:a16="http://schemas.microsoft.com/office/drawing/2014/main" id="{5E55D4AD-0FEA-4608-AF1F-E350AC27F30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64C007D-7753-4CEE-9F9E-C7B71BFE922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7085C4E-BF64-4DF5-8F3C-CD7AC1B051C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045</a:t>
            </a:r>
          </a:p>
        </p:txBody>
      </p:sp>
      <p:sp>
        <p:nvSpPr>
          <p:cNvPr id="6" name="">
            <a:extLst xmlns:a="http://schemas.openxmlformats.org/drawingml/2006/main">
              <a:ext uri="{FF2B5EF4-FFF2-40B4-BE49-F238E27FC236}">
                <a16:creationId xmlns:a16="http://schemas.microsoft.com/office/drawing/2014/main" id="{78F20E50-7FBA-4B7E-A66C-2B146140061A}"/>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E46CDEAE-F7B9-4D7A-97AB-89220356926F}"/>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E8B2F9-FAD6-4E31-86F8-00AE36F3DAAE}"/>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내가 수정한 checkout.py의 diff를 리뷰해 줘. 정상 쿠폰 계산이 유지되는지, 잘못된 입력이 거절되는지, 테스트를 약하게 바꾸지 않았는지 확인해 줘. 불필요한 라이브러리와 추상화는 추가하지 마.</a:t>
            </a:r>
          </a:p>
        </p:txBody>
      </p:sp>
      <p:sp>
        <p:nvSpPr>
          <p:cNvPr id="9" name="">
            <a:extLst xmlns:a="http://schemas.openxmlformats.org/drawingml/2006/main">
              <a:ext uri="{FF2B5EF4-FFF2-40B4-BE49-F238E27FC236}">
                <a16:creationId xmlns:a16="http://schemas.microsoft.com/office/drawing/2014/main" id="{1C2337E7-3820-4E3B-91DC-280C229D720B}"/>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D8FB5DCD-E823-4050-90E2-BE38BFDDBA90}"/>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기존 기능 · 입력 오류 · 테스트 보존</a:t>
            </a:r>
          </a:p>
        </p:txBody>
      </p:sp>
    </p:spTree>
    <p:extLst>
      <p:ext uri="{BB962C8B-B14F-4D97-AF65-F5344CB8AC3E}">
        <p14:creationId xmlns:p14="http://schemas.microsoft.com/office/powerpoint/2010/main" val="115347638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9B8325-C13E-4055-9572-318690374E0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5557404C-9251-4F26-A8E8-AA4BC47011F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전후의 파일 비교</a:t>
            </a:r>
          </a:p>
        </p:txBody>
      </p:sp>
      <p:sp>
        <p:nvSpPr>
          <p:cNvPr id="3" name="">
            <a:extLst xmlns:a="http://schemas.openxmlformats.org/drawingml/2006/main">
              <a:ext uri="{FF2B5EF4-FFF2-40B4-BE49-F238E27FC236}">
                <a16:creationId xmlns:a16="http://schemas.microsoft.com/office/drawing/2014/main" id="{C2BD22C0-5D45-4EAB-967F-50D1AEDE3ED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34E2F3E-F875-449B-B4A5-09CCC2F0E4C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FD75BC5-FBAA-4E1B-98C4-7A43C9EDC29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046</a:t>
            </a:r>
          </a:p>
        </p:txBody>
      </p:sp>
      <p:sp>
        <p:nvSpPr>
          <p:cNvPr id="6" name="">
            <a:extLst xmlns:a="http://schemas.openxmlformats.org/drawingml/2006/main">
              <a:ext uri="{FF2B5EF4-FFF2-40B4-BE49-F238E27FC236}">
                <a16:creationId xmlns:a16="http://schemas.microsoft.com/office/drawing/2014/main" id="{0A565130-4389-474D-A7C9-647D65A53725}"/>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4EFCAD-00FC-497F-9581-3AD5C1B76E39}"/>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difflib import unified_diff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source = ROOT / "labs/day4/pr_review_lab/fixtures/checkout.py"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old = source.read_text(encoding="utf-8").splitlines()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new = (EXERCISE / "checkout.py").read_text(encoding="utf-8")</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diff = unified_diff(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old, new.splitlines(), fromfile="before", tofile="my-checkout",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lineterm=""</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print("\n".join(diff))</a:t>
            </a:r>
          </a:p>
        </p:txBody>
      </p:sp>
      <p:sp>
        <p:nvSpPr>
          <p:cNvPr id="8" name="">
            <a:extLst xmlns:a="http://schemas.openxmlformats.org/drawingml/2006/main">
              <a:ext uri="{FF2B5EF4-FFF2-40B4-BE49-F238E27FC236}">
                <a16:creationId xmlns:a16="http://schemas.microsoft.com/office/drawing/2014/main" id="{8E93EEBB-59BA-4E9F-AF51-EB4EBF9EDA7F}"/>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 입력 검사 · + 0원 하한의 추가 확인</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로컬 파일 비교 · GitHub PR 갱신과 별개</a:t>
            </a:r>
          </a:p>
        </p:txBody>
      </p:sp>
    </p:spTree>
    <p:extLst>
      <p:ext uri="{BB962C8B-B14F-4D97-AF65-F5344CB8AC3E}">
        <p14:creationId xmlns:p14="http://schemas.microsoft.com/office/powerpoint/2010/main" val="149122564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404B51-E116-4182-AABB-3EDB9B6C35C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이론</a:t>
            </a:r>
          </a:p>
        </p:txBody>
      </p:sp>
      <p:sp>
        <p:nvSpPr>
          <p:cNvPr id="2" name="">
            <a:extLst xmlns:a="http://schemas.openxmlformats.org/drawingml/2006/main">
              <a:ext uri="{FF2B5EF4-FFF2-40B4-BE49-F238E27FC236}">
                <a16:creationId xmlns:a16="http://schemas.microsoft.com/office/drawing/2014/main" id="{D24E5694-64FC-4A3D-8F5D-A4A34173AF4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승인의 범위</a:t>
            </a:r>
          </a:p>
        </p:txBody>
      </p:sp>
      <p:sp>
        <p:nvSpPr>
          <p:cNvPr id="3" name="">
            <a:extLst xmlns:a="http://schemas.openxmlformats.org/drawingml/2006/main">
              <a:ext uri="{FF2B5EF4-FFF2-40B4-BE49-F238E27FC236}">
                <a16:creationId xmlns:a16="http://schemas.microsoft.com/office/drawing/2014/main" id="{F8F48388-C785-4C24-A792-40C4CA5E5D6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C147F7F-2FFE-498E-A749-17E9EA4324D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7CF7D83-591B-442F-9BF7-07BB256B01E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대상</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고정할 값</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어디에</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저장소와 PR 번호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어떤 코드에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head SHA</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어떤 내용을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리뷰 본문의 해시</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누가 확인했는지</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검토자 식별값</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33610947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243A42-D223-4F0C-AD74-7D01535AA91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시연</a:t>
            </a:r>
          </a:p>
        </p:txBody>
      </p:sp>
      <p:sp>
        <p:nvSpPr>
          <p:cNvPr id="2" name="">
            <a:extLst xmlns:a="http://schemas.openxmlformats.org/drawingml/2006/main">
              <a:ext uri="{FF2B5EF4-FFF2-40B4-BE49-F238E27FC236}">
                <a16:creationId xmlns:a16="http://schemas.microsoft.com/office/drawing/2014/main" id="{0E13CC66-DB69-4FC9-A99D-8D9627ABD44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게시 전 미리보기</a:t>
            </a:r>
          </a:p>
        </p:txBody>
      </p:sp>
      <p:sp>
        <p:nvSpPr>
          <p:cNvPr id="3" name="">
            <a:extLst xmlns:a="http://schemas.openxmlformats.org/drawingml/2006/main">
              <a:ext uri="{FF2B5EF4-FFF2-40B4-BE49-F238E27FC236}">
                <a16:creationId xmlns:a16="http://schemas.microsoft.com/office/drawing/2014/main" id="{D6B1A0C1-F588-448C-B1E1-1CF8A45A10A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7182F65-9C8A-4FE1-BF89-38159C49417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50884F3-F4DB-45D1-8612-450C9EC280A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048</a:t>
            </a:r>
          </a:p>
        </p:txBody>
      </p:sp>
      <p:sp>
        <p:nvSpPr>
          <p:cNvPr id="6" name="">
            <a:extLst xmlns:a="http://schemas.openxmlformats.org/drawingml/2006/main">
              <a:ext uri="{FF2B5EF4-FFF2-40B4-BE49-F238E27FC236}">
                <a16:creationId xmlns:a16="http://schemas.microsoft.com/office/drawing/2014/main" id="{5E61C639-C939-4A87-A3C8-F90180AEBEE6}"/>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9C7A82-4180-4142-AE00-039812030B26}"/>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approval = approve_preview(</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snapshot, review,</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approved=True, reviewer="student")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preview = preview_publication(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snapshot, review, approval,</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current_head_sha=snapshot["head_sha"])</a:t>
            </a:r>
          </a:p>
        </p:txBody>
      </p:sp>
      <p:sp>
        <p:nvSpPr>
          <p:cNvPr id="8" name="">
            <a:extLst xmlns:a="http://schemas.openxmlformats.org/drawingml/2006/main">
              <a:ext uri="{FF2B5EF4-FFF2-40B4-BE49-F238E27FC236}">
                <a16:creationId xmlns:a16="http://schemas.microsoft.com/office/drawing/2014/main" id="{3449AA1F-8CFD-487A-AD8E-3A1EABB30558}"/>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본문을 읽은 뒤 approved=True 선택</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PREVIEW_ONLY · 원격 게시 없음</a:t>
            </a:r>
          </a:p>
        </p:txBody>
      </p:sp>
    </p:spTree>
    <p:extLst>
      <p:ext uri="{BB962C8B-B14F-4D97-AF65-F5344CB8AC3E}">
        <p14:creationId xmlns:p14="http://schemas.microsoft.com/office/powerpoint/2010/main" val="112936413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01133D-E659-4BAF-BF10-A8FD16F0713B}"/>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코드·파일 작업</a:t>
            </a:r>
          </a:p>
        </p:txBody>
      </p:sp>
      <p:sp>
        <p:nvSpPr>
          <p:cNvPr id="2" name="">
            <a:extLst xmlns:a="http://schemas.openxmlformats.org/drawingml/2006/main">
              <a:ext uri="{FF2B5EF4-FFF2-40B4-BE49-F238E27FC236}">
                <a16:creationId xmlns:a16="http://schemas.microsoft.com/office/drawing/2014/main" id="{763118BD-A373-4C4C-A58E-58294848417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결과의 HTML 저장</a:t>
            </a:r>
          </a:p>
        </p:txBody>
      </p:sp>
      <p:sp>
        <p:nvSpPr>
          <p:cNvPr id="3" name="">
            <a:extLst xmlns:a="http://schemas.openxmlformats.org/drawingml/2006/main">
              <a:ext uri="{FF2B5EF4-FFF2-40B4-BE49-F238E27FC236}">
                <a16:creationId xmlns:a16="http://schemas.microsoft.com/office/drawing/2014/main" id="{246ED706-2E44-4036-BF4C-8DA010CD72B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680337D-4917-4CD9-A85F-3FC83D8E55D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295C5A5-4E72-4A9A-8B99-3F3A2FC0A20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049</a:t>
            </a:r>
          </a:p>
        </p:txBody>
      </p:sp>
      <p:sp>
        <p:nvSpPr>
          <p:cNvPr id="6" name="">
            <a:extLst xmlns:a="http://schemas.openxmlformats.org/drawingml/2006/main">
              <a:ext uri="{FF2B5EF4-FFF2-40B4-BE49-F238E27FC236}">
                <a16:creationId xmlns:a16="http://schemas.microsoft.com/office/drawing/2014/main" id="{057E0BD1-38E6-47DA-BBDB-5D6553BF3C4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678C69-A6D2-4999-B888-6575A6DF72C9}"/>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current_test = check_exercise(ROOT, EXERCISE)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folder = RUN / "pr" / ("report-" + uuid.uuid4().hex[:6])</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files = render_outputs(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ROOT, folder, snapshot, review,</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test_result=current_test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file_link(files["review.html"])</a:t>
            </a:r>
          </a:p>
        </p:txBody>
      </p:sp>
      <p:sp>
        <p:nvSpPr>
          <p:cNvPr id="8" name="">
            <a:extLst xmlns:a="http://schemas.openxmlformats.org/drawingml/2006/main">
              <a:ext uri="{FF2B5EF4-FFF2-40B4-BE49-F238E27FC236}">
                <a16:creationId xmlns:a16="http://schemas.microsoft.com/office/drawing/2014/main" id="{5977F4EE-D193-4BE3-B350-729D6E1F4C06}"/>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새 HTML의 현재 로컬 테스트 결과 확인</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원본 PR 리뷰는 유지 · 게시 상태는 확인 대기</a:t>
            </a:r>
          </a:p>
        </p:txBody>
      </p:sp>
    </p:spTree>
    <p:extLst>
      <p:ext uri="{BB962C8B-B14F-4D97-AF65-F5344CB8AC3E}">
        <p14:creationId xmlns:p14="http://schemas.microsoft.com/office/powerpoint/2010/main" val="124152308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982F43-ABD5-40E6-A535-1CE812C7D0D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결과 확인</a:t>
            </a:r>
          </a:p>
        </p:txBody>
      </p:sp>
      <p:sp>
        <p:nvSpPr>
          <p:cNvPr id="2" name="">
            <a:extLst xmlns:a="http://schemas.openxmlformats.org/drawingml/2006/main">
              <a:ext uri="{FF2B5EF4-FFF2-40B4-BE49-F238E27FC236}">
                <a16:creationId xmlns:a16="http://schemas.microsoft.com/office/drawing/2014/main" id="{F4AB724E-5F66-4626-B373-71FC2DCD0A8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2차시 확인</a:t>
            </a:r>
          </a:p>
        </p:txBody>
      </p:sp>
      <p:sp>
        <p:nvSpPr>
          <p:cNvPr id="3" name="">
            <a:extLst xmlns:a="http://schemas.openxmlformats.org/drawingml/2006/main">
              <a:ext uri="{FF2B5EF4-FFF2-40B4-BE49-F238E27FC236}">
                <a16:creationId xmlns:a16="http://schemas.microsoft.com/office/drawing/2014/main" id="{788EDEFB-56CE-4E7B-A614-DFB3E987D55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6F80231-7146-4049-80C1-BA4C052DC7C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ADB7E25-8093-422A-A353-B19A9E0901E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수정 결과</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5 passed · 변경 diff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리뷰 문서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재현 조건과 최소 수정 포함</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게시 구분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preview는 전송 기록이 아님</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사람 검토</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초안의 내용과 대상을 직접 확인</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76857248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080169-A942-4FA8-AF5E-9F5DC1CC205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선택 확장</a:t>
            </a:r>
          </a:p>
        </p:txBody>
      </p:sp>
      <p:sp>
        <p:nvSpPr>
          <p:cNvPr id="2" name="">
            <a:extLst xmlns:a="http://schemas.openxmlformats.org/drawingml/2006/main">
              <a:ext uri="{FF2B5EF4-FFF2-40B4-BE49-F238E27FC236}">
                <a16:creationId xmlns:a16="http://schemas.microsoft.com/office/drawing/2014/main" id="{9FE15936-EE0C-45C2-9280-CBEAC456A6E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리뷰 품질 평가</a:t>
            </a:r>
          </a:p>
        </p:txBody>
      </p:sp>
      <p:sp>
        <p:nvSpPr>
          <p:cNvPr id="3" name="">
            <a:extLst xmlns:a="http://schemas.openxmlformats.org/drawingml/2006/main">
              <a:ext uri="{FF2B5EF4-FFF2-40B4-BE49-F238E27FC236}">
                <a16:creationId xmlns:a16="http://schemas.microsoft.com/office/drawing/2014/main" id="{0A0635BF-F1EA-46E2-B52F-7DE5EEB0408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A29BDA1-D116-4EA1-94F6-22D207978E2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7AFED94-326E-46D4-8A05-DAB07BA23A5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기준</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좋은 상태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나쁜 상태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정확성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재현 가능한 결함</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없는 문제의 지적</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관련성</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이번 변경의 영향</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전체 구조 재작성</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실행 가능성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작은 수정과 테스트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추상적 개선 요구</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노이즈</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중요한 의견만 유지</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유사 의견의 반복</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70520796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0F0CFA-7459-4560-AA6B-A0975262194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2차시 · 09:50–10:40  /  선택 확장</a:t>
            </a:r>
          </a:p>
        </p:txBody>
      </p:sp>
      <p:sp>
        <p:nvSpPr>
          <p:cNvPr id="2" name="">
            <a:extLst xmlns:a="http://schemas.openxmlformats.org/drawingml/2006/main">
              <a:ext uri="{FF2B5EF4-FFF2-40B4-BE49-F238E27FC236}">
                <a16:creationId xmlns:a16="http://schemas.microsoft.com/office/drawing/2014/main" id="{ABB02400-7214-49CC-AC95-32D686261B1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금액 처리의 확장</a:t>
            </a:r>
          </a:p>
        </p:txBody>
      </p:sp>
      <p:sp>
        <p:nvSpPr>
          <p:cNvPr id="3" name="">
            <a:extLst xmlns:a="http://schemas.openxmlformats.org/drawingml/2006/main">
              <a:ext uri="{FF2B5EF4-FFF2-40B4-BE49-F238E27FC236}">
                <a16:creationId xmlns:a16="http://schemas.microsoft.com/office/drawing/2014/main" id="{9921D97C-1EC9-47D6-9274-450E8095717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2DD965DB-BCDC-45C2-9456-AB51BCF36CE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8D03E44-694B-4DD6-8B46-DEABAE45376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052</a:t>
            </a:r>
          </a:p>
        </p:txBody>
      </p:sp>
      <p:sp>
        <p:nvSpPr>
          <p:cNvPr id="6" name="">
            <a:extLst xmlns:a="http://schemas.openxmlformats.org/drawingml/2006/main">
              <a:ext uri="{FF2B5EF4-FFF2-40B4-BE49-F238E27FC236}">
                <a16:creationId xmlns:a16="http://schemas.microsoft.com/office/drawing/2014/main" id="{8FD36667-AB43-43F3-AF01-5992C0C756A9}"/>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04EBA7AE-CC03-4EC0-BF6E-7EB1B7E5706D}"/>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정수 단위 또는 Decimal의 명시</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반올림·세금·할인 순서의 제품 규칙</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데이터형과 최대 금액의 추가 테스트</a:t>
            </a:r>
          </a:p>
        </p:txBody>
      </p:sp>
    </p:spTree>
    <p:extLst>
      <p:ext uri="{BB962C8B-B14F-4D97-AF65-F5344CB8AC3E}">
        <p14:creationId xmlns:p14="http://schemas.microsoft.com/office/powerpoint/2010/main" val="958279549"/>
      </p:ext>
    </p:extLst>
  </p:cSld>
</p:sld>
</file>

<file path=ppt/slides/slide53.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8EB31B-7062-4D12-877E-E09D155B5556}"/>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3차시</a:t>
            </a:r>
          </a:p>
        </p:txBody>
      </p:sp>
      <p:sp>
        <p:nvSpPr>
          <p:cNvPr id="2" name="">
            <a:extLst xmlns:a="http://schemas.openxmlformats.org/drawingml/2006/main">
              <a:ext uri="{FF2B5EF4-FFF2-40B4-BE49-F238E27FC236}">
                <a16:creationId xmlns:a16="http://schemas.microsoft.com/office/drawing/2014/main" id="{962BAC3D-4B9D-49CA-81F4-6D3388025CEE}"/>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10:40–11:30</a:t>
            </a:r>
          </a:p>
        </p:txBody>
      </p:sp>
      <p:sp>
        <p:nvSpPr>
          <p:cNvPr id="3" name="">
            <a:extLst xmlns:a="http://schemas.openxmlformats.org/drawingml/2006/main">
              <a:ext uri="{FF2B5EF4-FFF2-40B4-BE49-F238E27FC236}">
                <a16:creationId xmlns:a16="http://schemas.microsoft.com/office/drawing/2014/main" id="{5B664FC3-51B9-4229-8222-8EB3F8567A3B}"/>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테스트와 GitHub 연동</a:t>
            </a:r>
          </a:p>
        </p:txBody>
      </p:sp>
      <p:sp>
        <p:nvSpPr>
          <p:cNvPr id="4" name="">
            <a:extLst xmlns:a="http://schemas.openxmlformats.org/drawingml/2006/main">
              <a:ext uri="{FF2B5EF4-FFF2-40B4-BE49-F238E27FC236}">
                <a16:creationId xmlns:a16="http://schemas.microsoft.com/office/drawing/2014/main" id="{FD449C86-9429-494B-A38F-62E7B2B6127F}"/>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실패 테스트 복구와 CI·재실행 안전 설계</a:t>
            </a:r>
          </a:p>
        </p:txBody>
      </p:sp>
      <p:sp>
        <p:nvSpPr>
          <p:cNvPr id="5" name="">
            <a:extLst xmlns:a="http://schemas.openxmlformats.org/drawingml/2006/main">
              <a:ext uri="{FF2B5EF4-FFF2-40B4-BE49-F238E27FC236}">
                <a16:creationId xmlns:a16="http://schemas.microsoft.com/office/drawing/2014/main" id="{78E3953F-BEFE-483E-BFAD-D9FC108E71E3}"/>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1BBADA13-566A-452F-A661-C987E3BD452E}"/>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workflow.yml · publication_preview.json</a:t>
            </a:r>
          </a:p>
        </p:txBody>
      </p:sp>
      <p:sp>
        <p:nvSpPr>
          <p:cNvPr id="7" name="">
            <a:extLst xmlns:a="http://schemas.openxmlformats.org/drawingml/2006/main">
              <a:ext uri="{FF2B5EF4-FFF2-40B4-BE49-F238E27FC236}">
                <a16:creationId xmlns:a16="http://schemas.microsoft.com/office/drawing/2014/main" id="{0239C65B-9E58-471E-89ED-0351FDFE94F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D6B174C2-9380-4180-A8B4-B9FD2032603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BBCF7421-D1E3-4C0C-A2EF-EC5ADCE02A5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053</a:t>
            </a:r>
          </a:p>
        </p:txBody>
      </p:sp>
    </p:spTree>
    <p:extLst>
      <p:ext uri="{BB962C8B-B14F-4D97-AF65-F5344CB8AC3E}">
        <p14:creationId xmlns:p14="http://schemas.microsoft.com/office/powerpoint/2010/main" val="126403217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D9B460-B511-491F-8483-33B946ABA4D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이론</a:t>
            </a:r>
          </a:p>
        </p:txBody>
      </p:sp>
      <p:sp>
        <p:nvSpPr>
          <p:cNvPr id="2" name="">
            <a:extLst xmlns:a="http://schemas.openxmlformats.org/drawingml/2006/main">
              <a:ext uri="{FF2B5EF4-FFF2-40B4-BE49-F238E27FC236}">
                <a16:creationId xmlns:a16="http://schemas.microsoft.com/office/drawing/2014/main" id="{F16B6601-D68A-4B67-92F7-FA5568E1986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자동 검사와 AI 리뷰</a:t>
            </a:r>
          </a:p>
        </p:txBody>
      </p:sp>
      <p:sp>
        <p:nvSpPr>
          <p:cNvPr id="3" name="">
            <a:extLst xmlns:a="http://schemas.openxmlformats.org/drawingml/2006/main">
              <a:ext uri="{FF2B5EF4-FFF2-40B4-BE49-F238E27FC236}">
                <a16:creationId xmlns:a16="http://schemas.microsoft.com/office/drawing/2014/main" id="{3B083505-2C19-42CE-91B7-6258681FDE9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EAD3348-DB84-4B85-9DC0-4AB7EABDA32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E1531CD-3163-4B85-9CE9-1F1EE7F78AF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구분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자동 검사·CI</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AI 리뷰</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질문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정한 규칙을 통과하는가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놓친 위험이 있는가</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결과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명확한 pass/fail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설명과 판단 보조</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반복 실행</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조건의 재현성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출력의 변동 가능성</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최종 결정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테스트 증거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사람의 merge 판단</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97744014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10DBCD-918F-4EBA-8BAA-284E01BA10F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이론</a:t>
            </a:r>
          </a:p>
        </p:txBody>
      </p:sp>
      <p:sp>
        <p:nvSpPr>
          <p:cNvPr id="2" name="">
            <a:extLst xmlns:a="http://schemas.openxmlformats.org/drawingml/2006/main">
              <a:ext uri="{FF2B5EF4-FFF2-40B4-BE49-F238E27FC236}">
                <a16:creationId xmlns:a16="http://schemas.microsoft.com/office/drawing/2014/main" id="{81DB6A2A-1653-461D-B97B-A0B78DC01D3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GitHub 연동 구조</a:t>
            </a:r>
          </a:p>
        </p:txBody>
      </p:sp>
      <p:sp>
        <p:nvSpPr>
          <p:cNvPr id="3" name="">
            <a:extLst xmlns:a="http://schemas.openxmlformats.org/drawingml/2006/main">
              <a:ext uri="{FF2B5EF4-FFF2-40B4-BE49-F238E27FC236}">
                <a16:creationId xmlns:a16="http://schemas.microsoft.com/office/drawing/2014/main" id="{20745C8D-2674-47FA-ABD5-D87E67CD056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D113B2E-5A49-46FC-A6CB-7B4FD4FBB5A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BA5A33C-3D21-4C98-9D7D-01E7DD7AF28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순서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작업</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이번 기본 실습</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1</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PR 정보·diff 읽기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합성 PR / 선택 공개 PR</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2</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리뷰와 테스트 준비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로컬 파일·pytest</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3</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게시 내용·대상 확인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사람 확인 미리보기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4</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외부 전달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경로에서 미실행</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87686951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5233FA-7EC0-4B78-97ED-53589722A86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이론</a:t>
            </a:r>
          </a:p>
        </p:txBody>
      </p:sp>
      <p:sp>
        <p:nvSpPr>
          <p:cNvPr id="2" name="">
            <a:extLst xmlns:a="http://schemas.openxmlformats.org/drawingml/2006/main">
              <a:ext uri="{FF2B5EF4-FFF2-40B4-BE49-F238E27FC236}">
                <a16:creationId xmlns:a16="http://schemas.microsoft.com/office/drawing/2014/main" id="{7C23FD01-C10E-43C2-A0FC-2F335895399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재실행의 두 가지 위험</a:t>
            </a:r>
          </a:p>
        </p:txBody>
      </p:sp>
      <p:sp>
        <p:nvSpPr>
          <p:cNvPr id="3" name="">
            <a:extLst xmlns:a="http://schemas.openxmlformats.org/drawingml/2006/main">
              <a:ext uri="{FF2B5EF4-FFF2-40B4-BE49-F238E27FC236}">
                <a16:creationId xmlns:a16="http://schemas.microsoft.com/office/drawing/2014/main" id="{90ED7242-712C-44B1-8096-626D213F2B4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8FA72A3-610C-40AC-A107-C27004B1885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840AAD5-EBD0-49D9-9890-9C704368742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056</a:t>
            </a:r>
          </a:p>
        </p:txBody>
      </p:sp>
      <p:sp>
        <p:nvSpPr>
          <p:cNvPr id="6" name="">
            <a:extLst xmlns:a="http://schemas.openxmlformats.org/drawingml/2006/main">
              <a:ext uri="{FF2B5EF4-FFF2-40B4-BE49-F238E27FC236}">
                <a16:creationId xmlns:a16="http://schemas.microsoft.com/office/drawing/2014/main" id="{40AD6CF7-6B8A-4745-BC16-5A103ABD04E6}"/>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3745AE2C-53B6-416E-A0F1-8AD126FE22F4}"/>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리뷰 이후 코드가 바뀌는 상황</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네트워크 재시도로 같은 의견을 두 번 쓰는 상황</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새 버전 확인과 중복 확인의 별도 처리</a:t>
            </a:r>
          </a:p>
        </p:txBody>
      </p:sp>
    </p:spTree>
    <p:extLst>
      <p:ext uri="{BB962C8B-B14F-4D97-AF65-F5344CB8AC3E}">
        <p14:creationId xmlns:p14="http://schemas.microsoft.com/office/powerpoint/2010/main" val="102529418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4EACC2-014F-4995-BEB6-0CDEF371AC7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시연</a:t>
            </a:r>
          </a:p>
        </p:txBody>
      </p:sp>
      <p:sp>
        <p:nvSpPr>
          <p:cNvPr id="2" name="">
            <a:extLst xmlns:a="http://schemas.openxmlformats.org/drawingml/2006/main">
              <a:ext uri="{FF2B5EF4-FFF2-40B4-BE49-F238E27FC236}">
                <a16:creationId xmlns:a16="http://schemas.microsoft.com/office/drawing/2014/main" id="{21DA3B83-6E42-41A0-8C7F-D8CDE858F90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통과 테스트의 확인</a:t>
            </a:r>
          </a:p>
        </p:txBody>
      </p:sp>
      <p:sp>
        <p:nvSpPr>
          <p:cNvPr id="3" name="">
            <a:extLst xmlns:a="http://schemas.openxmlformats.org/drawingml/2006/main">
              <a:ext uri="{FF2B5EF4-FFF2-40B4-BE49-F238E27FC236}">
                <a16:creationId xmlns:a16="http://schemas.microsoft.com/office/drawing/2014/main" id="{F3FA7CDE-74A2-4D14-B2C9-D7CD23EFE37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989B143-23E1-432C-923B-3F0DA2376C8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A28BD53-24F7-4046-AF40-47955627D03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057</a:t>
            </a:r>
          </a:p>
        </p:txBody>
      </p:sp>
      <p:sp>
        <p:nvSpPr>
          <p:cNvPr id="6" name="">
            <a:extLst xmlns:a="http://schemas.openxmlformats.org/drawingml/2006/main">
              <a:ext uri="{FF2B5EF4-FFF2-40B4-BE49-F238E27FC236}">
                <a16:creationId xmlns:a16="http://schemas.microsoft.com/office/drawing/2014/main" id="{1F17B0C8-F1DE-4A9C-83F8-15A1378E5420}"/>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C1FCE3-F9F7-4519-BB23-B18864A59D91}"/>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result = check_exercise(ROOT, EXERCISE)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print(result["status"])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print(result["output"])</a:t>
            </a:r>
          </a:p>
        </p:txBody>
      </p:sp>
      <p:sp>
        <p:nvSpPr>
          <p:cNvPr id="8" name="">
            <a:extLst xmlns:a="http://schemas.openxmlformats.org/drawingml/2006/main">
              <a:ext uri="{FF2B5EF4-FFF2-40B4-BE49-F238E27FC236}">
                <a16:creationId xmlns:a16="http://schemas.microsoft.com/office/drawing/2014/main" id="{08521309-FB76-4817-B30A-0C3E4B25C861}"/>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수정 완료 후: PASSED / 5 passed</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EXERCISE는 Notebook이 만든 실습 폴더</a:t>
            </a:r>
          </a:p>
        </p:txBody>
      </p:sp>
    </p:spTree>
    <p:extLst>
      <p:ext uri="{BB962C8B-B14F-4D97-AF65-F5344CB8AC3E}">
        <p14:creationId xmlns:p14="http://schemas.microsoft.com/office/powerpoint/2010/main" val="202012720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99F78A-FA0C-47EF-AAE5-FE8E7D30C2A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시연</a:t>
            </a:r>
          </a:p>
        </p:txBody>
      </p:sp>
      <p:sp>
        <p:nvSpPr>
          <p:cNvPr id="2" name="">
            <a:extLst xmlns:a="http://schemas.openxmlformats.org/drawingml/2006/main">
              <a:ext uri="{FF2B5EF4-FFF2-40B4-BE49-F238E27FC236}">
                <a16:creationId xmlns:a16="http://schemas.microsoft.com/office/drawing/2014/main" id="{D3B5A22A-6D71-4906-9DFC-AED183D06EC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참고 구현의 테스트 결과</a:t>
            </a:r>
          </a:p>
        </p:txBody>
      </p:sp>
      <p:sp>
        <p:nvSpPr>
          <p:cNvPr id="3" name="">
            <a:extLst xmlns:a="http://schemas.openxmlformats.org/drawingml/2006/main">
              <a:ext uri="{FF2B5EF4-FFF2-40B4-BE49-F238E27FC236}">
                <a16:creationId xmlns:a16="http://schemas.microsoft.com/office/drawing/2014/main" id="{94933F29-4F38-4AF8-8D73-E9C43E6F56C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35E9E0D-E2B0-47B6-841F-36A43052A2A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16C6186-886A-4AD3-8DBF-CCA83B78DC6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058</a:t>
            </a:r>
          </a:p>
        </p:txBody>
      </p:sp>
      <p:sp>
        <p:nvSpPr>
          <p:cNvPr id="6" name="">
            <a:extLst xmlns:a="http://schemas.openxmlformats.org/drawingml/2006/main">
              <a:ext uri="{FF2B5EF4-FFF2-40B4-BE49-F238E27FC236}">
                <a16:creationId xmlns:a16="http://schemas.microsoft.com/office/drawing/2014/main" id="{FF980945-EBE5-442B-A5B9-E01108A0AB3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316F96-ECD0-433F-91CE-6633BF5250CF}"/>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reference_check = check_exercise(ROOT, RUN / "pr/reference-only")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print(reference_check["output"])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실제 참고 구현 검증: 5 passed</a:t>
            </a:r>
          </a:p>
        </p:txBody>
      </p:sp>
      <p:sp>
        <p:nvSpPr>
          <p:cNvPr id="8" name="">
            <a:extLst xmlns:a="http://schemas.openxmlformats.org/drawingml/2006/main">
              <a:ext uri="{FF2B5EF4-FFF2-40B4-BE49-F238E27FC236}">
                <a16:creationId xmlns:a16="http://schemas.microsoft.com/office/drawing/2014/main" id="{CB12ECDC-C7B1-404A-9750-27DA62AB5AB7}"/>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내 작업 폴더가 아닌 별도 참고 구현의 결과</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Notebook의 참고 구현 준비 셀 실행 후 비교</a:t>
            </a:r>
          </a:p>
        </p:txBody>
      </p:sp>
    </p:spTree>
    <p:extLst>
      <p:ext uri="{BB962C8B-B14F-4D97-AF65-F5344CB8AC3E}">
        <p14:creationId xmlns:p14="http://schemas.microsoft.com/office/powerpoint/2010/main" val="80411387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C1F1CC-9AB2-40A9-B364-925231F46FE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이론</a:t>
            </a:r>
          </a:p>
        </p:txBody>
      </p:sp>
      <p:sp>
        <p:nvSpPr>
          <p:cNvPr id="2" name="">
            <a:extLst xmlns:a="http://schemas.openxmlformats.org/drawingml/2006/main">
              <a:ext uri="{FF2B5EF4-FFF2-40B4-BE49-F238E27FC236}">
                <a16:creationId xmlns:a16="http://schemas.microsoft.com/office/drawing/2014/main" id="{3340ADBD-46C7-41AB-856D-E3851B02D14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Actions의 최소 구성</a:t>
            </a:r>
          </a:p>
        </p:txBody>
      </p:sp>
      <p:sp>
        <p:nvSpPr>
          <p:cNvPr id="3" name="">
            <a:extLst xmlns:a="http://schemas.openxmlformats.org/drawingml/2006/main">
              <a:ext uri="{FF2B5EF4-FFF2-40B4-BE49-F238E27FC236}">
                <a16:creationId xmlns:a16="http://schemas.microsoft.com/office/drawing/2014/main" id="{0CB1A328-EE76-48AD-A565-916F513341B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586F34E-4C50-4AC3-B216-6113C0771A8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AEF1259-BEA6-4C39-AFEB-18F09B430E9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059</a:t>
            </a:r>
          </a:p>
        </p:txBody>
      </p:sp>
      <p:sp>
        <p:nvSpPr>
          <p:cNvPr id="6" name="">
            <a:extLst xmlns:a="http://schemas.openxmlformats.org/drawingml/2006/main">
              <a:ext uri="{FF2B5EF4-FFF2-40B4-BE49-F238E27FC236}">
                <a16:creationId xmlns:a16="http://schemas.microsoft.com/office/drawing/2014/main" id="{1DF40F05-2175-44D8-8B23-442D00EE78F9}"/>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B27DC1-B69D-4B7D-ABD9-99FD0597E17F}"/>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on: [pull_request]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permissions: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contents: read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jobs: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runs-on: ubuntu-latest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steps: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 제공 템플릿의 checkout·setup 단계</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 run: python -m pytest -q exercise</a:t>
            </a:r>
          </a:p>
        </p:txBody>
      </p:sp>
      <p:sp>
        <p:nvSpPr>
          <p:cNvPr id="8" name="">
            <a:extLst xmlns:a="http://schemas.openxmlformats.org/drawingml/2006/main">
              <a:ext uri="{FF2B5EF4-FFF2-40B4-BE49-F238E27FC236}">
                <a16:creationId xmlns:a16="http://schemas.microsoft.com/office/drawing/2014/main" id="{1C212E16-7F39-416B-8466-5E938508BE73}"/>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전체 파일: templates/workflow.yml</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축약 설명 · 실행은 완전한 템플릿 사용</a:t>
            </a:r>
          </a:p>
        </p:txBody>
      </p:sp>
    </p:spTree>
    <p:extLst>
      <p:ext uri="{BB962C8B-B14F-4D97-AF65-F5344CB8AC3E}">
        <p14:creationId xmlns:p14="http://schemas.microsoft.com/office/powerpoint/2010/main" val="43614556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FD2160-F6EB-475B-A437-AAC0871034E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이론</a:t>
            </a:r>
          </a:p>
        </p:txBody>
      </p:sp>
      <p:sp>
        <p:nvSpPr>
          <p:cNvPr id="2" name="">
            <a:extLst xmlns:a="http://schemas.openxmlformats.org/drawingml/2006/main">
              <a:ext uri="{FF2B5EF4-FFF2-40B4-BE49-F238E27FC236}">
                <a16:creationId xmlns:a16="http://schemas.microsoft.com/office/drawing/2014/main" id="{96B3F58A-4CC9-4E3C-B08C-D4F628B7E13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권한의 최소 범위</a:t>
            </a:r>
          </a:p>
        </p:txBody>
      </p:sp>
      <p:sp>
        <p:nvSpPr>
          <p:cNvPr id="3" name="">
            <a:extLst xmlns:a="http://schemas.openxmlformats.org/drawingml/2006/main">
              <a:ext uri="{FF2B5EF4-FFF2-40B4-BE49-F238E27FC236}">
                <a16:creationId xmlns:a16="http://schemas.microsoft.com/office/drawing/2014/main" id="{FD64DE8B-153F-4EDD-BEE6-26CAF9CC29E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E372189-011B-41E2-9841-051D7548103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F2C6866-9B2A-4E81-ADDC-704E4484FE5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필요 기능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필요 권한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이번 선택</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코드 읽기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contents: read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허용</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테스트 실행</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로컬·CI runner</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허용</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PR 댓글 쓰기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추가 쓰기 권한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제외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자동 merge</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저장소 변경 권한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금지</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57471151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BA35ACE-CE94-4E33-A4A9-57E1479460A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F6EDE61E-4742-4D97-A92E-29A1EF64DCB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테스트 한 건 추가</a:t>
            </a:r>
          </a:p>
        </p:txBody>
      </p:sp>
      <p:sp>
        <p:nvSpPr>
          <p:cNvPr id="3" name="">
            <a:extLst xmlns:a="http://schemas.openxmlformats.org/drawingml/2006/main">
              <a:ext uri="{FF2B5EF4-FFF2-40B4-BE49-F238E27FC236}">
                <a16:creationId xmlns:a16="http://schemas.microsoft.com/office/drawing/2014/main" id="{C7FC6458-FF0E-4837-92DF-5D49F6E2E4E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487A423-FF6B-4124-BE8F-DF57CC2DBF1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50BE69B-295F-4741-A324-F16B52120FC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061</a:t>
            </a:r>
          </a:p>
        </p:txBody>
      </p:sp>
      <p:sp>
        <p:nvSpPr>
          <p:cNvPr id="6" name="">
            <a:extLst xmlns:a="http://schemas.openxmlformats.org/drawingml/2006/main">
              <a:ext uri="{FF2B5EF4-FFF2-40B4-BE49-F238E27FC236}">
                <a16:creationId xmlns:a16="http://schemas.microsoft.com/office/drawing/2014/main" id="{32025CE9-4870-4C30-9180-DCA3BB770271}"/>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C339100-586C-46DA-AF07-C8713890F1A0}"/>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기존 정상 쿠폰 테스트 확인</a:t>
            </a:r>
          </a:p>
        </p:txBody>
      </p:sp>
      <p:sp>
        <p:nvSpPr>
          <p:cNvPr id="8" name="">
            <a:extLst xmlns:a="http://schemas.openxmlformats.org/drawingml/2006/main">
              <a:ext uri="{FF2B5EF4-FFF2-40B4-BE49-F238E27FC236}">
                <a16:creationId xmlns:a16="http://schemas.microsoft.com/office/drawing/2014/main" id="{7C069E17-B904-4307-A272-9004C30FD4C8}"/>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A27198B3-688E-41D7-98F7-D4680CD003BC}"/>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본인이 고른 입력 한 가지 추가</a:t>
            </a:r>
          </a:p>
        </p:txBody>
      </p:sp>
      <p:sp>
        <p:nvSpPr>
          <p:cNvPr id="10" name="">
            <a:extLst xmlns:a="http://schemas.openxmlformats.org/drawingml/2006/main">
              <a:ext uri="{FF2B5EF4-FFF2-40B4-BE49-F238E27FC236}">
                <a16:creationId xmlns:a16="http://schemas.microsoft.com/office/drawing/2014/main" id="{BDB0D651-6306-42D3-A360-3AF0A5ECBC8A}"/>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6255FC23-5DD8-444D-9314-6FE625498E38}"/>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실패 조건과 통과 조건을 비교</a:t>
            </a:r>
          </a:p>
        </p:txBody>
      </p:sp>
      <p:sp>
        <p:nvSpPr>
          <p:cNvPr id="12" name="">
            <a:extLst xmlns:a="http://schemas.openxmlformats.org/drawingml/2006/main">
              <a:ext uri="{FF2B5EF4-FFF2-40B4-BE49-F238E27FC236}">
                <a16:creationId xmlns:a16="http://schemas.microsoft.com/office/drawing/2014/main" id="{6F7733CE-9EEE-44F0-ADB7-8FEBE475B29F}"/>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137844AF-917D-402C-89F8-60CB21DAA81B}"/>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실습 폴더/test_checkout.py</a:t>
            </a:r>
          </a:p>
        </p:txBody>
      </p:sp>
      <p:sp>
        <p:nvSpPr>
          <p:cNvPr id="14" name="">
            <a:extLst xmlns:a="http://schemas.openxmlformats.org/drawingml/2006/main">
              <a:ext uri="{FF2B5EF4-FFF2-40B4-BE49-F238E27FC236}">
                <a16:creationId xmlns:a16="http://schemas.microsoft.com/office/drawing/2014/main" id="{856A0C16-EB34-44B4-9328-8399ECF30C7B}"/>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단순 실행 외에 테스트 코드 직접 작성</a:t>
            </a:r>
          </a:p>
        </p:txBody>
      </p:sp>
    </p:spTree>
    <p:extLst>
      <p:ext uri="{BB962C8B-B14F-4D97-AF65-F5344CB8AC3E}">
        <p14:creationId xmlns:p14="http://schemas.microsoft.com/office/powerpoint/2010/main" val="61154809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18F628-7C8E-4E48-99E1-CF7886AC289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5794DD8A-1E1A-4B08-ABA3-0C05FB0A1E1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쿠폰 경계값 테스트</a:t>
            </a:r>
          </a:p>
        </p:txBody>
      </p:sp>
      <p:sp>
        <p:nvSpPr>
          <p:cNvPr id="3" name="">
            <a:extLst xmlns:a="http://schemas.openxmlformats.org/drawingml/2006/main">
              <a:ext uri="{FF2B5EF4-FFF2-40B4-BE49-F238E27FC236}">
                <a16:creationId xmlns:a16="http://schemas.microsoft.com/office/drawing/2014/main" id="{32B72800-F438-4817-9F5C-D5DC5644676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606832F-C892-49AC-AC97-67693750BEA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466D902-A415-41C3-A4AD-94F3952EAD0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062</a:t>
            </a:r>
          </a:p>
        </p:txBody>
      </p:sp>
      <p:sp>
        <p:nvSpPr>
          <p:cNvPr id="6" name="">
            <a:extLst xmlns:a="http://schemas.openxmlformats.org/drawingml/2006/main">
              <a:ext uri="{FF2B5EF4-FFF2-40B4-BE49-F238E27FC236}">
                <a16:creationId xmlns:a16="http://schemas.microsoft.com/office/drawing/2014/main" id="{FD185CED-AF5F-490D-B02B-308C228E6C4C}"/>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37685DD-AF9D-4D85-8601-B2E90760E54D}"/>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@pytest.mark.parametrize("coupon, expected",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(0, 1000),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(1000, 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def test_zero_or_exact_coupon(coupon, expected):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assert checkout_total(1000, 1, coupon) == expected</a:t>
            </a:r>
          </a:p>
        </p:txBody>
      </p:sp>
      <p:sp>
        <p:nvSpPr>
          <p:cNvPr id="8" name="">
            <a:extLst xmlns:a="http://schemas.openxmlformats.org/drawingml/2006/main">
              <a:ext uri="{FF2B5EF4-FFF2-40B4-BE49-F238E27FC236}">
                <a16:creationId xmlns:a16="http://schemas.microsoft.com/office/drawing/2014/main" id="{1CF46F33-4AE5-4856-9B4C-5C5C1E329AEE}"/>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test_checkout.py 맨 아래에 추가 후 저장</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쿠폰 없음과 총액만큼의 쿠폰: 두 경우 검사</a:t>
            </a:r>
          </a:p>
        </p:txBody>
      </p:sp>
    </p:spTree>
    <p:extLst>
      <p:ext uri="{BB962C8B-B14F-4D97-AF65-F5344CB8AC3E}">
        <p14:creationId xmlns:p14="http://schemas.microsoft.com/office/powerpoint/2010/main" val="47081210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494116-F154-4ABB-AFF7-8A53856CA81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66DDC6C8-DDEF-434D-9C26-4248D588376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추가 테스트의 선택 실행</a:t>
            </a:r>
          </a:p>
        </p:txBody>
      </p:sp>
      <p:sp>
        <p:nvSpPr>
          <p:cNvPr id="3" name="">
            <a:extLst xmlns:a="http://schemas.openxmlformats.org/drawingml/2006/main">
              <a:ext uri="{FF2B5EF4-FFF2-40B4-BE49-F238E27FC236}">
                <a16:creationId xmlns:a16="http://schemas.microsoft.com/office/drawing/2014/main" id="{01779157-7ED0-4225-BEE9-475EDC22831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814C56A-C873-4929-85F8-34F63F346A3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9351C64-2048-4D2A-95F5-4083580D9E2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063</a:t>
            </a:r>
          </a:p>
        </p:txBody>
      </p:sp>
      <p:sp>
        <p:nvSpPr>
          <p:cNvPr id="6" name="">
            <a:extLst xmlns:a="http://schemas.openxmlformats.org/drawingml/2006/main">
              <a:ext uri="{FF2B5EF4-FFF2-40B4-BE49-F238E27FC236}">
                <a16:creationId xmlns:a16="http://schemas.microsoft.com/office/drawing/2014/main" id="{83EAF098-66EE-402E-B35A-1FF534EA6F83}"/>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852A00-7EEC-4BDB-BBCB-9776FD932C33}"/>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command =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sys.executable, "-m", "pytest", "-q",</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"test_checkout.py", "-k", "zero_or_exact_coupon",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extra = subprocess.run(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command, cwd=EXERCISE, capture_output=True, text=True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print(extra.stdout)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extra.returncode == 0</a:t>
            </a:r>
          </a:p>
        </p:txBody>
      </p:sp>
      <p:sp>
        <p:nvSpPr>
          <p:cNvPr id="8" name="">
            <a:extLst xmlns:a="http://schemas.openxmlformats.org/drawingml/2006/main">
              <a:ext uri="{FF2B5EF4-FFF2-40B4-BE49-F238E27FC236}">
                <a16:creationId xmlns:a16="http://schemas.microsoft.com/office/drawing/2014/main" id="{234F1665-C4F5-47F3-9037-49CBBB8F9D1F}"/>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새 셀: 2 passed, 5 deselected</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그다음 check_exercise 전체 결과 7 passed</a:t>
            </a:r>
          </a:p>
        </p:txBody>
      </p:sp>
    </p:spTree>
    <p:extLst>
      <p:ext uri="{BB962C8B-B14F-4D97-AF65-F5344CB8AC3E}">
        <p14:creationId xmlns:p14="http://schemas.microsoft.com/office/powerpoint/2010/main" val="28401544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4E680BA-6916-4E98-8E06-D506193C6CA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975E5E45-4B81-442D-A116-81F9F4CF705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CI 파일 구성</a:t>
            </a:r>
          </a:p>
        </p:txBody>
      </p:sp>
      <p:sp>
        <p:nvSpPr>
          <p:cNvPr id="3" name="">
            <a:extLst xmlns:a="http://schemas.openxmlformats.org/drawingml/2006/main">
              <a:ext uri="{FF2B5EF4-FFF2-40B4-BE49-F238E27FC236}">
                <a16:creationId xmlns:a16="http://schemas.microsoft.com/office/drawing/2014/main" id="{8D59DEEC-08FE-47DA-8931-BA6BA7C9157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A9DB093-2720-402C-9FE9-3C92173FB9B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F3DAB59-BAF2-425B-A612-341F2C10E9C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064</a:t>
            </a:r>
          </a:p>
        </p:txBody>
      </p:sp>
      <p:sp>
        <p:nvSpPr>
          <p:cNvPr id="6" name="">
            <a:extLst xmlns:a="http://schemas.openxmlformats.org/drawingml/2006/main">
              <a:ext uri="{FF2B5EF4-FFF2-40B4-BE49-F238E27FC236}">
                <a16:creationId xmlns:a16="http://schemas.microsoft.com/office/drawing/2014/main" id="{D02FFB0F-2A5F-4533-96C8-681765C73BFD}"/>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8161635C-6CFC-4D88-96C1-198DCD3F4777}"/>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workflow.yml을 별도 연습 폴더로 복사</a:t>
            </a:r>
          </a:p>
        </p:txBody>
      </p:sp>
      <p:sp>
        <p:nvSpPr>
          <p:cNvPr id="8" name="">
            <a:extLst xmlns:a="http://schemas.openxmlformats.org/drawingml/2006/main">
              <a:ext uri="{FF2B5EF4-FFF2-40B4-BE49-F238E27FC236}">
                <a16:creationId xmlns:a16="http://schemas.microsoft.com/office/drawing/2014/main" id="{11082C7C-E2B3-4981-9964-40442B8F629D}"/>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FE5E7AE6-B933-446B-A951-3FEB05470A31}"/>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trigger·permissions·pytest 단계 찾기</a:t>
            </a:r>
          </a:p>
        </p:txBody>
      </p:sp>
      <p:sp>
        <p:nvSpPr>
          <p:cNvPr id="10" name="">
            <a:extLst xmlns:a="http://schemas.openxmlformats.org/drawingml/2006/main">
              <a:ext uri="{FF2B5EF4-FFF2-40B4-BE49-F238E27FC236}">
                <a16:creationId xmlns:a16="http://schemas.microsoft.com/office/drawing/2014/main" id="{1E6CFE06-5982-4CB0-8A58-B2B616380421}"/>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176C59D2-D363-45EC-A327-9FD408B78506}"/>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내 exercise 경로와 실행 명령 확인</a:t>
            </a:r>
          </a:p>
        </p:txBody>
      </p:sp>
      <p:sp>
        <p:nvSpPr>
          <p:cNvPr id="12" name="">
            <a:extLst xmlns:a="http://schemas.openxmlformats.org/drawingml/2006/main">
              <a:ext uri="{FF2B5EF4-FFF2-40B4-BE49-F238E27FC236}">
                <a16:creationId xmlns:a16="http://schemas.microsoft.com/office/drawing/2014/main" id="{434299D8-CEFA-4A43-B79A-A23B4CF2CD9B}"/>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E7DEE65D-9BAA-4518-8508-9DBDA08CDEE6}"/>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labs/day4/pr_review_lab/templates/workflow.yml</a:t>
            </a:r>
          </a:p>
        </p:txBody>
      </p:sp>
      <p:sp>
        <p:nvSpPr>
          <p:cNvPr id="14" name="">
            <a:extLst xmlns:a="http://schemas.openxmlformats.org/drawingml/2006/main">
              <a:ext uri="{FF2B5EF4-FFF2-40B4-BE49-F238E27FC236}">
                <a16:creationId xmlns:a16="http://schemas.microsoft.com/office/drawing/2014/main" id="{8AAB3B73-4E8C-41B8-A8DD-19E212260D8E}"/>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전체 YAML과 실제 폴더 경로의 일치</a:t>
            </a:r>
          </a:p>
        </p:txBody>
      </p:sp>
    </p:spTree>
    <p:extLst>
      <p:ext uri="{BB962C8B-B14F-4D97-AF65-F5344CB8AC3E}">
        <p14:creationId xmlns:p14="http://schemas.microsoft.com/office/powerpoint/2010/main" val="185273466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65B8A9-2B37-4AE1-8DF9-04857B10789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5926339C-9FE5-4417-BABF-92E2CA09A04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개인 저장소의 파일 배치</a:t>
            </a:r>
          </a:p>
        </p:txBody>
      </p:sp>
      <p:sp>
        <p:nvSpPr>
          <p:cNvPr id="3" name="">
            <a:extLst xmlns:a="http://schemas.openxmlformats.org/drawingml/2006/main">
              <a:ext uri="{FF2B5EF4-FFF2-40B4-BE49-F238E27FC236}">
                <a16:creationId xmlns:a16="http://schemas.microsoft.com/office/drawing/2014/main" id="{B1DF4AA1-3056-4130-BB62-A36DBC7D44E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61C5029-3AA7-40B1-9012-2909DEAA3F2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D57E8D2-4476-4280-B9B1-28921FC0CDD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복사할 파일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개인 저장소의 위치</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연결되는 설정</a:t>
                      </a:r>
                    </a:p>
                  </a:txBody>
                  <a:tcPr marL="142875" marR="133350" marT="95250" marB="95250" anchor="ctr">
                    <a:solidFill>
                      <a:srgbClr val="161616"/>
                    </a:solidFill>
                  </a:tcPr>
                </a:tc>
              </a:tr>
              <a:tr h="538843">
                <a:tc>
                  <a:txBody>
                    <a:bodyPr wrap="square">
                      <a:noAutofit/>
                    </a:bodyPr>
                    <a:lstStyle/>
                    <a:p>
                      <a:pPr algn="l">
                        <a:lnSpc>
                          <a:spcPct val="105000"/>
                        </a:lnSpc>
                        <a:buNone/>
                      </a:pPr>
                      <a:r>
                        <a:rPr sz="1950" b="1">
                          <a:solidFill>
                            <a:srgbClr val="161616"/>
                          </a:solidFill>
                          <a:latin typeface="NanumGothic"/>
                          <a:ea typeface="NanumGothic"/>
                          <a:cs typeface="NanumGothic"/>
                        </a:rPr>
                        <a:t>내 checkout.py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exercise/checkout.py</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검사할 기능 코드</a:t>
                      </a:r>
                    </a:p>
                  </a:txBody>
                  <a:tcPr marL="142875" marR="133350" marT="95250" marB="95250" anchor="ctr">
                    <a:solidFill>
                      <a:srgbClr val="FFFFFF"/>
                    </a:solidFill>
                  </a:tcPr>
                </a:tc>
              </a:tr>
              <a:tr h="1077686">
                <a:tc>
                  <a:txBody>
                    <a:bodyPr wrap="square">
                      <a:noAutofit/>
                    </a:bodyPr>
                    <a:lstStyle/>
                    <a:p>
                      <a:pPr algn="l">
                        <a:lnSpc>
                          <a:spcPct val="105000"/>
                        </a:lnSpc>
                        <a:buNone/>
                      </a:pPr>
                      <a:r>
                        <a:rPr sz="1950" b="1">
                          <a:solidFill>
                            <a:srgbClr val="161616"/>
                          </a:solidFill>
                          <a:latin typeface="NanumGothic"/>
                          <a:ea typeface="NanumGothic"/>
                          <a:cs typeface="NanumGothic"/>
                        </a:rPr>
                        <a:t>내 test_checkout.py</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exercise/test_checkout.py</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pytest가 읽는</a:t>
                      </a:r>
                    </a:p>
                    <a:p>
                      <a:pPr algn="l">
                        <a:lnSpc>
                          <a:spcPct val="105000"/>
                        </a:lnSpc>
                        <a:buNone/>
                      </a:pPr>
                      <a:r>
                        <a:rPr sz="1950" b="0">
                          <a:solidFill>
                            <a:srgbClr val="161616"/>
                          </a:solidFill>
                          <a:latin typeface="NanumGothic"/>
                          <a:ea typeface="NanumGothic"/>
                          <a:cs typeface="NanumGothic"/>
                        </a:rPr>
                        <a:t>테스트 파일</a:t>
                      </a:r>
                    </a:p>
                  </a:txBody>
                  <a:tcPr marL="142875" marR="133350" marT="95250" marB="95250" anchor="ctr">
                    <a:solidFill>
                      <a:srgbClr val="F2F3F4"/>
                    </a:solidFill>
                  </a:tcPr>
                </a:tc>
              </a:tr>
              <a:tr h="1077686">
                <a:tc>
                  <a:txBody>
                    <a:bodyPr wrap="square">
                      <a:noAutofit/>
                    </a:bodyPr>
                    <a:lstStyle/>
                    <a:p>
                      <a:pPr algn="l">
                        <a:lnSpc>
                          <a:spcPct val="105000"/>
                        </a:lnSpc>
                        <a:buNone/>
                      </a:pPr>
                      <a:r>
                        <a:rPr sz="1950" b="1">
                          <a:solidFill>
                            <a:srgbClr val="161616"/>
                          </a:solidFill>
                          <a:latin typeface="NanumGothic"/>
                          <a:ea typeface="NanumGothic"/>
                          <a:cs typeface="NanumGothic"/>
                        </a:rPr>
                        <a:t>제공 workflow.yml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.github/workflows/</a:t>
                      </a:r>
                    </a:p>
                    <a:p>
                      <a:pPr algn="l">
                        <a:lnSpc>
                          <a:spcPct val="105000"/>
                        </a:lnSpc>
                        <a:buNone/>
                      </a:pPr>
                      <a:r>
                        <a:rPr sz="1950" b="0">
                          <a:solidFill>
                            <a:srgbClr val="161616"/>
                          </a:solidFill>
                          <a:latin typeface="NanumGothic"/>
                          <a:ea typeface="NanumGothic"/>
                          <a:cs typeface="NanumGothic"/>
                        </a:rPr>
                        <a:t>day4-checkout-tests.yml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working-directory:</a:t>
                      </a:r>
                    </a:p>
                    <a:p>
                      <a:pPr algn="l">
                        <a:lnSpc>
                          <a:spcPct val="105000"/>
                        </a:lnSpc>
                        <a:buNone/>
                      </a:pPr>
                      <a:r>
                        <a:rPr sz="1950" b="0">
                          <a:solidFill>
                            <a:srgbClr val="161616"/>
                          </a:solidFill>
                          <a:latin typeface="NanumGothic"/>
                          <a:ea typeface="NanumGothic"/>
                          <a:cs typeface="NanumGothic"/>
                        </a:rPr>
                        <a:t>exercise</a:t>
                      </a:r>
                    </a:p>
                  </a:txBody>
                  <a:tcPr marL="142875" marR="133350" marT="95250" marB="95250" anchor="ctr">
                    <a:solidFill>
                      <a:srgbClr val="FFFFFF"/>
                    </a:solidFill>
                  </a:tcPr>
                </a:tc>
              </a:tr>
              <a:tr h="1077686">
                <a:tc>
                  <a:txBody>
                    <a:bodyPr wrap="square">
                      <a:noAutofit/>
                    </a:bodyPr>
                    <a:lstStyle/>
                    <a:p>
                      <a:pPr algn="l">
                        <a:lnSpc>
                          <a:spcPct val="105000"/>
                        </a:lnSpc>
                        <a:buNone/>
                      </a:pPr>
                      <a:r>
                        <a:rPr sz="1950" b="1">
                          <a:solidFill>
                            <a:srgbClr val="161616"/>
                          </a:solidFill>
                          <a:latin typeface="NanumGothic"/>
                          <a:ea typeface="NanumGothic"/>
                          <a:cs typeface="NanumGothic"/>
                        </a:rPr>
                        <a:t>로컬 실행 위치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터미널에서</a:t>
                      </a:r>
                    </a:p>
                    <a:p>
                      <a:pPr algn="l">
                        <a:lnSpc>
                          <a:spcPct val="105000"/>
                        </a:lnSpc>
                        <a:buNone/>
                      </a:pPr>
                      <a:r>
                        <a:rPr sz="1950" b="0">
                          <a:solidFill>
                            <a:srgbClr val="161616"/>
                          </a:solidFill>
                          <a:latin typeface="NanumGothic"/>
                          <a:ea typeface="NanumGothic"/>
                          <a:cs typeface="NanumGothic"/>
                        </a:rPr>
                        <a:t>exercise 폴더</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python -m pytest -q</a:t>
                      </a:r>
                    </a:p>
                    <a:p>
                      <a:pPr algn="l">
                        <a:lnSpc>
                          <a:spcPct val="105000"/>
                        </a:lnSpc>
                        <a:buNone/>
                      </a:pPr>
                      <a:r>
                        <a:rPr sz="1950" b="0">
                          <a:solidFill>
                            <a:srgbClr val="161616"/>
                          </a:solidFill>
                          <a:latin typeface="NanumGothic"/>
                          <a:ea typeface="NanumGothic"/>
                          <a:cs typeface="NanumGothic"/>
                        </a:rPr>
                        <a:t>test_checkout.py</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984455559"/>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9CF64E-37AD-4675-BF9D-E98455D0297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시연</a:t>
            </a:r>
          </a:p>
        </p:txBody>
      </p:sp>
      <p:sp>
        <p:nvSpPr>
          <p:cNvPr id="2" name="">
            <a:extLst xmlns:a="http://schemas.openxmlformats.org/drawingml/2006/main">
              <a:ext uri="{FF2B5EF4-FFF2-40B4-BE49-F238E27FC236}">
                <a16:creationId xmlns:a16="http://schemas.microsoft.com/office/drawing/2014/main" id="{C03B483D-DC67-4820-8994-4D06805BAF7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오래된 코드의 차단</a:t>
            </a:r>
          </a:p>
        </p:txBody>
      </p:sp>
      <p:sp>
        <p:nvSpPr>
          <p:cNvPr id="3" name="">
            <a:extLst xmlns:a="http://schemas.openxmlformats.org/drawingml/2006/main">
              <a:ext uri="{FF2B5EF4-FFF2-40B4-BE49-F238E27FC236}">
                <a16:creationId xmlns:a16="http://schemas.microsoft.com/office/drawing/2014/main" id="{1F70461B-C007-43C0-81E0-C811D676BFF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30E18A5-4503-4A21-9B8D-9472FC388F7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30DE561-BF74-49F5-8EF4-89ADE90A213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066</a:t>
            </a:r>
          </a:p>
        </p:txBody>
      </p:sp>
      <p:sp>
        <p:nvSpPr>
          <p:cNvPr id="6" name="">
            <a:extLst xmlns:a="http://schemas.openxmlformats.org/drawingml/2006/main">
              <a:ext uri="{FF2B5EF4-FFF2-40B4-BE49-F238E27FC236}">
                <a16:creationId xmlns:a16="http://schemas.microsoft.com/office/drawing/2014/main" id="{99436B71-66AB-4CBD-8FF3-C0A61644DF6D}"/>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5395B3-47ED-479E-A2B4-13ED30C9918B}"/>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preview_publication(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snapshot, review, simulated_approval,</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current_head_sha="3" * 40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D47EEF35-A407-4DB8-8567-9A73886CA9F9}"/>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예상 결과: STALE_HEAD_SHA</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3차시 expected_failure 셀 사용</a:t>
            </a:r>
          </a:p>
        </p:txBody>
      </p:sp>
    </p:spTree>
    <p:extLst>
      <p:ext uri="{BB962C8B-B14F-4D97-AF65-F5344CB8AC3E}">
        <p14:creationId xmlns:p14="http://schemas.microsoft.com/office/powerpoint/2010/main" val="71270860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4BD8266-95B1-4CC8-AAF9-FD469B03C17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7A1E7ED1-58EB-4C52-8ABA-9A4BA6CE0A4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중복 리뷰의 차단</a:t>
            </a:r>
          </a:p>
        </p:txBody>
      </p:sp>
      <p:sp>
        <p:nvSpPr>
          <p:cNvPr id="3" name="">
            <a:extLst xmlns:a="http://schemas.openxmlformats.org/drawingml/2006/main">
              <a:ext uri="{FF2B5EF4-FFF2-40B4-BE49-F238E27FC236}">
                <a16:creationId xmlns:a16="http://schemas.microsoft.com/office/drawing/2014/main" id="{C096699C-E909-4485-88CB-82ADEA11046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38DE1EC-85C3-43F2-BCD6-D93475BC851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21EA689-C011-4577-9E96-745EF9A61BD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067</a:t>
            </a:r>
          </a:p>
        </p:txBody>
      </p:sp>
      <p:sp>
        <p:nvSpPr>
          <p:cNvPr id="6" name="">
            <a:extLst xmlns:a="http://schemas.openxmlformats.org/drawingml/2006/main">
              <a:ext uri="{FF2B5EF4-FFF2-40B4-BE49-F238E27FC236}">
                <a16:creationId xmlns:a16="http://schemas.microsoft.com/office/drawing/2014/main" id="{BDEBBD2F-4BCC-4FAC-AFF6-4EC2E62FD202}"/>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B8806763-1823-4870-AE0F-D8F89CD1DD6D}"/>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같은 리뷰 표식으로 이력 구성</a:t>
            </a:r>
          </a:p>
        </p:txBody>
      </p:sp>
      <p:sp>
        <p:nvSpPr>
          <p:cNvPr id="8" name="">
            <a:extLst xmlns:a="http://schemas.openxmlformats.org/drawingml/2006/main">
              <a:ext uri="{FF2B5EF4-FFF2-40B4-BE49-F238E27FC236}">
                <a16:creationId xmlns:a16="http://schemas.microsoft.com/office/drawing/2014/main" id="{2CBCC175-4A57-43AC-AAF0-CB6983781EAB}"/>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7F97BED2-5679-4475-B727-2F0C0F67EA42}"/>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Notebook 중복 검사 셀 실행</a:t>
            </a:r>
          </a:p>
        </p:txBody>
      </p:sp>
      <p:sp>
        <p:nvSpPr>
          <p:cNvPr id="10" name="">
            <a:extLst xmlns:a="http://schemas.openxmlformats.org/drawingml/2006/main">
              <a:ext uri="{FF2B5EF4-FFF2-40B4-BE49-F238E27FC236}">
                <a16:creationId xmlns:a16="http://schemas.microsoft.com/office/drawing/2014/main" id="{975357C4-21FC-4524-A03F-5B8FC34B7A3C}"/>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19FD068B-B5CC-4EFB-BD6D-660307A4186D}"/>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리뷰와 재전송 상황 비교</a:t>
            </a:r>
          </a:p>
        </p:txBody>
      </p:sp>
      <p:sp>
        <p:nvSpPr>
          <p:cNvPr id="12" name="">
            <a:extLst xmlns:a="http://schemas.openxmlformats.org/drawingml/2006/main">
              <a:ext uri="{FF2B5EF4-FFF2-40B4-BE49-F238E27FC236}">
                <a16:creationId xmlns:a16="http://schemas.microsoft.com/office/drawing/2014/main" id="{2F64C622-DAB0-4BD5-BA7A-4CE8F2D09055}"/>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64075279-CE45-4D74-8C82-CA41F880327C}"/>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 3차시 안전 검사</a:t>
            </a:r>
          </a:p>
        </p:txBody>
      </p:sp>
      <p:sp>
        <p:nvSpPr>
          <p:cNvPr id="14" name="">
            <a:extLst xmlns:a="http://schemas.openxmlformats.org/drawingml/2006/main">
              <a:ext uri="{FF2B5EF4-FFF2-40B4-BE49-F238E27FC236}">
                <a16:creationId xmlns:a16="http://schemas.microsoft.com/office/drawing/2014/main" id="{FC950C38-05F7-45F3-B347-F8D5C86E8780}"/>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DUPLICATE_REVIEW · 두 번째 전송 없음</a:t>
            </a:r>
          </a:p>
        </p:txBody>
      </p:sp>
    </p:spTree>
    <p:extLst>
      <p:ext uri="{BB962C8B-B14F-4D97-AF65-F5344CB8AC3E}">
        <p14:creationId xmlns:p14="http://schemas.microsoft.com/office/powerpoint/2010/main" val="147101915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237B97-3EF5-464F-9CB9-3B0EFBEC51D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A6A9F407-70A1-4B35-95E1-0952D076DB9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리뷰 수정과 이전 승인</a:t>
            </a:r>
          </a:p>
        </p:txBody>
      </p:sp>
      <p:sp>
        <p:nvSpPr>
          <p:cNvPr id="3" name="">
            <a:extLst xmlns:a="http://schemas.openxmlformats.org/drawingml/2006/main">
              <a:ext uri="{FF2B5EF4-FFF2-40B4-BE49-F238E27FC236}">
                <a16:creationId xmlns:a16="http://schemas.microsoft.com/office/drawing/2014/main" id="{D5639564-8C39-4DBA-A668-3868DE13ED2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B66FC27-9691-4AB9-81CE-D0F498EFF51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78281E0-8F01-4AD6-877F-3DE72AAC3DE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068</a:t>
            </a:r>
          </a:p>
        </p:txBody>
      </p:sp>
      <p:sp>
        <p:nvSpPr>
          <p:cNvPr id="6" name="">
            <a:extLst xmlns:a="http://schemas.openxmlformats.org/drawingml/2006/main">
              <a:ext uri="{FF2B5EF4-FFF2-40B4-BE49-F238E27FC236}">
                <a16:creationId xmlns:a16="http://schemas.microsoft.com/office/drawing/2014/main" id="{CC2BC812-BEF7-4816-82AE-F871F82FD47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591CE3-FA27-41EB-B697-D03E5C91536E}"/>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findings = deepcopy(review["findings"])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findings[0]["suggestion"] += " 정상 입력도 함께 검사합니다."</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revised = build_review(snapshot, findings, provider="human")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expected_failure("이전 승인", lambda: preview_publication(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snapshot, revised, simulated_approval,</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current_head_sha=snapshot["head_sha"]),</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"APPROVAL_MISMATCH")</a:t>
            </a:r>
          </a:p>
        </p:txBody>
      </p:sp>
      <p:sp>
        <p:nvSpPr>
          <p:cNvPr id="8" name="">
            <a:extLst xmlns:a="http://schemas.openxmlformats.org/drawingml/2006/main">
              <a:ext uri="{FF2B5EF4-FFF2-40B4-BE49-F238E27FC236}">
                <a16:creationId xmlns:a16="http://schemas.microsoft.com/office/drawing/2014/main" id="{1084696E-E132-460A-862A-4F2FE4066859}"/>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같은 PR·같은 commit이어도 내용 변경은 재확인</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테스트용 승인 객체 · 원격 전송 없음</a:t>
            </a:r>
          </a:p>
        </p:txBody>
      </p:sp>
    </p:spTree>
    <p:extLst>
      <p:ext uri="{BB962C8B-B14F-4D97-AF65-F5344CB8AC3E}">
        <p14:creationId xmlns:p14="http://schemas.microsoft.com/office/powerpoint/2010/main" val="837119384"/>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16E05CD-B97A-4BF0-8993-EF486FC21E5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AFA8F917-CA1A-4A46-9416-0A14531BA18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리뷰의 재확인</a:t>
            </a:r>
          </a:p>
        </p:txBody>
      </p:sp>
      <p:sp>
        <p:nvSpPr>
          <p:cNvPr id="3" name="">
            <a:extLst xmlns:a="http://schemas.openxmlformats.org/drawingml/2006/main">
              <a:ext uri="{FF2B5EF4-FFF2-40B4-BE49-F238E27FC236}">
                <a16:creationId xmlns:a16="http://schemas.microsoft.com/office/drawing/2014/main" id="{3964BE0F-D524-44D7-9C9F-B2A5F24EFEA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15F8938-CB97-4C23-BCF8-824270CA07A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5036C06-02EC-4FFD-AB86-4930EB3CDA6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069</a:t>
            </a:r>
          </a:p>
        </p:txBody>
      </p:sp>
      <p:sp>
        <p:nvSpPr>
          <p:cNvPr id="6" name="">
            <a:extLst xmlns:a="http://schemas.openxmlformats.org/drawingml/2006/main">
              <a:ext uri="{FF2B5EF4-FFF2-40B4-BE49-F238E27FC236}">
                <a16:creationId xmlns:a16="http://schemas.microsoft.com/office/drawing/2014/main" id="{C4873CD6-ABCD-4B4A-8DF4-A447A0883617}"/>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CA4F1430-F6B0-4476-8218-59AD654299CD}"/>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display(Markdown(revised["markdown"]))로 새 문서 확인</a:t>
            </a:r>
          </a:p>
        </p:txBody>
      </p:sp>
      <p:sp>
        <p:nvSpPr>
          <p:cNvPr id="8" name="">
            <a:extLst xmlns:a="http://schemas.openxmlformats.org/drawingml/2006/main">
              <a:ext uri="{FF2B5EF4-FFF2-40B4-BE49-F238E27FC236}">
                <a16:creationId xmlns:a16="http://schemas.microsoft.com/office/drawing/2014/main" id="{3863A698-0DE6-4843-B778-FE38DC9E7777}"/>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E84FDDA7-2D09-4FDF-9CD5-46EF680C1B24}"/>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추가한 제안·위치·재현 조건을 원본과 대조</a:t>
            </a:r>
          </a:p>
        </p:txBody>
      </p:sp>
      <p:sp>
        <p:nvSpPr>
          <p:cNvPr id="10" name="">
            <a:extLst xmlns:a="http://schemas.openxmlformats.org/drawingml/2006/main">
              <a:ext uri="{FF2B5EF4-FFF2-40B4-BE49-F238E27FC236}">
                <a16:creationId xmlns:a16="http://schemas.microsoft.com/office/drawing/2014/main" id="{D1456D9B-527B-41A2-B2C4-1DB91585DCFA}"/>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FF3599E7-C4E1-4465-B14A-F196DB8FF320}"/>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실제 검토 후 승인 예시의 review를 revised로 변경</a:t>
            </a:r>
          </a:p>
        </p:txBody>
      </p:sp>
      <p:sp>
        <p:nvSpPr>
          <p:cNvPr id="12" name="">
            <a:extLst xmlns:a="http://schemas.openxmlformats.org/drawingml/2006/main">
              <a:ext uri="{FF2B5EF4-FFF2-40B4-BE49-F238E27FC236}">
                <a16:creationId xmlns:a16="http://schemas.microsoft.com/office/drawing/2014/main" id="{6497D593-1B36-4742-910F-C9E9B3D0F0AB}"/>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A0C7EDA9-99AD-4911-9A02-1B6BD8C78AE6}"/>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approval과 revised로 미리보기 셀 재실행</a:t>
            </a:r>
          </a:p>
        </p:txBody>
      </p:sp>
      <p:sp>
        <p:nvSpPr>
          <p:cNvPr id="14" name="">
            <a:extLst xmlns:a="http://schemas.openxmlformats.org/drawingml/2006/main">
              <a:ext uri="{FF2B5EF4-FFF2-40B4-BE49-F238E27FC236}">
                <a16:creationId xmlns:a16="http://schemas.microsoft.com/office/drawing/2014/main" id="{68BC3DBC-CA34-45E0-AA47-1760DBC68C48}"/>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BBFD77FE-1523-4E96-B339-882BB224BC4F}"/>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3차시 · revised / approve_preview</a:t>
            </a:r>
          </a:p>
        </p:txBody>
      </p:sp>
      <p:sp>
        <p:nvSpPr>
          <p:cNvPr id="16" name="">
            <a:extLst xmlns:a="http://schemas.openxmlformats.org/drawingml/2006/main">
              <a:ext uri="{FF2B5EF4-FFF2-40B4-BE49-F238E27FC236}">
                <a16:creationId xmlns:a16="http://schemas.microsoft.com/office/drawing/2014/main" id="{D23B8AC3-96E5-45DA-B4AE-72B26BC054BB}"/>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사람 확인 후 PREVIEW_ONLY · GitHub 게시 없음</a:t>
            </a:r>
          </a:p>
        </p:txBody>
      </p:sp>
    </p:spTree>
    <p:extLst>
      <p:ext uri="{BB962C8B-B14F-4D97-AF65-F5344CB8AC3E}">
        <p14:creationId xmlns:p14="http://schemas.microsoft.com/office/powerpoint/2010/main" val="81119812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5DFDA4-0424-4AF9-A358-2A4AE17F3D0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코드·파일 작업</a:t>
            </a:r>
          </a:p>
        </p:txBody>
      </p:sp>
      <p:sp>
        <p:nvSpPr>
          <p:cNvPr id="2" name="">
            <a:extLst xmlns:a="http://schemas.openxmlformats.org/drawingml/2006/main">
              <a:ext uri="{FF2B5EF4-FFF2-40B4-BE49-F238E27FC236}">
                <a16:creationId xmlns:a16="http://schemas.microsoft.com/office/drawing/2014/main" id="{3691F42B-2342-4B71-8E84-4BEE5086E43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GitHub 연결 요청</a:t>
            </a:r>
          </a:p>
        </p:txBody>
      </p:sp>
      <p:sp>
        <p:nvSpPr>
          <p:cNvPr id="3" name="">
            <a:extLst xmlns:a="http://schemas.openxmlformats.org/drawingml/2006/main">
              <a:ext uri="{FF2B5EF4-FFF2-40B4-BE49-F238E27FC236}">
                <a16:creationId xmlns:a16="http://schemas.microsoft.com/office/drawing/2014/main" id="{E00181E3-59CB-439C-9B84-A67FDAE2563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37898C6-4E97-494A-A0FD-BBF7FFA084F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3E57938-6087-4965-99E0-25D4D6B72AF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070</a:t>
            </a:r>
          </a:p>
        </p:txBody>
      </p:sp>
      <p:sp>
        <p:nvSpPr>
          <p:cNvPr id="6" name="">
            <a:extLst xmlns:a="http://schemas.openxmlformats.org/drawingml/2006/main">
              <a:ext uri="{FF2B5EF4-FFF2-40B4-BE49-F238E27FC236}">
                <a16:creationId xmlns:a16="http://schemas.microsoft.com/office/drawing/2014/main" id="{26444E07-CA9E-423F-9274-A0BE154DB0BF}"/>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1C2B2B70-2948-48F9-94ED-16354ECB8506}"/>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8794AE-58EE-4A7E-96E5-496EFF39F7B3}"/>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내 개인 연습 저장소에서만 진행해 줘. 변경 파일과 테스트 결과를 정리하고 PR 설명 초안을 만들어 줘. push와 PR 생성은 대상 저장소·브랜치·공개 범위를 보여 준 뒤 내 확인을 기다려 줘. merge는 하지 마.</a:t>
            </a:r>
          </a:p>
        </p:txBody>
      </p:sp>
      <p:sp>
        <p:nvSpPr>
          <p:cNvPr id="9" name="">
            <a:extLst xmlns:a="http://schemas.openxmlformats.org/drawingml/2006/main">
              <a:ext uri="{FF2B5EF4-FFF2-40B4-BE49-F238E27FC236}">
                <a16:creationId xmlns:a16="http://schemas.microsoft.com/office/drawing/2014/main" id="{DEBBF28E-3E8A-4934-9AE1-55D0A22D453E}"/>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8E999702-7321-439C-8268-788B28A23F9C}"/>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저장소 · 브랜치 · diff · 테스트 결과</a:t>
            </a:r>
          </a:p>
        </p:txBody>
      </p:sp>
    </p:spTree>
    <p:extLst>
      <p:ext uri="{BB962C8B-B14F-4D97-AF65-F5344CB8AC3E}">
        <p14:creationId xmlns:p14="http://schemas.microsoft.com/office/powerpoint/2010/main" val="42405585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7EC4E3-D332-450D-9D1E-289B73A9D41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이론</a:t>
            </a:r>
          </a:p>
        </p:txBody>
      </p:sp>
      <p:sp>
        <p:nvSpPr>
          <p:cNvPr id="2" name="">
            <a:extLst xmlns:a="http://schemas.openxmlformats.org/drawingml/2006/main">
              <a:ext uri="{FF2B5EF4-FFF2-40B4-BE49-F238E27FC236}">
                <a16:creationId xmlns:a16="http://schemas.microsoft.com/office/drawing/2014/main" id="{37859BF5-7714-4656-BDC6-165DA7129F8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개인 PR의 확인 위치</a:t>
            </a:r>
          </a:p>
        </p:txBody>
      </p:sp>
      <p:sp>
        <p:nvSpPr>
          <p:cNvPr id="3" name="">
            <a:extLst xmlns:a="http://schemas.openxmlformats.org/drawingml/2006/main">
              <a:ext uri="{FF2B5EF4-FFF2-40B4-BE49-F238E27FC236}">
                <a16:creationId xmlns:a16="http://schemas.microsoft.com/office/drawing/2014/main" id="{17DA50EF-7AE1-499C-8B1F-5381E05D54C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084DA4B-725D-4E55-B318-E519CC7C8D7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0E1640B-6D06-4055-8B8C-7281F0D5F23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화면</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내용</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Files changed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의도한 파일만 변경</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Checks</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테스트 명령의 통과</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Conversation</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목적·수정 범위·주의점</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Merge 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사람의 최종 확인</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143312089"/>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204219-E58E-4010-B796-CA9314E17CA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결과 확인</a:t>
            </a:r>
          </a:p>
        </p:txBody>
      </p:sp>
      <p:sp>
        <p:nvSpPr>
          <p:cNvPr id="2" name="">
            <a:extLst xmlns:a="http://schemas.openxmlformats.org/drawingml/2006/main">
              <a:ext uri="{FF2B5EF4-FFF2-40B4-BE49-F238E27FC236}">
                <a16:creationId xmlns:a16="http://schemas.microsoft.com/office/drawing/2014/main" id="{19037CAE-298D-40AB-B273-5692B83FB52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3차시 확인</a:t>
            </a:r>
          </a:p>
        </p:txBody>
      </p:sp>
      <p:sp>
        <p:nvSpPr>
          <p:cNvPr id="3" name="">
            <a:extLst xmlns:a="http://schemas.openxmlformats.org/drawingml/2006/main">
              <a:ext uri="{FF2B5EF4-FFF2-40B4-BE49-F238E27FC236}">
                <a16:creationId xmlns:a16="http://schemas.microsoft.com/office/drawing/2014/main" id="{717E131C-FFE8-4AFD-8C40-8CE8172F018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8E1495B-0409-4EC8-B031-D624F120704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DDB48CA-23DD-4CBB-828F-F2D443FD613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072</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테스트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내가 추가한 테스트 포함 통과</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CI 파일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경로·권한·실행 명령 확인</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버전 변경</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STALE_HEAD_SHA 차단</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재실행</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DUPLICATE_REVIEW 차단</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2076827724"/>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6E8C4F-1A07-4525-ACFF-8A594B442EB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선택 확장</a:t>
            </a:r>
          </a:p>
        </p:txBody>
      </p:sp>
      <p:sp>
        <p:nvSpPr>
          <p:cNvPr id="2" name="">
            <a:extLst xmlns:a="http://schemas.openxmlformats.org/drawingml/2006/main">
              <a:ext uri="{FF2B5EF4-FFF2-40B4-BE49-F238E27FC236}">
                <a16:creationId xmlns:a16="http://schemas.microsoft.com/office/drawing/2014/main" id="{D8E4EAAA-C984-4693-AA9C-CE2E8F25F15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운영 확장 · 네트워크 오류</a:t>
            </a:r>
          </a:p>
        </p:txBody>
      </p:sp>
      <p:sp>
        <p:nvSpPr>
          <p:cNvPr id="3" name="">
            <a:extLst xmlns:a="http://schemas.openxmlformats.org/drawingml/2006/main">
              <a:ext uri="{FF2B5EF4-FFF2-40B4-BE49-F238E27FC236}">
                <a16:creationId xmlns:a16="http://schemas.microsoft.com/office/drawing/2014/main" id="{395C7ED7-9FDF-4A37-94C9-EFD4B5EF2D6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CFD7558-65F2-40A2-9A02-95014685B95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738626C-33EA-447C-8C17-066AA7FB0B3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응답</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처리 방향</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401·403</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인증·권한·요청 제한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429</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제한 확인 후 정해진 횟수만 대기</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5xx·timeout</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읽기는 제한 재시도, 쓰기는 이력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알 수 없는 전송 결과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재전송 전에 실제 게시 이력 조회</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49655354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EEEE8A-CF44-45BA-B266-F86CA0EE84F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3차시 · 10:40–11:30  /  선택 확장</a:t>
            </a:r>
          </a:p>
        </p:txBody>
      </p:sp>
      <p:sp>
        <p:nvSpPr>
          <p:cNvPr id="2" name="">
            <a:extLst xmlns:a="http://schemas.openxmlformats.org/drawingml/2006/main">
              <a:ext uri="{FF2B5EF4-FFF2-40B4-BE49-F238E27FC236}">
                <a16:creationId xmlns:a16="http://schemas.microsoft.com/office/drawing/2014/main" id="{EADF9DBF-29D7-4CFC-8989-0EDBA0C7419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CI의 공급망 위험</a:t>
            </a:r>
          </a:p>
        </p:txBody>
      </p:sp>
      <p:sp>
        <p:nvSpPr>
          <p:cNvPr id="3" name="">
            <a:extLst xmlns:a="http://schemas.openxmlformats.org/drawingml/2006/main">
              <a:ext uri="{FF2B5EF4-FFF2-40B4-BE49-F238E27FC236}">
                <a16:creationId xmlns:a16="http://schemas.microsoft.com/office/drawing/2014/main" id="{F2F714FF-FC04-4D65-9667-553A4B10AA5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E67FEB9-01D2-4F84-83F3-3201E89EC49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8675010-2628-481B-BB7C-79CB45B2FE8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074</a:t>
            </a:r>
          </a:p>
        </p:txBody>
      </p:sp>
      <p:sp>
        <p:nvSpPr>
          <p:cNvPr id="6" name="">
            <a:extLst xmlns:a="http://schemas.openxmlformats.org/drawingml/2006/main">
              <a:ext uri="{FF2B5EF4-FFF2-40B4-BE49-F238E27FC236}">
                <a16:creationId xmlns:a16="http://schemas.microsoft.com/office/drawing/2014/main" id="{350F96FF-5D1D-4366-AFD6-064EC510F586}"/>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801435A4-E500-4A30-BA64-E0A49D210FCE}"/>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Action 버전을 전체 commit SHA로 고정</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PR에서 온 스크립트와 secret의 분리</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검사 도구 업데이트도 변경 이력으로 관리</a:t>
            </a:r>
          </a:p>
        </p:txBody>
      </p:sp>
    </p:spTree>
    <p:extLst>
      <p:ext uri="{BB962C8B-B14F-4D97-AF65-F5344CB8AC3E}">
        <p14:creationId xmlns:p14="http://schemas.microsoft.com/office/powerpoint/2010/main" val="115926791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EABACB-A1F0-44A7-A781-5CFE07FFCF6B}"/>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오전 수업 종료</a:t>
            </a:r>
          </a:p>
        </p:txBody>
      </p:sp>
      <p:sp>
        <p:nvSpPr>
          <p:cNvPr id="2" name="">
            <a:extLst xmlns:a="http://schemas.openxmlformats.org/drawingml/2006/main">
              <a:ext uri="{FF2B5EF4-FFF2-40B4-BE49-F238E27FC236}">
                <a16:creationId xmlns:a16="http://schemas.microsoft.com/office/drawing/2014/main" id="{18243541-DA43-4BB3-BE4D-9DA767B6ABC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쉬는 시간 · 점심시간</a:t>
            </a:r>
          </a:p>
        </p:txBody>
      </p:sp>
      <p:sp>
        <p:nvSpPr>
          <p:cNvPr id="3" name="">
            <a:extLst xmlns:a="http://schemas.openxmlformats.org/drawingml/2006/main">
              <a:ext uri="{FF2B5EF4-FFF2-40B4-BE49-F238E27FC236}">
                <a16:creationId xmlns:a16="http://schemas.microsoft.com/office/drawing/2014/main" id="{220B5BC0-1CD3-4447-B42C-FC192C8D1FB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37539DA-4224-426C-A03A-674B0BD1DDD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1BAA87D-2FF8-4FCF-BBB2-FF9BAD2F2D3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075</a:t>
            </a:r>
          </a:p>
        </p:txBody>
      </p:sp>
      <p:sp>
        <p:nvSpPr>
          <p:cNvPr id="6" name="">
            <a:extLst xmlns:a="http://schemas.openxmlformats.org/drawingml/2006/main">
              <a:ext uri="{FF2B5EF4-FFF2-40B4-BE49-F238E27FC236}">
                <a16:creationId xmlns:a16="http://schemas.microsoft.com/office/drawing/2014/main" id="{3789BED7-4BF6-45B7-A40B-8F949DED375A}"/>
              </a:ext>
            </a:extLst>
          </p:cNvPr>
          <p:cNvSpPr>
            <a:spLocks xmlns:a="http://schemas.openxmlformats.org/drawingml/2006/main" noGrp="1"/>
          </p:cNvSpPr>
          <p:nvPr/>
        </p:nvSpPr>
        <p:spPr>
          <a:xfrm xmlns:a="http://schemas.openxmlformats.org/drawingml/2006/main">
            <a:off x="609600" y="2152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100" b="1">
                <a:solidFill>
                  <a:srgbClr val="161616"/>
                </a:solidFill>
                <a:latin typeface="NanumGothic"/>
                <a:ea typeface="NanumGothic"/>
                <a:cs typeface="NanumGothic"/>
              </a:defRPr>
            </a:pPr>
            <a:r>
              <a:rPr sz="5100" b="1">
                <a:solidFill>
                  <a:srgbClr val="161616"/>
                </a:solidFill>
                <a:latin typeface="NanumGothic"/>
                <a:ea typeface="NanumGothic"/>
                <a:cs typeface="NanumGothic"/>
              </a:rPr>
              <a:t>11:30–13:00</a:t>
            </a:r>
          </a:p>
        </p:txBody>
      </p:sp>
      <p:sp>
        <p:nvSpPr>
          <p:cNvPr id="7" name="">
            <a:extLst xmlns:a="http://schemas.openxmlformats.org/drawingml/2006/main">
              <a:ext uri="{FF2B5EF4-FFF2-40B4-BE49-F238E27FC236}">
                <a16:creationId xmlns:a16="http://schemas.microsoft.com/office/drawing/2014/main" id="{1893EA77-E343-43F5-B97E-70BFB4CC871B}"/>
              </a:ext>
            </a:extLst>
          </p:cNvPr>
          <p:cNvSpPr>
            <a:spLocks xmlns:a="http://schemas.openxmlformats.org/drawingml/2006/main" noGrp="1"/>
          </p:cNvSpPr>
          <p:nvPr/>
        </p:nvSpPr>
        <p:spPr>
          <a:xfrm xmlns:a="http://schemas.openxmlformats.org/drawingml/2006/main">
            <a:off x="609600" y="37719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850" b="0">
                <a:solidFill>
                  <a:srgbClr val="161616"/>
                </a:solidFill>
                <a:latin typeface="NanumGothic"/>
                <a:ea typeface="NanumGothic"/>
                <a:cs typeface="NanumGothic"/>
              </a:defRPr>
            </a:pPr>
            <a:r>
              <a:rPr sz="2850" b="0">
                <a:solidFill>
                  <a:srgbClr val="161616"/>
                </a:solidFill>
                <a:latin typeface="NanumGothic"/>
                <a:ea typeface="NanumGothic"/>
                <a:cs typeface="NanumGothic"/>
              </a:rPr>
              <a:t>쉬는 시간 11:30–12:00</a:t>
            </a:r>
          </a:p>
          <a:p xmlns:a="http://schemas.openxmlformats.org/drawingml/2006/main">
            <a:pPr algn="l">
              <a:lnSpc>
                <a:spcPct val="112000"/>
              </a:lnSpc>
              <a:buNone/>
              <a:defRPr sz="2850" b="0">
                <a:solidFill>
                  <a:srgbClr val="161616"/>
                </a:solidFill>
                <a:latin typeface="NanumGothic"/>
                <a:ea typeface="NanumGothic"/>
                <a:cs typeface="NanumGothic"/>
              </a:defRPr>
            </a:pPr>
            <a:r>
              <a:rPr sz="2850" b="0">
                <a:solidFill>
                  <a:srgbClr val="161616"/>
                </a:solidFill>
                <a:latin typeface="NanumGothic"/>
                <a:ea typeface="NanumGothic"/>
                <a:cs typeface="NanumGothic"/>
              </a:rPr>
              <a:t>점심시간 12:00–13:00</a:t>
            </a:r>
          </a:p>
        </p:txBody>
      </p:sp>
    </p:spTree>
    <p:extLst>
      <p:ext uri="{BB962C8B-B14F-4D97-AF65-F5344CB8AC3E}">
        <p14:creationId xmlns:p14="http://schemas.microsoft.com/office/powerpoint/2010/main" val="1095349299"/>
      </p:ext>
    </p:extLst>
  </p:cSld>
</p:sld>
</file>

<file path=ppt/slides/slide76.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6748F3-158A-4792-A976-31E9E24161DF}"/>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4차시</a:t>
            </a:r>
          </a:p>
        </p:txBody>
      </p:sp>
      <p:sp>
        <p:nvSpPr>
          <p:cNvPr id="2" name="">
            <a:extLst xmlns:a="http://schemas.openxmlformats.org/drawingml/2006/main">
              <a:ext uri="{FF2B5EF4-FFF2-40B4-BE49-F238E27FC236}">
                <a16:creationId xmlns:a16="http://schemas.microsoft.com/office/drawing/2014/main" id="{F6E041EC-E8D0-4C0E-B9F8-F07B1F4EAEF8}"/>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13:00–13:50</a:t>
            </a:r>
          </a:p>
        </p:txBody>
      </p:sp>
      <p:sp>
        <p:nvSpPr>
          <p:cNvPr id="3" name="">
            <a:extLst xmlns:a="http://schemas.openxmlformats.org/drawingml/2006/main">
              <a:ext uri="{FF2B5EF4-FFF2-40B4-BE49-F238E27FC236}">
                <a16:creationId xmlns:a16="http://schemas.microsoft.com/office/drawing/2014/main" id="{5FE35D8D-34EA-43D9-B391-549BE0E0F019}"/>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Excel WBS와 간트 차트</a:t>
            </a:r>
          </a:p>
        </p:txBody>
      </p:sp>
      <p:sp>
        <p:nvSpPr>
          <p:cNvPr id="4" name="">
            <a:extLst xmlns:a="http://schemas.openxmlformats.org/drawingml/2006/main">
              <a:ext uri="{FF2B5EF4-FFF2-40B4-BE49-F238E27FC236}">
                <a16:creationId xmlns:a16="http://schemas.microsoft.com/office/drawing/2014/main" id="{6C3D17B9-5619-4B26-A613-097D3D5BF0BC}"/>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입력·수식·조건부서식으로 작동하는 일정표</a:t>
            </a:r>
          </a:p>
        </p:txBody>
      </p:sp>
      <p:sp>
        <p:nvSpPr>
          <p:cNvPr id="5" name="">
            <a:extLst xmlns:a="http://schemas.openxmlformats.org/drawingml/2006/main">
              <a:ext uri="{FF2B5EF4-FFF2-40B4-BE49-F238E27FC236}">
                <a16:creationId xmlns:a16="http://schemas.microsoft.com/office/drawing/2014/main" id="{2B9E2BF5-1600-4B7B-951F-830A4BD39D16}"/>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2C6DA5FA-EC68-483E-A81E-80D24405902A}"/>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wbs_tasks.json · WBS_Gantt.xlsx</a:t>
            </a:r>
          </a:p>
        </p:txBody>
      </p:sp>
      <p:sp>
        <p:nvSpPr>
          <p:cNvPr id="7" name="">
            <a:extLst xmlns:a="http://schemas.openxmlformats.org/drawingml/2006/main">
              <a:ext uri="{FF2B5EF4-FFF2-40B4-BE49-F238E27FC236}">
                <a16:creationId xmlns:a16="http://schemas.microsoft.com/office/drawing/2014/main" id="{8A4C61C4-CD05-44F6-B52D-E6ACBB36F51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EB687660-8385-4A66-A0B0-A22E5ADE3E0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20E04816-542F-493D-95BF-E588EC19B57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076</a:t>
            </a:r>
          </a:p>
        </p:txBody>
      </p:sp>
    </p:spTree>
    <p:extLst>
      <p:ext uri="{BB962C8B-B14F-4D97-AF65-F5344CB8AC3E}">
        <p14:creationId xmlns:p14="http://schemas.microsoft.com/office/powerpoint/2010/main" val="1090231944"/>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9115E0-4625-4AFC-A54D-DA1F9F13BD1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시연</a:t>
            </a:r>
          </a:p>
        </p:txBody>
      </p:sp>
      <p:sp>
        <p:nvSpPr>
          <p:cNvPr id="2" name="">
            <a:extLst xmlns:a="http://schemas.openxmlformats.org/drawingml/2006/main">
              <a:ext uri="{FF2B5EF4-FFF2-40B4-BE49-F238E27FC236}">
                <a16:creationId xmlns:a16="http://schemas.microsoft.com/office/drawing/2014/main" id="{1B6E16E5-27DD-4779-8D24-DBC5696B939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일정 데이터와 간트 차트</a:t>
            </a:r>
          </a:p>
        </p:txBody>
      </p:sp>
      <p:sp>
        <p:nvSpPr>
          <p:cNvPr id="3" name="">
            <a:extLst xmlns:a="http://schemas.openxmlformats.org/drawingml/2006/main">
              <a:ext uri="{FF2B5EF4-FFF2-40B4-BE49-F238E27FC236}">
                <a16:creationId xmlns:a16="http://schemas.microsoft.com/office/drawing/2014/main" id="{889F60D3-1C6D-4718-856E-4BC75A71019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21A56AC-0D81-42D2-9E3C-317829BAF3A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289610C-1972-4E41-B245-4094A31AB8A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203f10be974fb0"/>
          <a:stretch xmlns:a="http://schemas.openxmlformats.org/drawingml/2006/main"/>
        </p:blipFill>
        <p:spPr>
          <a:xfrm xmlns:a="http://schemas.openxmlformats.org/drawingml/2006/main">
            <a:off x="631031" y="1666875"/>
            <a:ext cx="10929938"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1AE185D-9984-4C4B-9336-5515096F5ED3}"/>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9/14~9/28 구간 확대 · 첫 8개 업무 · 전체 일정은 XLSX</a:t>
            </a:r>
          </a:p>
        </p:txBody>
      </p:sp>
    </p:spTree>
    <p:extLst>
      <p:ext uri="{BB962C8B-B14F-4D97-AF65-F5344CB8AC3E}">
        <p14:creationId xmlns:p14="http://schemas.microsoft.com/office/powerpoint/2010/main" val="2138389500"/>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251403-0BD8-40C3-B28D-B7F3093F949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D7864B18-0DEA-4A6F-B575-8A2EB5BD51B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WBS 연습 파일 열기</a:t>
            </a:r>
          </a:p>
        </p:txBody>
      </p:sp>
      <p:sp>
        <p:nvSpPr>
          <p:cNvPr id="3" name="">
            <a:extLst xmlns:a="http://schemas.openxmlformats.org/drawingml/2006/main">
              <a:ext uri="{FF2B5EF4-FFF2-40B4-BE49-F238E27FC236}">
                <a16:creationId xmlns:a16="http://schemas.microsoft.com/office/drawing/2014/main" id="{46F72B99-D0F6-4CC5-8807-5CE8B17CAB2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A156C6F-7BA7-40AD-B3A9-FF00C3C7B4F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B5D7E3E-FEAC-4A06-9085-4B672E2D2F4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078</a:t>
            </a:r>
          </a:p>
        </p:txBody>
      </p:sp>
      <p:sp>
        <p:nvSpPr>
          <p:cNvPr id="6" name="">
            <a:extLst xmlns:a="http://schemas.openxmlformats.org/drawingml/2006/main">
              <a:ext uri="{FF2B5EF4-FFF2-40B4-BE49-F238E27FC236}">
                <a16:creationId xmlns:a16="http://schemas.microsoft.com/office/drawing/2014/main" id="{171214E6-1C56-4C84-908D-96F46583595C}"/>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E96E9728-B740-434C-8919-8DE2137A4897}"/>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제공 파일을 복사한 뒤 Excel 또는 LibreOffice로 열기</a:t>
            </a:r>
          </a:p>
        </p:txBody>
      </p:sp>
      <p:sp>
        <p:nvSpPr>
          <p:cNvPr id="8" name="">
            <a:extLst xmlns:a="http://schemas.openxmlformats.org/drawingml/2006/main">
              <a:ext uri="{FF2B5EF4-FFF2-40B4-BE49-F238E27FC236}">
                <a16:creationId xmlns:a16="http://schemas.microsoft.com/office/drawing/2014/main" id="{AF4214AA-748C-4AA3-AB51-D9DB14733B3F}"/>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64E94EDB-C42B-4301-8FC7-E911C5336894}"/>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아래쪽 WBS 탭 선택, 왼쪽 위 이름 상자에 F12 입력</a:t>
            </a:r>
          </a:p>
        </p:txBody>
      </p:sp>
      <p:sp>
        <p:nvSpPr>
          <p:cNvPr id="10" name="">
            <a:extLst xmlns:a="http://schemas.openxmlformats.org/drawingml/2006/main">
              <a:ext uri="{FF2B5EF4-FFF2-40B4-BE49-F238E27FC236}">
                <a16:creationId xmlns:a16="http://schemas.microsoft.com/office/drawing/2014/main" id="{84E28D1B-8668-4EC1-A1A7-CCB481DE5FBF}"/>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A9EA0142-EF91-49E5-9E4A-C3A4EF02F5C4}"/>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같은 행의 A12가 W04인지, F12가 80%인지 확인</a:t>
            </a:r>
          </a:p>
        </p:txBody>
      </p:sp>
      <p:sp>
        <p:nvSpPr>
          <p:cNvPr id="12" name="">
            <a:extLst xmlns:a="http://schemas.openxmlformats.org/drawingml/2006/main">
              <a:ext uri="{FF2B5EF4-FFF2-40B4-BE49-F238E27FC236}">
                <a16:creationId xmlns:a16="http://schemas.microsoft.com/office/drawing/2014/main" id="{3EA34B65-B6D8-410A-835A-4FDD0A04E0D5}"/>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907C8E52-4816-4941-9A6A-84F70BEFDE6A}"/>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계산 결과 I12의 지연 표시와 B4 기준일 확인</a:t>
            </a:r>
          </a:p>
        </p:txBody>
      </p:sp>
      <p:sp>
        <p:nvSpPr>
          <p:cNvPr id="14" name="">
            <a:extLst xmlns:a="http://schemas.openxmlformats.org/drawingml/2006/main">
              <a:ext uri="{FF2B5EF4-FFF2-40B4-BE49-F238E27FC236}">
                <a16:creationId xmlns:a16="http://schemas.microsoft.com/office/drawing/2014/main" id="{17CA503D-D8A1-4451-8ABB-57B29146CD49}"/>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36732965-E3FC-454D-AF5C-DE232EE9BF6B}"/>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outputs/day4-document-automation/WBS_Gantt.xlsx</a:t>
            </a:r>
          </a:p>
        </p:txBody>
      </p:sp>
      <p:sp>
        <p:nvSpPr>
          <p:cNvPr id="16" name="">
            <a:extLst xmlns:a="http://schemas.openxmlformats.org/drawingml/2006/main">
              <a:ext uri="{FF2B5EF4-FFF2-40B4-BE49-F238E27FC236}">
                <a16:creationId xmlns:a16="http://schemas.microsoft.com/office/drawing/2014/main" id="{EEFCD950-1FDB-4133-8C19-3CC2AA345A00}"/>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수정 대상: 복사본의 입력 셀 / 계산 셀은 유지</a:t>
            </a:r>
          </a:p>
        </p:txBody>
      </p:sp>
    </p:spTree>
    <p:extLst>
      <p:ext uri="{BB962C8B-B14F-4D97-AF65-F5344CB8AC3E}">
        <p14:creationId xmlns:p14="http://schemas.microsoft.com/office/powerpoint/2010/main" val="2020174222"/>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0269A3-A34E-4AE3-82FF-15EC9B84D01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8DC6AA59-038E-42B2-8174-7EBAC8A8E81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WBS의 최소 단위</a:t>
            </a:r>
          </a:p>
        </p:txBody>
      </p:sp>
      <p:sp>
        <p:nvSpPr>
          <p:cNvPr id="3" name="">
            <a:extLst xmlns:a="http://schemas.openxmlformats.org/drawingml/2006/main">
              <a:ext uri="{FF2B5EF4-FFF2-40B4-BE49-F238E27FC236}">
                <a16:creationId xmlns:a16="http://schemas.microsoft.com/office/drawing/2014/main" id="{D7D3FCA1-1B7A-4B13-B323-2477FB5D7D7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BD6E0AEC-11CE-43AA-BB3F-E8926475B45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C9188C0-536B-454D-A3F5-0EC25FE4DB3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079</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예시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용도</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업무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PR diff 수집</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끝낼 작업의 범위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Role</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Backend</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업무 담당 역할</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시작·종료</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09/16–09/18</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기간 계산</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선행 ID</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W01</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먼저 끝나야 할 업무</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진척률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0.8 → 80%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현재 진행 정도</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98433353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6A75DA-0E81-4BC8-B36E-B55DA580B68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57DCE3A9-BD0A-43AC-9AC4-11A6185593E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AI 초안과 계산의 분리</a:t>
            </a:r>
          </a:p>
        </p:txBody>
      </p:sp>
      <p:sp>
        <p:nvSpPr>
          <p:cNvPr id="3" name="">
            <a:extLst xmlns:a="http://schemas.openxmlformats.org/drawingml/2006/main">
              <a:ext uri="{FF2B5EF4-FFF2-40B4-BE49-F238E27FC236}">
                <a16:creationId xmlns:a16="http://schemas.microsoft.com/office/drawing/2014/main" id="{A9877C4D-CA65-455D-84E3-95D97FC2DE3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9B56D8E-A184-4F9B-9FA7-25F6CFB7681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DC2C822-71A1-4842-8449-994B4DFBB0C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AI 도움</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코드·수식</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업무 분해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누락 후보와 순서 제안</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필수 열·ID 검사</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일정 산정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가정과 위험 설명</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업무일 계산</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상태 표시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지연 원인 문장 초안</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날짜·진척률 조건</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보고</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읽기 쉬운 설명</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입력의 수치 재사용</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95130911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D5E694-8425-4FF3-8AAD-917D068C1AB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0252408B-C492-4EEE-92B0-02BB7612E04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업무일 계산</a:t>
            </a:r>
          </a:p>
        </p:txBody>
      </p:sp>
      <p:sp>
        <p:nvSpPr>
          <p:cNvPr id="3" name="">
            <a:extLst xmlns:a="http://schemas.openxmlformats.org/drawingml/2006/main">
              <a:ext uri="{FF2B5EF4-FFF2-40B4-BE49-F238E27FC236}">
                <a16:creationId xmlns:a16="http://schemas.microsoft.com/office/drawing/2014/main" id="{0C694D39-D2B6-42F1-8991-CCAD9E7951B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8E4623E-A9E9-4DA6-A819-17E4349B2F6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CF5A59A-B028-4B3A-8D92-270EE6BC0FB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081</a:t>
            </a:r>
          </a:p>
        </p:txBody>
      </p:sp>
      <p:sp>
        <p:nvSpPr>
          <p:cNvPr id="6" name="">
            <a:extLst xmlns:a="http://schemas.openxmlformats.org/drawingml/2006/main">
              <a:ext uri="{FF2B5EF4-FFF2-40B4-BE49-F238E27FC236}">
                <a16:creationId xmlns:a16="http://schemas.microsoft.com/office/drawing/2014/main" id="{DE300C4A-9347-489B-89C8-298A4857A322}"/>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9E1B2D-9AFB-4C0E-B1AB-DD10BAB7F7E8}"/>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=NETWORKDAYS(D9,E9)</a:t>
            </a:r>
          </a:p>
          <a:p xmlns:a="http://schemas.openxmlformats.org/drawingml/2006/main">
            <a:r>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시작일과 종료일 포함</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토요일·일요일 제외</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공휴일 목록은 별도 추가</a:t>
            </a:r>
          </a:p>
        </p:txBody>
      </p:sp>
      <p:sp>
        <p:nvSpPr>
          <p:cNvPr id="8" name="">
            <a:extLst xmlns:a="http://schemas.openxmlformats.org/drawingml/2006/main">
              <a:ext uri="{FF2B5EF4-FFF2-40B4-BE49-F238E27FC236}">
                <a16:creationId xmlns:a16="http://schemas.microsoft.com/office/drawing/2014/main" id="{AC77F971-6BE8-4053-AB93-B7CA41E2FE8C}"/>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H열: 업무일</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샘플: 대한민국 공휴일 미반영</a:t>
            </a:r>
          </a:p>
        </p:txBody>
      </p:sp>
    </p:spTree>
    <p:extLst>
      <p:ext uri="{BB962C8B-B14F-4D97-AF65-F5344CB8AC3E}">
        <p14:creationId xmlns:p14="http://schemas.microsoft.com/office/powerpoint/2010/main" val="54627528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6DB505-DC8D-4070-A126-CCAC4F21267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D27CF2F3-91FA-4EC8-A6B5-7EEB0AF1F67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셀 참조의 방향</a:t>
            </a:r>
          </a:p>
        </p:txBody>
      </p:sp>
      <p:sp>
        <p:nvSpPr>
          <p:cNvPr id="3" name="">
            <a:extLst xmlns:a="http://schemas.openxmlformats.org/drawingml/2006/main">
              <a:ext uri="{FF2B5EF4-FFF2-40B4-BE49-F238E27FC236}">
                <a16:creationId xmlns:a16="http://schemas.microsoft.com/office/drawing/2014/main" id="{660CF839-7622-4FA9-B01A-B2A967F88B5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473C51C-D86C-4516-9E1C-0576962D884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8129133-A04A-4612-B1A3-57C36FE4C1A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082</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참조</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고정되는 부분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간트에서의 역할</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L$8</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날짜가 있는 8행</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가로 이동 시 다음 날짜</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$D9</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시작일 D열</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세로 이동 시 다음 업무</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$E9</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종료일 E열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업무별 기간 비교</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$B$4</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기준일 셀 전체</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모든 업무의 같은 기준일</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204671471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CB7263-C70E-4E6F-964D-0FB40BF47A0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E1683CB5-BEEF-4183-A1AE-78A8070DF32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간트 표시 조건</a:t>
            </a:r>
          </a:p>
        </p:txBody>
      </p:sp>
      <p:sp>
        <p:nvSpPr>
          <p:cNvPr id="3" name="">
            <a:extLst xmlns:a="http://schemas.openxmlformats.org/drawingml/2006/main">
              <a:ext uri="{FF2B5EF4-FFF2-40B4-BE49-F238E27FC236}">
                <a16:creationId xmlns:a16="http://schemas.microsoft.com/office/drawing/2014/main" id="{65802CCC-E452-4C93-A30D-A3A784A8938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4865B82-1538-40DD-A125-1EF5146CC97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BB10AC1-FA2D-4D6D-9B48-14608DD1265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083</a:t>
            </a:r>
          </a:p>
        </p:txBody>
      </p:sp>
      <p:sp>
        <p:nvSpPr>
          <p:cNvPr id="6" name="">
            <a:extLst xmlns:a="http://schemas.openxmlformats.org/drawingml/2006/main">
              <a:ext uri="{FF2B5EF4-FFF2-40B4-BE49-F238E27FC236}">
                <a16:creationId xmlns:a16="http://schemas.microsoft.com/office/drawing/2014/main" id="{485803F0-8AA9-475E-B6CA-692A6F9A53CC}"/>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E5AEA6-0249-4C0A-8940-41B22A54010A}"/>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=AND(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L$8 &gt;= $D9,</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L$8 &lt;= $E9,</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WEEKDAY(L$8,2) &lt; 6</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2A7D3329-F0B2-47EB-AEB6-F906391AE24A}"/>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기간 안쪽 + 평일</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실제 파일은 입력 검증·상태 조건도 포함</a:t>
            </a:r>
          </a:p>
        </p:txBody>
      </p:sp>
    </p:spTree>
    <p:extLst>
      <p:ext uri="{BB962C8B-B14F-4D97-AF65-F5344CB8AC3E}">
        <p14:creationId xmlns:p14="http://schemas.microsoft.com/office/powerpoint/2010/main" val="9515845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1B87A3-94D6-4154-86E5-D28B34867DB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시연</a:t>
            </a:r>
          </a:p>
        </p:txBody>
      </p:sp>
      <p:sp>
        <p:nvSpPr>
          <p:cNvPr id="2" name="">
            <a:extLst xmlns:a="http://schemas.openxmlformats.org/drawingml/2006/main">
              <a:ext uri="{FF2B5EF4-FFF2-40B4-BE49-F238E27FC236}">
                <a16:creationId xmlns:a16="http://schemas.microsoft.com/office/drawing/2014/main" id="{21BD1074-BB93-4771-9F65-AB4F5D67F41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 열과 계산 열</a:t>
            </a:r>
          </a:p>
        </p:txBody>
      </p:sp>
      <p:sp>
        <p:nvSpPr>
          <p:cNvPr id="3" name="">
            <a:extLst xmlns:a="http://schemas.openxmlformats.org/drawingml/2006/main">
              <a:ext uri="{FF2B5EF4-FFF2-40B4-BE49-F238E27FC236}">
                <a16:creationId xmlns:a16="http://schemas.microsoft.com/office/drawing/2014/main" id="{736D54EC-774A-4FF0-ABED-A7C55251B4C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8315D2E-23B6-4A0F-B949-92CE4F26E5B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5F7039F-2179-4242-8EF1-6ED8386F948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5ca458d0a9648b7"/>
          <a:stretch xmlns:a="http://schemas.openxmlformats.org/drawingml/2006/main"/>
        </p:blipFill>
        <p:spPr>
          <a:xfrm xmlns:a="http://schemas.openxmlformats.org/drawingml/2006/main">
            <a:off x="609600" y="2111929"/>
            <a:ext cx="10972800" cy="305324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C0D8672-4ADF-4573-B03A-6947E65B75F0}"/>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입력 A:F 확대 · 전체 파일의 계산 H:K · 간트 L:AM</a:t>
            </a:r>
          </a:p>
        </p:txBody>
      </p:sp>
    </p:spTree>
    <p:extLst>
      <p:ext uri="{BB962C8B-B14F-4D97-AF65-F5344CB8AC3E}">
        <p14:creationId xmlns:p14="http://schemas.microsoft.com/office/powerpoint/2010/main" val="116317912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01C222-3244-4EC9-90CD-EF54880C9A3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시연</a:t>
            </a:r>
          </a:p>
        </p:txBody>
      </p:sp>
      <p:sp>
        <p:nvSpPr>
          <p:cNvPr id="2" name="">
            <a:extLst xmlns:a="http://schemas.openxmlformats.org/drawingml/2006/main">
              <a:ext uri="{FF2B5EF4-FFF2-40B4-BE49-F238E27FC236}">
                <a16:creationId xmlns:a16="http://schemas.microsoft.com/office/drawing/2014/main" id="{2962A1F0-BFAD-4FBB-A805-41EF14C0932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WBS 데이터 로딩</a:t>
            </a:r>
          </a:p>
        </p:txBody>
      </p:sp>
      <p:sp>
        <p:nvSpPr>
          <p:cNvPr id="3" name="">
            <a:extLst xmlns:a="http://schemas.openxmlformats.org/drawingml/2006/main">
              <a:ext uri="{FF2B5EF4-FFF2-40B4-BE49-F238E27FC236}">
                <a16:creationId xmlns:a16="http://schemas.microsoft.com/office/drawing/2014/main" id="{A4F7DACB-3A99-4A6F-A054-EC30220AB21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4B7C88F-AD00-4B74-B18A-51154E5BAAD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848947E-9FBD-438E-AF64-2D111D3D0FC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085</a:t>
            </a:r>
          </a:p>
        </p:txBody>
      </p:sp>
      <p:sp>
        <p:nvSpPr>
          <p:cNvPr id="6" name="">
            <a:extLst xmlns:a="http://schemas.openxmlformats.org/drawingml/2006/main">
              <a:ext uri="{FF2B5EF4-FFF2-40B4-BE49-F238E27FC236}">
                <a16:creationId xmlns:a16="http://schemas.microsoft.com/office/drawing/2014/main" id="{B237D502-3331-46E2-BB8C-F093E86F61D4}"/>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17E6DB-6461-42A0-AC42-101DDCDF52C7}"/>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labs.day4.office_lab.sheets.student_excel import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load_sample, calculate_wbs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tasks = load_sample("wbs_tasks.json")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rows = calculate_wbs(tasks, "2026-09-25")</a:t>
            </a:r>
          </a:p>
        </p:txBody>
      </p:sp>
      <p:sp>
        <p:nvSpPr>
          <p:cNvPr id="8" name="">
            <a:extLst xmlns:a="http://schemas.openxmlformats.org/drawingml/2006/main">
              <a:ext uri="{FF2B5EF4-FFF2-40B4-BE49-F238E27FC236}">
                <a16:creationId xmlns:a16="http://schemas.microsoft.com/office/drawing/2014/main" id="{29685F7A-E492-4CA5-8053-76BCECF50795}"/>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4차시</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원본 JSON 대신 복사본 수정</a:t>
            </a:r>
          </a:p>
        </p:txBody>
      </p:sp>
    </p:spTree>
    <p:extLst>
      <p:ext uri="{BB962C8B-B14F-4D97-AF65-F5344CB8AC3E}">
        <p14:creationId xmlns:p14="http://schemas.microsoft.com/office/powerpoint/2010/main" val="349434536"/>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619DCB-1070-4688-8D2F-0618CB95EE4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FA21350D-8CE0-440B-9B0D-C04AD8E83A3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업무 ID와 Python 행 선택</a:t>
            </a:r>
          </a:p>
        </p:txBody>
      </p:sp>
      <p:sp>
        <p:nvSpPr>
          <p:cNvPr id="3" name="">
            <a:extLst xmlns:a="http://schemas.openxmlformats.org/drawingml/2006/main">
              <a:ext uri="{FF2B5EF4-FFF2-40B4-BE49-F238E27FC236}">
                <a16:creationId xmlns:a16="http://schemas.microsoft.com/office/drawing/2014/main" id="{EDC0F2EE-805A-4B36-B844-AF4854F02FD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F524720-0BB3-4844-97EE-E6CCFF4806A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0B5BCA5-C66E-4D26-AC3A-DCCDFE3F7B6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086</a:t>
            </a:r>
          </a:p>
        </p:txBody>
      </p:sp>
      <p:sp>
        <p:nvSpPr>
          <p:cNvPr id="6" name="">
            <a:extLst xmlns:a="http://schemas.openxmlformats.org/drawingml/2006/main">
              <a:ext uri="{FF2B5EF4-FFF2-40B4-BE49-F238E27FC236}">
                <a16:creationId xmlns:a16="http://schemas.microsoft.com/office/drawing/2014/main" id="{D523E3A4-6BBE-4AAA-9F11-D08E3D4C3FB8}"/>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44B83D-6CAB-4010-AD1E-D00C988FFF4E}"/>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w04_index = next(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i for i, row in enumerate(tasks) if row["id"] == "W04"</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w04 = tasks[w04_index]</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print(w04["id"], w04["task"])</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print(w04["start"], w04["end"], w04["progress"])</a:t>
            </a:r>
          </a:p>
        </p:txBody>
      </p:sp>
      <p:sp>
        <p:nvSpPr>
          <p:cNvPr id="8" name="">
            <a:extLst xmlns:a="http://schemas.openxmlformats.org/drawingml/2006/main">
              <a:ext uri="{FF2B5EF4-FFF2-40B4-BE49-F238E27FC236}">
                <a16:creationId xmlns:a16="http://schemas.microsoft.com/office/drawing/2014/main" id="{CF7C9636-93B5-40CC-88EA-3CAD87EBE5E4}"/>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4차시의 데이터 로딩 셀 실행 후</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W04: 2026-09-21 ~ 2026-09-23 / 진척률 0.8</a:t>
            </a:r>
          </a:p>
        </p:txBody>
      </p:sp>
    </p:spTree>
    <p:extLst>
      <p:ext uri="{BB962C8B-B14F-4D97-AF65-F5344CB8AC3E}">
        <p14:creationId xmlns:p14="http://schemas.microsoft.com/office/powerpoint/2010/main" val="90245344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E0011BF-2D1C-4105-883C-0F767D75615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DC7248E9-E495-4B80-831D-4F7F3081CF5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진척률 변경</a:t>
            </a:r>
          </a:p>
        </p:txBody>
      </p:sp>
      <p:sp>
        <p:nvSpPr>
          <p:cNvPr id="3" name="">
            <a:extLst xmlns:a="http://schemas.openxmlformats.org/drawingml/2006/main">
              <a:ext uri="{FF2B5EF4-FFF2-40B4-BE49-F238E27FC236}">
                <a16:creationId xmlns:a16="http://schemas.microsoft.com/office/drawing/2014/main" id="{13986587-9906-4507-9A01-01BD824EEEC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4A379A2-B6F0-4DCE-BA18-CD2F30DD23F5}"/>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9D568B6-F5F8-4571-A4DA-FE0E108CED8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087</a:t>
            </a:r>
          </a:p>
        </p:txBody>
      </p:sp>
      <p:sp>
        <p:nvSpPr>
          <p:cNvPr id="6" name="">
            <a:extLst xmlns:a="http://schemas.openxmlformats.org/drawingml/2006/main">
              <a:ext uri="{FF2B5EF4-FFF2-40B4-BE49-F238E27FC236}">
                <a16:creationId xmlns:a16="http://schemas.microsoft.com/office/drawing/2014/main" id="{EB95A45C-491E-4285-BD4C-2FBE7B49B0C4}"/>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357D1793-402A-43F0-A307-55B4E30E8456}"/>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W04의 progress를 0.8에서 1로 변경</a:t>
            </a:r>
          </a:p>
        </p:txBody>
      </p:sp>
      <p:sp>
        <p:nvSpPr>
          <p:cNvPr id="8" name="">
            <a:extLst xmlns:a="http://schemas.openxmlformats.org/drawingml/2006/main">
              <a:ext uri="{FF2B5EF4-FFF2-40B4-BE49-F238E27FC236}">
                <a16:creationId xmlns:a16="http://schemas.microsoft.com/office/drawing/2014/main" id="{B952811F-BCDD-4753-9617-4FB197DFCD4E}"/>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E5CF4E21-4770-4DBF-BA81-5D03CEC9F725}"/>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calculate_wbs 다시 실행</a:t>
            </a:r>
          </a:p>
        </p:txBody>
      </p:sp>
      <p:sp>
        <p:nvSpPr>
          <p:cNvPr id="10" name="">
            <a:extLst xmlns:a="http://schemas.openxmlformats.org/drawingml/2006/main">
              <a:ext uri="{FF2B5EF4-FFF2-40B4-BE49-F238E27FC236}">
                <a16:creationId xmlns:a16="http://schemas.microsoft.com/office/drawing/2014/main" id="{43CC19B0-82AC-4BC4-973C-FC575131FDE1}"/>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8B457266-AA70-4847-A5AC-5FAB237C082E}"/>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XLSX 복사본을 생성해 열기</a:t>
            </a:r>
          </a:p>
        </p:txBody>
      </p:sp>
      <p:sp>
        <p:nvSpPr>
          <p:cNvPr id="12" name="">
            <a:extLst xmlns:a="http://schemas.openxmlformats.org/drawingml/2006/main">
              <a:ext uri="{FF2B5EF4-FFF2-40B4-BE49-F238E27FC236}">
                <a16:creationId xmlns:a16="http://schemas.microsoft.com/office/drawing/2014/main" id="{873C616B-E6CF-43E7-8412-C10D40DC3A93}"/>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3752F0D5-8A66-41D9-B86F-CF43F1D683A3}"/>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wbs_tasks.json → 내 WBS 복사본</a:t>
            </a:r>
          </a:p>
        </p:txBody>
      </p:sp>
      <p:sp>
        <p:nvSpPr>
          <p:cNvPr id="14" name="">
            <a:extLst xmlns:a="http://schemas.openxmlformats.org/drawingml/2006/main">
              <a:ext uri="{FF2B5EF4-FFF2-40B4-BE49-F238E27FC236}">
                <a16:creationId xmlns:a16="http://schemas.microsoft.com/office/drawing/2014/main" id="{1ED2BF67-4841-4214-B47B-653EB8259B78}"/>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W04 지연 → 완료 · 완료 개수 변화</a:t>
            </a:r>
          </a:p>
        </p:txBody>
      </p:sp>
    </p:spTree>
    <p:extLst>
      <p:ext uri="{BB962C8B-B14F-4D97-AF65-F5344CB8AC3E}">
        <p14:creationId xmlns:p14="http://schemas.microsoft.com/office/powerpoint/2010/main" val="47127589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3E3ED4-AC05-48CD-83EC-9E9C5B1E522B}"/>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373AA630-345D-46D4-94A4-B75F8FB26E5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진척률 수정과 XLSX 저장</a:t>
            </a:r>
          </a:p>
        </p:txBody>
      </p:sp>
      <p:sp>
        <p:nvSpPr>
          <p:cNvPr id="3" name="">
            <a:extLst xmlns:a="http://schemas.openxmlformats.org/drawingml/2006/main">
              <a:ext uri="{FF2B5EF4-FFF2-40B4-BE49-F238E27FC236}">
                <a16:creationId xmlns:a16="http://schemas.microsoft.com/office/drawing/2014/main" id="{3593D54C-C4EC-4157-AC0C-282FEF5B34C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76656F3-1521-479B-949F-50FC465D671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97A95A3-FBED-4693-A6D5-0871FD01C3D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088</a:t>
            </a:r>
          </a:p>
        </p:txBody>
      </p:sp>
      <p:sp>
        <p:nvSpPr>
          <p:cNvPr id="6" name="">
            <a:extLst xmlns:a="http://schemas.openxmlformats.org/drawingml/2006/main">
              <a:ext uri="{FF2B5EF4-FFF2-40B4-BE49-F238E27FC236}">
                <a16:creationId xmlns:a16="http://schemas.microsoft.com/office/drawing/2014/main" id="{D3FAABD5-2877-4592-964C-03C36F228FE4}"/>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B51228-4FB4-4CC7-BEA4-6505B4D3F09A}"/>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tasks_my = deepcopy(tasks)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tasks_my[w04_index]["progress"] = 1</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destination = RUN / "excel/WBS_walkthrough.xlsx"</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wbs_path = write_wbs_copy(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ROOT, tasks_my, AS_OF,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str(destination.relative_to(ROOT)),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print(wbs_path)</a:t>
            </a:r>
          </a:p>
        </p:txBody>
      </p:sp>
      <p:sp>
        <p:nvSpPr>
          <p:cNvPr id="8" name="">
            <a:extLst xmlns:a="http://schemas.openxmlformats.org/drawingml/2006/main">
              <a:ext uri="{FF2B5EF4-FFF2-40B4-BE49-F238E27FC236}">
                <a16:creationId xmlns:a16="http://schemas.microsoft.com/office/drawing/2014/main" id="{EE9674A5-BE2C-4C1A-B81A-BA2BF67F4C06}"/>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Notebook의 ROOT·RUN·AS_OF와 import 셀 선행</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같은 이름이 있으면 WBS_walkthrough_v2.xlsx 사용</a:t>
            </a:r>
          </a:p>
        </p:txBody>
      </p:sp>
    </p:spTree>
    <p:extLst>
      <p:ext uri="{BB962C8B-B14F-4D97-AF65-F5344CB8AC3E}">
        <p14:creationId xmlns:p14="http://schemas.microsoft.com/office/powerpoint/2010/main" val="1367266800"/>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139D26E-A849-43C2-9A79-370705FC5DF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ADC699FC-A8B1-4760-A72E-A6F47B2E30F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일정 변경과 차트 확인</a:t>
            </a:r>
          </a:p>
        </p:txBody>
      </p:sp>
      <p:sp>
        <p:nvSpPr>
          <p:cNvPr id="3" name="">
            <a:extLst xmlns:a="http://schemas.openxmlformats.org/drawingml/2006/main">
              <a:ext uri="{FF2B5EF4-FFF2-40B4-BE49-F238E27FC236}">
                <a16:creationId xmlns:a16="http://schemas.microsoft.com/office/drawing/2014/main" id="{8D611639-385E-4562-AAB5-99B3A8A50EF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8222FCE-EB7E-4FCB-AFA1-12E97119230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2278D67-E201-4D51-A174-BBCDAFBE0C0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089</a:t>
            </a:r>
          </a:p>
        </p:txBody>
      </p:sp>
      <p:sp>
        <p:nvSpPr>
          <p:cNvPr id="6" name="">
            <a:extLst xmlns:a="http://schemas.openxmlformats.org/drawingml/2006/main">
              <a:ext uri="{FF2B5EF4-FFF2-40B4-BE49-F238E27FC236}">
                <a16:creationId xmlns:a16="http://schemas.microsoft.com/office/drawing/2014/main" id="{D388E387-9E59-49C4-B74B-F2F304784C45}"/>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6BF228D-0751-4402-9F71-2095BD57AC09}"/>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복사본에서 B4 기준일 변경</a:t>
            </a:r>
          </a:p>
        </p:txBody>
      </p:sp>
      <p:sp>
        <p:nvSpPr>
          <p:cNvPr id="8" name="">
            <a:extLst xmlns:a="http://schemas.openxmlformats.org/drawingml/2006/main">
              <a:ext uri="{FF2B5EF4-FFF2-40B4-BE49-F238E27FC236}">
                <a16:creationId xmlns:a16="http://schemas.microsoft.com/office/drawing/2014/main" id="{2699044C-AA63-4CD1-ADA2-D79520B8172D}"/>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2D6ABC36-00F5-42CB-984C-DF3673AAC14A}"/>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D:E 시작·종료일 변경</a:t>
            </a:r>
          </a:p>
        </p:txBody>
      </p:sp>
      <p:sp>
        <p:nvSpPr>
          <p:cNvPr id="10" name="">
            <a:extLst xmlns:a="http://schemas.openxmlformats.org/drawingml/2006/main">
              <a:ext uri="{FF2B5EF4-FFF2-40B4-BE49-F238E27FC236}">
                <a16:creationId xmlns:a16="http://schemas.microsoft.com/office/drawing/2014/main" id="{656A3031-664F-450A-BB08-1EA7D1FB8A81}"/>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6B5CCEE2-52B4-4538-84CD-8FCBB1BD9A38}"/>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I 상태와 L:AM 간트 이동 확인</a:t>
            </a:r>
          </a:p>
        </p:txBody>
      </p:sp>
      <p:sp>
        <p:nvSpPr>
          <p:cNvPr id="12" name="">
            <a:extLst xmlns:a="http://schemas.openxmlformats.org/drawingml/2006/main">
              <a:ext uri="{FF2B5EF4-FFF2-40B4-BE49-F238E27FC236}">
                <a16:creationId xmlns:a16="http://schemas.microsoft.com/office/drawing/2014/main" id="{CE1F919C-AEBE-4B2C-8C53-80D063A1833F}"/>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89469439-1EEA-4435-A20F-2322551305CA}"/>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WBS_Gantt.xlsx · 복사본</a:t>
            </a:r>
          </a:p>
        </p:txBody>
      </p:sp>
      <p:sp>
        <p:nvSpPr>
          <p:cNvPr id="14" name="">
            <a:extLst xmlns:a="http://schemas.openxmlformats.org/drawingml/2006/main">
              <a:ext uri="{FF2B5EF4-FFF2-40B4-BE49-F238E27FC236}">
                <a16:creationId xmlns:a16="http://schemas.microsoft.com/office/drawing/2014/main" id="{5858DB50-6E8A-4C42-B5AE-04873D94FF97}"/>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입력 변화와 차트 변화의 일치</a:t>
            </a:r>
          </a:p>
        </p:txBody>
      </p:sp>
    </p:spTree>
    <p:extLst>
      <p:ext uri="{BB962C8B-B14F-4D97-AF65-F5344CB8AC3E}">
        <p14:creationId xmlns:p14="http://schemas.microsoft.com/office/powerpoint/2010/main" val="162854332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C48173C-637F-454F-9197-AD8B850E600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095E5749-A510-4553-B795-997859AB50C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 셀과 수식 입력줄</a:t>
            </a:r>
          </a:p>
        </p:txBody>
      </p:sp>
      <p:sp>
        <p:nvSpPr>
          <p:cNvPr id="3" name="">
            <a:extLst xmlns:a="http://schemas.openxmlformats.org/drawingml/2006/main">
              <a:ext uri="{FF2B5EF4-FFF2-40B4-BE49-F238E27FC236}">
                <a16:creationId xmlns:a16="http://schemas.microsoft.com/office/drawing/2014/main" id="{161EA12C-CE70-4B63-8DA8-279CA779925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6235F57-5CCA-4EAE-903E-2300CAA64E4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717E831-1AFF-4289-B01D-DF8A171CA3F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090</a:t>
            </a:r>
          </a:p>
        </p:txBody>
      </p:sp>
      <p:sp>
        <p:nvSpPr>
          <p:cNvPr id="6" name="">
            <a:extLst xmlns:a="http://schemas.openxmlformats.org/drawingml/2006/main">
              <a:ext uri="{FF2B5EF4-FFF2-40B4-BE49-F238E27FC236}">
                <a16:creationId xmlns:a16="http://schemas.microsoft.com/office/drawing/2014/main" id="{C582365A-AFFF-4F58-B772-E17586F482EA}"/>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A4E57CFF-F809-4A94-BD04-982DF9B270BB}"/>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내 WBS를 열고 B4 기준일을 2026-09-25로 복구</a:t>
            </a:r>
          </a:p>
        </p:txBody>
      </p:sp>
      <p:sp>
        <p:nvSpPr>
          <p:cNvPr id="8" name="">
            <a:extLst xmlns:a="http://schemas.openxmlformats.org/drawingml/2006/main">
              <a:ext uri="{FF2B5EF4-FFF2-40B4-BE49-F238E27FC236}">
                <a16:creationId xmlns:a16="http://schemas.microsoft.com/office/drawing/2014/main" id="{B53C7544-F6B3-47F8-BFAA-01842812D8F1}"/>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7A97D81D-C88C-4CC9-A8CE-86B86DE98C19}"/>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D12=09/21·E12=09/23 복구, H12의 날짜 참조 확인</a:t>
            </a:r>
          </a:p>
        </p:txBody>
      </p:sp>
      <p:sp>
        <p:nvSpPr>
          <p:cNvPr id="10" name="">
            <a:extLst xmlns:a="http://schemas.openxmlformats.org/drawingml/2006/main">
              <a:ext uri="{FF2B5EF4-FFF2-40B4-BE49-F238E27FC236}">
                <a16:creationId xmlns:a16="http://schemas.microsoft.com/office/drawing/2014/main" id="{B9C8E73D-8E3B-48AA-9D99-CB01C2E0581F}"/>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9F8E2D6B-100A-46EE-947A-645B30303A9F}"/>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F12를 80%로 변경하고 I12의 지연 표시 확인</a:t>
            </a:r>
          </a:p>
        </p:txBody>
      </p:sp>
      <p:sp>
        <p:nvSpPr>
          <p:cNvPr id="12" name="">
            <a:extLst xmlns:a="http://schemas.openxmlformats.org/drawingml/2006/main">
              <a:ext uri="{FF2B5EF4-FFF2-40B4-BE49-F238E27FC236}">
                <a16:creationId xmlns:a16="http://schemas.microsoft.com/office/drawing/2014/main" id="{B3C518A0-7D19-4657-B0F1-EE6D04B4B16C}"/>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52725C2E-B32C-40BF-8226-A9757A242377}"/>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F12를 100%로 복구하고 완료 표시 확인 후 저장</a:t>
            </a:r>
          </a:p>
        </p:txBody>
      </p:sp>
      <p:sp>
        <p:nvSpPr>
          <p:cNvPr id="14" name="">
            <a:extLst xmlns:a="http://schemas.openxmlformats.org/drawingml/2006/main">
              <a:ext uri="{FF2B5EF4-FFF2-40B4-BE49-F238E27FC236}">
                <a16:creationId xmlns:a16="http://schemas.microsoft.com/office/drawing/2014/main" id="{B3262012-DDB3-45DF-8AE1-032D4C745379}"/>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9ED23188-14C5-4C82-BE74-9957FBBB3328}"/>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실행 폴더 / excel/WBS_walkthrough.xlsx</a:t>
            </a:r>
          </a:p>
        </p:txBody>
      </p:sp>
      <p:sp>
        <p:nvSpPr>
          <p:cNvPr id="16" name="">
            <a:extLst xmlns:a="http://schemas.openxmlformats.org/drawingml/2006/main">
              <a:ext uri="{FF2B5EF4-FFF2-40B4-BE49-F238E27FC236}">
                <a16:creationId xmlns:a16="http://schemas.microsoft.com/office/drawing/2014/main" id="{7382FFF0-CBE1-4798-957A-7B4C93561F63}"/>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기본 날짜 유지 시 H12=3 / 진척률에 따라 I12 변경</a:t>
            </a:r>
          </a:p>
        </p:txBody>
      </p:sp>
    </p:spTree>
    <p:extLst>
      <p:ext uri="{BB962C8B-B14F-4D97-AF65-F5344CB8AC3E}">
        <p14:creationId xmlns:p14="http://schemas.microsoft.com/office/powerpoint/2010/main" val="109493193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BAFB253-1D7C-435E-8DAE-DD7698882C5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6AEAC121-0096-46C2-9D0D-A768703912B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선행 일정의 오류</a:t>
            </a:r>
          </a:p>
        </p:txBody>
      </p:sp>
      <p:sp>
        <p:nvSpPr>
          <p:cNvPr id="3" name="">
            <a:extLst xmlns:a="http://schemas.openxmlformats.org/drawingml/2006/main">
              <a:ext uri="{FF2B5EF4-FFF2-40B4-BE49-F238E27FC236}">
                <a16:creationId xmlns:a16="http://schemas.microsoft.com/office/drawing/2014/main" id="{478F95C9-F9DF-4D78-AC10-8834853482C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89594E0-B4B2-475A-90A9-841011AF6AD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EAE6830-8CF5-446A-83C2-56720B28F0F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091</a:t>
            </a:r>
          </a:p>
        </p:txBody>
      </p:sp>
      <p:sp>
        <p:nvSpPr>
          <p:cNvPr id="6" name="">
            <a:extLst xmlns:a="http://schemas.openxmlformats.org/drawingml/2006/main">
              <a:ext uri="{FF2B5EF4-FFF2-40B4-BE49-F238E27FC236}">
                <a16:creationId xmlns:a16="http://schemas.microsoft.com/office/drawing/2014/main" id="{A31668AE-CDBD-4BCB-BC62-72E9DB2DC1C7}"/>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2F35A754-E09F-46A8-9B9D-9D5620306645}"/>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Python 복사본에서 W04 시작일을 2026-09-18로 변경</a:t>
            </a:r>
          </a:p>
        </p:txBody>
      </p:sp>
      <p:sp>
        <p:nvSpPr>
          <p:cNvPr id="8" name="">
            <a:extLst xmlns:a="http://schemas.openxmlformats.org/drawingml/2006/main">
              <a:ext uri="{FF2B5EF4-FFF2-40B4-BE49-F238E27FC236}">
                <a16:creationId xmlns:a16="http://schemas.microsoft.com/office/drawing/2014/main" id="{E0550738-6691-42B2-8405-BF0CF2027F10}"/>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EC202721-CF23-4517-A224-5B440ECDFD87}"/>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validate_wbs(broken_tasks)로 선행 일정 충돌 확인</a:t>
            </a:r>
          </a:p>
        </p:txBody>
      </p:sp>
      <p:sp>
        <p:nvSpPr>
          <p:cNvPr id="10" name="">
            <a:extLst xmlns:a="http://schemas.openxmlformats.org/drawingml/2006/main">
              <a:ext uri="{FF2B5EF4-FFF2-40B4-BE49-F238E27FC236}">
                <a16:creationId xmlns:a16="http://schemas.microsoft.com/office/drawing/2014/main" id="{C2B2B0AC-7F40-4EB0-89B2-DF0275466B4E}"/>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EE350372-ABAA-48AE-9D25-6151F23DE206}"/>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Excel 복사본 D12도 09/18로 바꾸고 J12 확인</a:t>
            </a:r>
          </a:p>
        </p:txBody>
      </p:sp>
      <p:sp>
        <p:nvSpPr>
          <p:cNvPr id="12" name="">
            <a:extLst xmlns:a="http://schemas.openxmlformats.org/drawingml/2006/main">
              <a:ext uri="{FF2B5EF4-FFF2-40B4-BE49-F238E27FC236}">
                <a16:creationId xmlns:a16="http://schemas.microsoft.com/office/drawing/2014/main" id="{9E8089A8-33DE-4AD0-B104-696B0EB887C5}"/>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C488AB4C-3DFA-408C-BDBA-4DCF7D96D8B2}"/>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두 입력을 각각 복구하고 다시 확인</a:t>
            </a:r>
          </a:p>
        </p:txBody>
      </p:sp>
      <p:sp>
        <p:nvSpPr>
          <p:cNvPr id="14" name="">
            <a:extLst xmlns:a="http://schemas.openxmlformats.org/drawingml/2006/main">
              <a:ext uri="{FF2B5EF4-FFF2-40B4-BE49-F238E27FC236}">
                <a16:creationId xmlns:a16="http://schemas.microsoft.com/office/drawing/2014/main" id="{3CDB18FD-72E6-4ED7-8D62-D84DCBF8FB0F}"/>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1C5BB942-E6B9-4506-BB10-D354CC890747}"/>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4차시 · WBS J열</a:t>
            </a:r>
          </a:p>
        </p:txBody>
      </p:sp>
      <p:sp>
        <p:nvSpPr>
          <p:cNvPr id="16" name="">
            <a:extLst xmlns:a="http://schemas.openxmlformats.org/drawingml/2006/main">
              <a:ext uri="{FF2B5EF4-FFF2-40B4-BE49-F238E27FC236}">
                <a16:creationId xmlns:a16="http://schemas.microsoft.com/office/drawing/2014/main" id="{B86C161D-B759-432D-A9D3-D21F5F3C098C}"/>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Excel 수정과 Python 변수 수정은 자동 연동되지 않음</a:t>
            </a:r>
          </a:p>
        </p:txBody>
      </p:sp>
    </p:spTree>
    <p:extLst>
      <p:ext uri="{BB962C8B-B14F-4D97-AF65-F5344CB8AC3E}">
        <p14:creationId xmlns:p14="http://schemas.microsoft.com/office/powerpoint/2010/main" val="119029882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5C0EF3-6361-496F-9F47-D7F99BC5C29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758EC764-8CFF-49E6-905B-81838D81AF2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종료일 오류와 입력 복구</a:t>
            </a:r>
          </a:p>
        </p:txBody>
      </p:sp>
      <p:sp>
        <p:nvSpPr>
          <p:cNvPr id="3" name="">
            <a:extLst xmlns:a="http://schemas.openxmlformats.org/drawingml/2006/main">
              <a:ext uri="{FF2B5EF4-FFF2-40B4-BE49-F238E27FC236}">
                <a16:creationId xmlns:a16="http://schemas.microsoft.com/office/drawing/2014/main" id="{729F605F-F84D-4EE6-B1AC-451DEDE330A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CD4AFF9-8434-4481-988E-1B0D09D22A0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752F901-4F90-4BFF-A261-E30232432AD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092</a:t>
            </a:r>
          </a:p>
        </p:txBody>
      </p:sp>
      <p:sp>
        <p:nvSpPr>
          <p:cNvPr id="6" name="">
            <a:extLst xmlns:a="http://schemas.openxmlformats.org/drawingml/2006/main">
              <a:ext uri="{FF2B5EF4-FFF2-40B4-BE49-F238E27FC236}">
                <a16:creationId xmlns:a16="http://schemas.microsoft.com/office/drawing/2014/main" id="{36D4026C-B047-49B2-B3F0-C4B3A3B05BA1}"/>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534DD22-520B-4ADE-89F0-F18C2BB10897}"/>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broken_tasks = deepcopy(tasks)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broken_tasks[0]["end"] = "2026-09-01"</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print(validate_wbs(broken_tasks))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broken_tasks[0]["end"] = tasks[0]["end"]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validate_wbs(broken_tasks) ==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print("날짜 복구 완료")</a:t>
            </a:r>
          </a:p>
        </p:txBody>
      </p:sp>
      <p:sp>
        <p:nvSpPr>
          <p:cNvPr id="8" name="">
            <a:extLst xmlns:a="http://schemas.openxmlformats.org/drawingml/2006/main">
              <a:ext uri="{FF2B5EF4-FFF2-40B4-BE49-F238E27FC236}">
                <a16:creationId xmlns:a16="http://schemas.microsoft.com/office/drawing/2014/main" id="{B2529530-7FB6-4EC1-90E0-8BCF08697FCD}"/>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종료일이 시작일보다 빠르면 END_BEFORE_START</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오류를 고친 뒤 검사 결과가 빈 목록인지 확인</a:t>
            </a:r>
          </a:p>
        </p:txBody>
      </p:sp>
    </p:spTree>
    <p:extLst>
      <p:ext uri="{BB962C8B-B14F-4D97-AF65-F5344CB8AC3E}">
        <p14:creationId xmlns:p14="http://schemas.microsoft.com/office/powerpoint/2010/main" val="168643040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4875F8-BE5D-4B05-92A6-F9AD79B2B8F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코드·파일 작업</a:t>
            </a:r>
          </a:p>
        </p:txBody>
      </p:sp>
      <p:sp>
        <p:nvSpPr>
          <p:cNvPr id="2" name="">
            <a:extLst xmlns:a="http://schemas.openxmlformats.org/drawingml/2006/main">
              <a:ext uri="{FF2B5EF4-FFF2-40B4-BE49-F238E27FC236}">
                <a16:creationId xmlns:a16="http://schemas.microsoft.com/office/drawing/2014/main" id="{4C06FBE3-A426-4053-9069-7C62DBEDFCD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Codex의 WBS 확장</a:t>
            </a:r>
          </a:p>
        </p:txBody>
      </p:sp>
      <p:sp>
        <p:nvSpPr>
          <p:cNvPr id="3" name="">
            <a:extLst xmlns:a="http://schemas.openxmlformats.org/drawingml/2006/main">
              <a:ext uri="{FF2B5EF4-FFF2-40B4-BE49-F238E27FC236}">
                <a16:creationId xmlns:a16="http://schemas.microsoft.com/office/drawing/2014/main" id="{796070FB-82C8-4D6D-BB15-B1FAD475772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1EC9ED8-A1DE-48A7-8C8A-5FAF77A7652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530201B-1F5E-437A-8CBC-9286B11C4A3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093</a:t>
            </a:r>
          </a:p>
        </p:txBody>
      </p:sp>
      <p:sp>
        <p:nvSpPr>
          <p:cNvPr id="6" name="">
            <a:extLst xmlns:a="http://schemas.openxmlformats.org/drawingml/2006/main">
              <a:ext uri="{FF2B5EF4-FFF2-40B4-BE49-F238E27FC236}">
                <a16:creationId xmlns:a16="http://schemas.microsoft.com/office/drawing/2014/main" id="{68899599-FFE0-49CC-97C2-17595A136A1C}"/>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152747C1-AFF8-4D73-ABF9-3F8C5B549C55}"/>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F940E4-9536-491E-ACE9-1CBD581FD738}"/>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WBS 코드와 테스트를 읽어 줘. 공휴일 목록을 선택 입력으로 추가하고 싶어. 기존 기본 결과는 유지하고, 휴일이 있는 경우와 없는 경우의 테스트를 먼저 제안해 줘. 원본 XLSX는 덮어쓰지 마.</a:t>
            </a:r>
          </a:p>
        </p:txBody>
      </p:sp>
      <p:sp>
        <p:nvSpPr>
          <p:cNvPr id="9" name="">
            <a:extLst xmlns:a="http://schemas.openxmlformats.org/drawingml/2006/main">
              <a:ext uri="{FF2B5EF4-FFF2-40B4-BE49-F238E27FC236}">
                <a16:creationId xmlns:a16="http://schemas.microsoft.com/office/drawing/2014/main" id="{EEE5B3DD-45D0-4178-93A2-332228B2AA88}"/>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B1F99FA3-C5A1-4600-9B9A-C99740F4A8B5}"/>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기존 동작 · 추가 입력 · 테스트 두 종류</a:t>
            </a:r>
          </a:p>
        </p:txBody>
      </p:sp>
    </p:spTree>
    <p:extLst>
      <p:ext uri="{BB962C8B-B14F-4D97-AF65-F5344CB8AC3E}">
        <p14:creationId xmlns:p14="http://schemas.microsoft.com/office/powerpoint/2010/main" val="20129621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A716F7-1171-4179-A3C4-A5B9F92A56A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13FDAD9E-7AFC-47E4-B2EE-0416C401679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수식 결과의 검증</a:t>
            </a:r>
          </a:p>
        </p:txBody>
      </p:sp>
      <p:sp>
        <p:nvSpPr>
          <p:cNvPr id="3" name="">
            <a:extLst xmlns:a="http://schemas.openxmlformats.org/drawingml/2006/main">
              <a:ext uri="{FF2B5EF4-FFF2-40B4-BE49-F238E27FC236}">
                <a16:creationId xmlns:a16="http://schemas.microsoft.com/office/drawing/2014/main" id="{227D8CFC-850F-4343-951E-36BE4943FA4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1B4A8F4-BCBF-47C2-B0CD-D640EB11A0A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1076EEE-598F-46B8-81F0-BB45CEE21EF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검증</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계산 정확성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작은 날짜 구간을 손으로 계산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재계산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 한 셀 변경 후 상태 확인</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서식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조건의 업무는 같은 표시</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호환성</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사용 중인 Excel·LibreOffice에서 열기</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2277601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9E2EA7-2F5C-4D6A-A39D-E913DA4B03B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이론</a:t>
            </a:r>
          </a:p>
        </p:txBody>
      </p:sp>
      <p:sp>
        <p:nvSpPr>
          <p:cNvPr id="2" name="">
            <a:extLst xmlns:a="http://schemas.openxmlformats.org/drawingml/2006/main">
              <a:ext uri="{FF2B5EF4-FFF2-40B4-BE49-F238E27FC236}">
                <a16:creationId xmlns:a16="http://schemas.microsoft.com/office/drawing/2014/main" id="{A8FC64F9-798E-4FED-B6ED-5C4F53E7E4E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저장 후 값이 그대로인 경우</a:t>
            </a:r>
          </a:p>
        </p:txBody>
      </p:sp>
      <p:sp>
        <p:nvSpPr>
          <p:cNvPr id="3" name="">
            <a:extLst xmlns:a="http://schemas.openxmlformats.org/drawingml/2006/main">
              <a:ext uri="{FF2B5EF4-FFF2-40B4-BE49-F238E27FC236}">
                <a16:creationId xmlns:a16="http://schemas.microsoft.com/office/drawing/2014/main" id="{E3DB6EEF-0720-4083-A512-90ECE45461F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DF6238A-B341-48A0-9579-AD3DFD2202E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D46A8D7-8E0A-43DA-89F3-1894C65358D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화면의 상태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확인과 복구</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F12가 아직 80%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출력 경로 확인</a:t>
                      </a:r>
                    </a:p>
                    <a:p>
                      <a:pPr algn="l">
                        <a:lnSpc>
                          <a:spcPct val="105000"/>
                        </a:lnSpc>
                        <a:buNone/>
                      </a:pPr>
                      <a:r>
                        <a:rPr sz="1950" b="0">
                          <a:solidFill>
                            <a:srgbClr val="161616"/>
                          </a:solidFill>
                          <a:latin typeface="NanumGothic"/>
                          <a:ea typeface="NanumGothic"/>
                          <a:cs typeface="NanumGothic"/>
                        </a:rPr>
                        <a:t>새 저장본을 다시 열기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F12는 100%, I12는 지연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Excel 수식 탭</a:t>
                      </a:r>
                    </a:p>
                    <a:p>
                      <a:pPr algn="l">
                        <a:lnSpc>
                          <a:spcPct val="105000"/>
                        </a:lnSpc>
                        <a:buNone/>
                      </a:pPr>
                      <a:r>
                        <a:rPr sz="1950" b="0">
                          <a:solidFill>
                            <a:srgbClr val="161616"/>
                          </a:solidFill>
                          <a:latin typeface="NanumGothic"/>
                          <a:ea typeface="NanumGothic"/>
                          <a:cs typeface="NanumGothic"/>
                        </a:rPr>
                        <a:t>계산 옵션: 자동 / 지금 계산</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Python에서 수식 결과가 None</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openpyxl은 수식 미계산</a:t>
                      </a:r>
                    </a:p>
                    <a:p>
                      <a:pPr algn="l">
                        <a:lnSpc>
                          <a:spcPct val="105000"/>
                        </a:lnSpc>
                        <a:buNone/>
                      </a:pPr>
                      <a:r>
                        <a:rPr sz="1950" b="0">
                          <a:solidFill>
                            <a:srgbClr val="161616"/>
                          </a:solidFill>
                          <a:latin typeface="NanumGothic"/>
                          <a:ea typeface="NanumGothic"/>
                          <a:cs typeface="NanumGothic"/>
                        </a:rPr>
                        <a:t>Excel·LibreOffice에서 재계산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앱에서 계산 후에도 불일치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B4·D12·E12와 수식 확인</a:t>
                      </a:r>
                    </a:p>
                    <a:p>
                      <a:pPr algn="l">
                        <a:lnSpc>
                          <a:spcPct val="105000"/>
                        </a:lnSpc>
                        <a:buNone/>
                      </a:pPr>
                      <a:r>
                        <a:rPr sz="1950" b="0">
                          <a:solidFill>
                            <a:srgbClr val="161616"/>
                          </a:solidFill>
                          <a:latin typeface="NanumGothic"/>
                          <a:ea typeface="NanumGothic"/>
                          <a:cs typeface="NanumGothic"/>
                        </a:rPr>
                        <a:t>원본 템플릿 복사본으로 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23786519"/>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46DF58-29C9-4AB7-AA05-63671D3EDFC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결과 확인</a:t>
            </a:r>
          </a:p>
        </p:txBody>
      </p:sp>
      <p:sp>
        <p:nvSpPr>
          <p:cNvPr id="2" name="">
            <a:extLst xmlns:a="http://schemas.openxmlformats.org/drawingml/2006/main">
              <a:ext uri="{FF2B5EF4-FFF2-40B4-BE49-F238E27FC236}">
                <a16:creationId xmlns:a16="http://schemas.microsoft.com/office/drawing/2014/main" id="{1DC873B8-FCCB-4775-B7FF-7762B54223D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4차시 확인</a:t>
            </a:r>
          </a:p>
        </p:txBody>
      </p:sp>
      <p:sp>
        <p:nvSpPr>
          <p:cNvPr id="3" name="">
            <a:extLst xmlns:a="http://schemas.openxmlformats.org/drawingml/2006/main">
              <a:ext uri="{FF2B5EF4-FFF2-40B4-BE49-F238E27FC236}">
                <a16:creationId xmlns:a16="http://schemas.microsoft.com/office/drawing/2014/main" id="{12AF0DE9-4AEC-4280-9A18-FB7FAB30F35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3A9C9D4-EA5F-4104-9880-8FACA43A8E4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7239EA8-B1A7-4993-BCFB-C13FE835380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코드 수정</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W04 진척률 변경과 새 파일 생성</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동적 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날짜 변경 후 상태·간트 갱신</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잘못된 입력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선행 일정 충돌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원본 보존</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다른 이름의 XLSX 저장</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2078668790"/>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C23B63-5FF0-4906-85B9-6B41226BB9B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선택 확장</a:t>
            </a:r>
          </a:p>
        </p:txBody>
      </p:sp>
      <p:sp>
        <p:nvSpPr>
          <p:cNvPr id="2" name="">
            <a:extLst xmlns:a="http://schemas.openxmlformats.org/drawingml/2006/main">
              <a:ext uri="{FF2B5EF4-FFF2-40B4-BE49-F238E27FC236}">
                <a16:creationId xmlns:a16="http://schemas.microsoft.com/office/drawing/2014/main" id="{18172392-5A76-4049-B2E2-0BA78D581D3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WBS의 확장 기준</a:t>
            </a:r>
          </a:p>
        </p:txBody>
      </p:sp>
      <p:sp>
        <p:nvSpPr>
          <p:cNvPr id="3" name="">
            <a:extLst xmlns:a="http://schemas.openxmlformats.org/drawingml/2006/main">
              <a:ext uri="{FF2B5EF4-FFF2-40B4-BE49-F238E27FC236}">
                <a16:creationId xmlns:a16="http://schemas.microsoft.com/office/drawing/2014/main" id="{BB1CC793-25E5-4A80-908B-6BEC4F8D860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F3B5E02-1AC8-4E71-ADA9-B91CB0AD781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F14E998-EFCA-455C-8CE6-45AE451E5A8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기능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먼저 필요한 정의</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담당자별 부하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하루 가용 시간·병행 업무</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비용 산정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단가·기간·수량의 단위</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의존성 자동 조정</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변경 전파와 예외 허용</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휴일 처리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국가·조직·근무요일</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539571641"/>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60DCD3-388A-497E-9531-034DC88270F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4차시 · 13:00–13:50  /  선택 확장</a:t>
            </a:r>
          </a:p>
        </p:txBody>
      </p:sp>
      <p:sp>
        <p:nvSpPr>
          <p:cNvPr id="2" name="">
            <a:extLst xmlns:a="http://schemas.openxmlformats.org/drawingml/2006/main">
              <a:ext uri="{FF2B5EF4-FFF2-40B4-BE49-F238E27FC236}">
                <a16:creationId xmlns:a16="http://schemas.microsoft.com/office/drawing/2014/main" id="{4748DC8E-0DCB-4062-9D8F-F2BF0BFA144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템플릿과 생성 코드</a:t>
            </a:r>
          </a:p>
        </p:txBody>
      </p:sp>
      <p:sp>
        <p:nvSpPr>
          <p:cNvPr id="3" name="">
            <a:extLst xmlns:a="http://schemas.openxmlformats.org/drawingml/2006/main">
              <a:ext uri="{FF2B5EF4-FFF2-40B4-BE49-F238E27FC236}">
                <a16:creationId xmlns:a16="http://schemas.microsoft.com/office/drawing/2014/main" id="{ECA05E8E-5AEC-4A22-9E01-E23B18B3C2F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AB030CC-093A-41F5-BB6A-FFA729702AD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349D9C7-96B3-4607-8B38-34E8C1A1250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098</a:t>
            </a:r>
          </a:p>
        </p:txBody>
      </p:sp>
      <p:sp>
        <p:nvSpPr>
          <p:cNvPr id="6" name="">
            <a:extLst xmlns:a="http://schemas.openxmlformats.org/drawingml/2006/main">
              <a:ext uri="{FF2B5EF4-FFF2-40B4-BE49-F238E27FC236}">
                <a16:creationId xmlns:a16="http://schemas.microsoft.com/office/drawing/2014/main" id="{49298CB7-D3C1-4C08-87BF-455AB5AB74A2}"/>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EDED04CF-841D-4C50-B9B3-7A2A19B57B5B}"/>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안정된 레이아웃은 템플릿으로 유지</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반복 입력과 계산은 코드로 분리</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양식 변경도 버전과 테스트로 관리</a:t>
            </a:r>
          </a:p>
        </p:txBody>
      </p:sp>
    </p:spTree>
    <p:extLst>
      <p:ext uri="{BB962C8B-B14F-4D97-AF65-F5344CB8AC3E}">
        <p14:creationId xmlns:p14="http://schemas.microsoft.com/office/powerpoint/2010/main" val="1468678935"/>
      </p:ext>
    </p:extLst>
  </p:cSld>
</p:sld>
</file>

<file path=ppt/slides/slide99.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B14165-ACA8-474D-9A33-F271B9784294}"/>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5차시</a:t>
            </a:r>
          </a:p>
        </p:txBody>
      </p:sp>
      <p:sp>
        <p:nvSpPr>
          <p:cNvPr id="2" name="">
            <a:extLst xmlns:a="http://schemas.openxmlformats.org/drawingml/2006/main">
              <a:ext uri="{FF2B5EF4-FFF2-40B4-BE49-F238E27FC236}">
                <a16:creationId xmlns:a16="http://schemas.microsoft.com/office/drawing/2014/main" id="{516B8DD2-FC5E-4930-88B4-2FC587BC121B}"/>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13:50–14:40</a:t>
            </a:r>
          </a:p>
        </p:txBody>
      </p:sp>
      <p:sp>
        <p:nvSpPr>
          <p:cNvPr id="3" name="">
            <a:extLst xmlns:a="http://schemas.openxmlformats.org/drawingml/2006/main">
              <a:ext uri="{FF2B5EF4-FFF2-40B4-BE49-F238E27FC236}">
                <a16:creationId xmlns:a16="http://schemas.microsoft.com/office/drawing/2014/main" id="{205EB97F-D150-4C36-B511-02DD1EF17234}"/>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자동 채점과 문항 분석</a:t>
            </a:r>
          </a:p>
        </p:txBody>
      </p:sp>
      <p:sp>
        <p:nvSpPr>
          <p:cNvPr id="4" name="">
            <a:extLst xmlns:a="http://schemas.openxmlformats.org/drawingml/2006/main">
              <a:ext uri="{FF2B5EF4-FFF2-40B4-BE49-F238E27FC236}">
                <a16:creationId xmlns:a16="http://schemas.microsoft.com/office/drawing/2014/main" id="{0C456257-93B1-4872-AF3F-C4B8212D61CE}"/>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정답 변경·입력 오류·동점 순위의 일관된 처리</a:t>
            </a:r>
          </a:p>
        </p:txBody>
      </p:sp>
      <p:sp>
        <p:nvSpPr>
          <p:cNvPr id="5" name="">
            <a:extLst xmlns:a="http://schemas.openxmlformats.org/drawingml/2006/main">
              <a:ext uri="{FF2B5EF4-FFF2-40B4-BE49-F238E27FC236}">
                <a16:creationId xmlns:a16="http://schemas.microsoft.com/office/drawing/2014/main" id="{9B835362-67A5-4377-B495-6F5A74ED9D87}"/>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B60F8B49-9BFB-40AC-8A95-187ADC86B198}"/>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exam_sample.json · Exam_Grading.xlsx</a:t>
            </a:r>
          </a:p>
        </p:txBody>
      </p:sp>
      <p:sp>
        <p:nvSpPr>
          <p:cNvPr id="7" name="">
            <a:extLst xmlns:a="http://schemas.openxmlformats.org/drawingml/2006/main">
              <a:ext uri="{FF2B5EF4-FFF2-40B4-BE49-F238E27FC236}">
                <a16:creationId xmlns:a16="http://schemas.microsoft.com/office/drawing/2014/main" id="{5998C9A3-5EEE-4DF8-A463-A531BB96EFB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16E25BCD-E358-416C-9EA9-F9663ECF4FB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A0631D37-13B6-4C31-998D-A9005D06B7A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099</a:t>
            </a:r>
          </a:p>
        </p:txBody>
      </p:sp>
    </p:spTree>
    <p:extLst>
      <p:ext uri="{BB962C8B-B14F-4D97-AF65-F5344CB8AC3E}">
        <p14:creationId xmlns:p14="http://schemas.microsoft.com/office/powerpoint/2010/main" val="40763235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4C88A0-A6D4-45E2-B0A0-82C95DBDED7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시연</a:t>
            </a:r>
          </a:p>
        </p:txBody>
      </p:sp>
      <p:sp>
        <p:nvSpPr>
          <p:cNvPr id="2" name="">
            <a:extLst xmlns:a="http://schemas.openxmlformats.org/drawingml/2006/main">
              <a:ext uri="{FF2B5EF4-FFF2-40B4-BE49-F238E27FC236}">
                <a16:creationId xmlns:a16="http://schemas.microsoft.com/office/drawing/2014/main" id="{D5C26332-DDA5-4063-9254-E82F06BC392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40문항 자동 채점</a:t>
            </a:r>
          </a:p>
        </p:txBody>
      </p:sp>
      <p:sp>
        <p:nvSpPr>
          <p:cNvPr id="3" name="">
            <a:extLst xmlns:a="http://schemas.openxmlformats.org/drawingml/2006/main">
              <a:ext uri="{FF2B5EF4-FFF2-40B4-BE49-F238E27FC236}">
                <a16:creationId xmlns:a16="http://schemas.microsoft.com/office/drawing/2014/main" id="{ECF75C23-5BD2-47E9-B014-497FA9C5CFB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FACAF00-D357-47B4-AE8C-A3C4BCFD13F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62EE6EF-95B2-4723-A664-DFCD19ECAB9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003c30483304c2d"/>
          <a:stretch xmlns:a="http://schemas.openxmlformats.org/drawingml/2006/main"/>
        </p:blipFill>
        <p:spPr>
          <a:xfrm xmlns:a="http://schemas.openxmlformats.org/drawingml/2006/main">
            <a:off x="609600" y="2137711"/>
            <a:ext cx="10972800" cy="300167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919FBEE-10EE-46E2-9457-CE8927CAD1E8}"/>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합성 응답 일부 확대 · 정답행과 1~8번 답안 · 실제 성적 미포함</a:t>
            </a:r>
          </a:p>
        </p:txBody>
      </p:sp>
    </p:spTree>
    <p:extLst>
      <p:ext uri="{BB962C8B-B14F-4D97-AF65-F5344CB8AC3E}">
        <p14:creationId xmlns:p14="http://schemas.microsoft.com/office/powerpoint/2010/main" val="194349119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BF5140-F05C-4619-8705-00F9FA3BC2C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이론</a:t>
            </a:r>
          </a:p>
        </p:txBody>
      </p:sp>
      <p:sp>
        <p:nvSpPr>
          <p:cNvPr id="2" name="">
            <a:extLst xmlns:a="http://schemas.openxmlformats.org/drawingml/2006/main">
              <a:ext uri="{FF2B5EF4-FFF2-40B4-BE49-F238E27FC236}">
                <a16:creationId xmlns:a16="http://schemas.microsoft.com/office/drawing/2014/main" id="{B2BE0504-C9E2-4096-BC2D-BF77FBDF69A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채점 정책</a:t>
            </a:r>
          </a:p>
        </p:txBody>
      </p:sp>
      <p:sp>
        <p:nvSpPr>
          <p:cNvPr id="3" name="">
            <a:extLst xmlns:a="http://schemas.openxmlformats.org/drawingml/2006/main">
              <a:ext uri="{FF2B5EF4-FFF2-40B4-BE49-F238E27FC236}">
                <a16:creationId xmlns:a16="http://schemas.microsoft.com/office/drawing/2014/main" id="{40B85062-E946-4C4B-9F7C-3B2D648BAFA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01F1E66-516A-471A-9E59-6986CAD7A1B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4567A96-FCF1-45C9-922A-28D90E51542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상태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점수</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집계</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정상 응답</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정답 1점·오답 0점</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포함</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미응답</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해당 문항 0점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포함</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잘못된 입력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점수 확정 보류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행 제외</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결시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0점과 별도 관리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제외</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정답 미등록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전체 채점 보류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정답 확인 후 재계산</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79748775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3FD9E9-BE0F-40AA-A81C-ADC356AC6FC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이론</a:t>
            </a:r>
          </a:p>
        </p:txBody>
      </p:sp>
      <p:sp>
        <p:nvSpPr>
          <p:cNvPr id="2" name="">
            <a:extLst xmlns:a="http://schemas.openxmlformats.org/drawingml/2006/main">
              <a:ext uri="{FF2B5EF4-FFF2-40B4-BE49-F238E27FC236}">
                <a16:creationId xmlns:a16="http://schemas.microsoft.com/office/drawing/2014/main" id="{49C7AE79-4BE6-4CB8-B6F2-AC274471551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채점 시트의 위치</a:t>
            </a:r>
          </a:p>
        </p:txBody>
      </p:sp>
      <p:sp>
        <p:nvSpPr>
          <p:cNvPr id="3" name="">
            <a:extLst xmlns:a="http://schemas.openxmlformats.org/drawingml/2006/main">
              <a:ext uri="{FF2B5EF4-FFF2-40B4-BE49-F238E27FC236}">
                <a16:creationId xmlns:a16="http://schemas.microsoft.com/office/drawing/2014/main" id="{8DCC2250-0883-46E2-9A38-0D8BA32AB23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8A5627D-166D-44B0-AA05-A0CDCB0CAEC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7550DFC-9A3E-4CD5-B8C6-3BB1DDECCA9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102</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위치</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내용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변경 여부</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D8:AQ8</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40개 정답</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교수자 입력</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D10:AQ37</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응시자 답안</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학생 응답 입력</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AR:AS</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총점·동점 등수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수식 계산</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AT:AX</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보류·미응답·오류 집계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검증 결과</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43행</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문항별 정답률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분모를 확인할 지표</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286401569"/>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2399197-03A9-4183-B836-647AA055B30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17DF895A-02EC-4F1F-A259-D0D4E6339F2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정답과 답안의 셀 선택</a:t>
            </a:r>
          </a:p>
        </p:txBody>
      </p:sp>
      <p:sp>
        <p:nvSpPr>
          <p:cNvPr id="3" name="">
            <a:extLst xmlns:a="http://schemas.openxmlformats.org/drawingml/2006/main">
              <a:ext uri="{FF2B5EF4-FFF2-40B4-BE49-F238E27FC236}">
                <a16:creationId xmlns:a16="http://schemas.microsoft.com/office/drawing/2014/main" id="{98AA1673-C085-497C-A282-60FC5A549D4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BAC3145-88CC-4316-824B-17B849D8A6A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B45E5F5-8DBC-431E-85B3-89E609C2FFE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103</a:t>
            </a:r>
          </a:p>
        </p:txBody>
      </p:sp>
      <p:sp>
        <p:nvSpPr>
          <p:cNvPr id="6" name="">
            <a:extLst xmlns:a="http://schemas.openxmlformats.org/drawingml/2006/main">
              <a:ext uri="{FF2B5EF4-FFF2-40B4-BE49-F238E27FC236}">
                <a16:creationId xmlns:a16="http://schemas.microsoft.com/office/drawing/2014/main" id="{5B670703-EF06-448A-9CBC-40A0E9F20117}"/>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DE3C475F-579E-4087-ACFF-23054CE03241}"/>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제공 채점 파일의 복사본에서 채점 탭 선택</a:t>
            </a:r>
          </a:p>
        </p:txBody>
      </p:sp>
      <p:sp>
        <p:nvSpPr>
          <p:cNvPr id="8" name="">
            <a:extLst xmlns:a="http://schemas.openxmlformats.org/drawingml/2006/main">
              <a:ext uri="{FF2B5EF4-FFF2-40B4-BE49-F238E27FC236}">
                <a16:creationId xmlns:a16="http://schemas.microsoft.com/office/drawing/2014/main" id="{C4FD2078-A33B-4CCC-8832-DB70F64DDA7C}"/>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3D13303E-D151-45E3-BCCC-69E1A062ADD0}"/>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이름 상자에 D8 입력: 첫 문항의 정답 1 확인</a:t>
            </a:r>
          </a:p>
        </p:txBody>
      </p:sp>
      <p:sp>
        <p:nvSpPr>
          <p:cNvPr id="10" name="">
            <a:extLst xmlns:a="http://schemas.openxmlformats.org/drawingml/2006/main">
              <a:ext uri="{FF2B5EF4-FFF2-40B4-BE49-F238E27FC236}">
                <a16:creationId xmlns:a16="http://schemas.microsoft.com/office/drawing/2014/main" id="{1DC9906F-CA59-411E-AEDE-DF49BBA0E04E}"/>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C4F34E59-FCE2-4A4A-BE74-B2B887FC8550}"/>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D10 선택: S001의 첫 문항 답안과 정답 비교</a:t>
            </a:r>
          </a:p>
        </p:txBody>
      </p:sp>
      <p:sp>
        <p:nvSpPr>
          <p:cNvPr id="12" name="">
            <a:extLst xmlns:a="http://schemas.openxmlformats.org/drawingml/2006/main">
              <a:ext uri="{FF2B5EF4-FFF2-40B4-BE49-F238E27FC236}">
                <a16:creationId xmlns:a16="http://schemas.microsoft.com/office/drawing/2014/main" id="{7324664A-70F3-4329-B6AE-3417C1448FD8}"/>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8CBAAFD1-5E85-40BF-86A2-772231D97136}"/>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AR10의 총점 20점과 AT10의 처리 상태 확인</a:t>
            </a:r>
          </a:p>
        </p:txBody>
      </p:sp>
      <p:sp>
        <p:nvSpPr>
          <p:cNvPr id="14" name="">
            <a:extLst xmlns:a="http://schemas.openxmlformats.org/drawingml/2006/main">
              <a:ext uri="{FF2B5EF4-FFF2-40B4-BE49-F238E27FC236}">
                <a16:creationId xmlns:a16="http://schemas.microsoft.com/office/drawing/2014/main" id="{BCDEA5DA-854A-479C-82CD-571E07B1A857}"/>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C278086D-4A21-43BE-8932-A8F057DD4DCC}"/>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outputs/day4-document-automation/Exam_Grading.xlsx</a:t>
            </a:r>
          </a:p>
        </p:txBody>
      </p:sp>
      <p:sp>
        <p:nvSpPr>
          <p:cNvPr id="16" name="">
            <a:extLst xmlns:a="http://schemas.openxmlformats.org/drawingml/2006/main">
              <a:ext uri="{FF2B5EF4-FFF2-40B4-BE49-F238E27FC236}">
                <a16:creationId xmlns:a16="http://schemas.microsoft.com/office/drawing/2014/main" id="{FBB68024-12F0-4B56-A5BF-A6902F6BB06B}"/>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정답 8행 / 답안 10~37행 / 총점 AR열</a:t>
            </a:r>
          </a:p>
        </p:txBody>
      </p:sp>
    </p:spTree>
    <p:extLst>
      <p:ext uri="{BB962C8B-B14F-4D97-AF65-F5344CB8AC3E}">
        <p14:creationId xmlns:p14="http://schemas.microsoft.com/office/powerpoint/2010/main" val="190936784"/>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1182F2-D0C6-404A-B0F4-3EA9171FC9D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이론</a:t>
            </a:r>
          </a:p>
        </p:txBody>
      </p:sp>
      <p:sp>
        <p:nvSpPr>
          <p:cNvPr id="2" name="">
            <a:extLst xmlns:a="http://schemas.openxmlformats.org/drawingml/2006/main">
              <a:ext uri="{FF2B5EF4-FFF2-40B4-BE49-F238E27FC236}">
                <a16:creationId xmlns:a16="http://schemas.microsoft.com/office/drawing/2014/main" id="{C8DDFC8D-0D04-44EB-B93D-7DFBD0C1706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정답 색의 조건</a:t>
            </a:r>
          </a:p>
        </p:txBody>
      </p:sp>
      <p:sp>
        <p:nvSpPr>
          <p:cNvPr id="3" name="">
            <a:extLst xmlns:a="http://schemas.openxmlformats.org/drawingml/2006/main">
              <a:ext uri="{FF2B5EF4-FFF2-40B4-BE49-F238E27FC236}">
                <a16:creationId xmlns:a16="http://schemas.microsoft.com/office/drawing/2014/main" id="{2F8A5BA4-4A49-497C-85F0-E73CB92B3CF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A7253FB-FFCC-4A5B-855C-8D5482F12E1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78CC297-F62E-48D7-A7FD-7578E2AB342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104</a:t>
            </a:r>
          </a:p>
        </p:txBody>
      </p:sp>
      <p:sp>
        <p:nvSpPr>
          <p:cNvPr id="6" name="">
            <a:extLst xmlns:a="http://schemas.openxmlformats.org/drawingml/2006/main">
              <a:ext uri="{FF2B5EF4-FFF2-40B4-BE49-F238E27FC236}">
                <a16:creationId xmlns:a16="http://schemas.microsoft.com/office/drawing/2014/main" id="{B54738E5-5A75-449B-A61A-6882723C1190}"/>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9F2D6E-B11B-4C17-B005-A043663420C3}"/>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=AND(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$C10="응시", D$45="등록",</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ISNUMBER(D10),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D10=D$8,</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D10&gt;=1, D10&lt;=4</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EC47A10B-2202-40AD-AE0B-E588A91291B4}"/>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적용 범위 D10:AQ37</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유효한 정답 등록 + 같은 열의 8행과 비교</a:t>
            </a:r>
          </a:p>
        </p:txBody>
      </p:sp>
    </p:spTree>
    <p:extLst>
      <p:ext uri="{BB962C8B-B14F-4D97-AF65-F5344CB8AC3E}">
        <p14:creationId xmlns:p14="http://schemas.microsoft.com/office/powerpoint/2010/main" val="194661272"/>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4C69BA-9B21-4191-A7C1-32CD542A6A2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이론</a:t>
            </a:r>
          </a:p>
        </p:txBody>
      </p:sp>
      <p:sp>
        <p:nvSpPr>
          <p:cNvPr id="2" name="">
            <a:extLst xmlns:a="http://schemas.openxmlformats.org/drawingml/2006/main">
              <a:ext uri="{FF2B5EF4-FFF2-40B4-BE49-F238E27FC236}">
                <a16:creationId xmlns:a16="http://schemas.microsoft.com/office/drawing/2014/main" id="{28CEBB7E-8C04-4AF3-9C78-A5297B15BCC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동점 순위와 정답률</a:t>
            </a:r>
          </a:p>
        </p:txBody>
      </p:sp>
      <p:sp>
        <p:nvSpPr>
          <p:cNvPr id="3" name="">
            <a:extLst xmlns:a="http://schemas.openxmlformats.org/drawingml/2006/main">
              <a:ext uri="{FF2B5EF4-FFF2-40B4-BE49-F238E27FC236}">
                <a16:creationId xmlns:a16="http://schemas.microsoft.com/office/drawing/2014/main" id="{ED7979C9-32E6-44A2-9CC2-D4F3EB781FF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D367FFD-FBEA-4EF7-89BB-23780276699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9592CE6-870C-440C-9072-4279031A2C0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지표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규칙</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예시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동점 순위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나보다 높은 점수 인원 +1</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30·30·28 → 1·1·3</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정답률 분자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집계 대상 중 해당 문항 정답자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정답자 수</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정답률 분모</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 오류 없는 응시자</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미응답 포함·결시 제외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분모 0</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집계 보류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0%로 오해 방지</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940599525"/>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F8D14B-AE0D-44C0-8467-86CD0CBE7B7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시연</a:t>
            </a:r>
          </a:p>
        </p:txBody>
      </p:sp>
      <p:sp>
        <p:nvSpPr>
          <p:cNvPr id="2" name="">
            <a:extLst xmlns:a="http://schemas.openxmlformats.org/drawingml/2006/main">
              <a:ext uri="{FF2B5EF4-FFF2-40B4-BE49-F238E27FC236}">
                <a16:creationId xmlns:a16="http://schemas.microsoft.com/office/drawing/2014/main" id="{F2F3F769-0AEC-447F-963C-04C03F45C82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총점과 보류 상태</a:t>
            </a:r>
          </a:p>
        </p:txBody>
      </p:sp>
      <p:sp>
        <p:nvSpPr>
          <p:cNvPr id="3" name="">
            <a:extLst xmlns:a="http://schemas.openxmlformats.org/drawingml/2006/main">
              <a:ext uri="{FF2B5EF4-FFF2-40B4-BE49-F238E27FC236}">
                <a16:creationId xmlns:a16="http://schemas.microsoft.com/office/drawing/2014/main" id="{29C1B76B-239D-45DB-A922-A9C38FE5D19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9B232F5-FE49-4F9E-B83F-4436A1A46AF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1AA1F84-23DB-433F-BCE0-7498BCCABB4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f0d76cae641446e"/>
          <a:stretch xmlns:a="http://schemas.openxmlformats.org/drawingml/2006/main"/>
        </p:blipFill>
        <p:spPr>
          <a:xfrm xmlns:a="http://schemas.openxmlformats.org/drawingml/2006/main">
            <a:off x="609600" y="1697995"/>
            <a:ext cx="10972800" cy="76643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3329B2-63AA-43B8-8A15-28744BA44DD4}"/>
              </a:ext>
            </a:extLst>
          </p:cNvPr>
          <p:cNvSpPr>
            <a:spLocks xmlns:a="http://schemas.openxmlformats.org/drawingml/2006/main" noGrp="1"/>
          </p:cNvSpPr>
          <p:nvPr/>
        </p:nvSpPr>
        <p:spPr>
          <a:xfrm xmlns:a="http://schemas.openxmlformats.org/drawingml/2006/main">
            <a:off x="609600" y="2571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95959"/>
                </a:solidFill>
                <a:latin typeface="NanumGothic"/>
                <a:ea typeface="NanumGothic"/>
                <a:cs typeface="NanumGothic"/>
              </a:defRPr>
            </a:pPr>
            <a:r>
              <a:rPr sz="1875" b="0">
                <a:solidFill>
                  <a:srgbClr val="595959"/>
                </a:solidFill>
                <a:latin typeface="NanumGothic"/>
                <a:ea typeface="NanumGothic"/>
                <a:cs typeface="NanumGothic"/>
              </a:rPr>
              <a:t>10–32행 생략 · 아래는 33–37행</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d489ffbd0bb4fa9"/>
          <a:stretch xmlns:a="http://schemas.openxmlformats.org/drawingml/2006/main"/>
        </p:blipFill>
        <p:spPr>
          <a:xfrm xmlns:a="http://schemas.openxmlformats.org/drawingml/2006/main">
            <a:off x="612103" y="3048000"/>
            <a:ext cx="10967795"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20FE5D8-A079-4CA8-BC02-119ECD2CB01F}"/>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합성 학생 24–28번 · 총점·등수·미응답·입력 오류 비교</a:t>
            </a:r>
          </a:p>
        </p:txBody>
      </p:sp>
    </p:spTree>
    <p:extLst>
      <p:ext uri="{BB962C8B-B14F-4D97-AF65-F5344CB8AC3E}">
        <p14:creationId xmlns:p14="http://schemas.microsoft.com/office/powerpoint/2010/main" val="22784484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09B34B-F467-407A-8B32-7F67E2ACCE9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시연</a:t>
            </a:r>
          </a:p>
        </p:txBody>
      </p:sp>
      <p:sp>
        <p:nvSpPr>
          <p:cNvPr id="2" name="">
            <a:extLst xmlns:a="http://schemas.openxmlformats.org/drawingml/2006/main">
              <a:ext uri="{FF2B5EF4-FFF2-40B4-BE49-F238E27FC236}">
                <a16:creationId xmlns:a16="http://schemas.microsoft.com/office/drawing/2014/main" id="{5CC58FE9-C3F6-4ACB-85BD-0C2BC00BAAD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Python 기준값</a:t>
            </a:r>
          </a:p>
        </p:txBody>
      </p:sp>
      <p:sp>
        <p:nvSpPr>
          <p:cNvPr id="3" name="">
            <a:extLst xmlns:a="http://schemas.openxmlformats.org/drawingml/2006/main">
              <a:ext uri="{FF2B5EF4-FFF2-40B4-BE49-F238E27FC236}">
                <a16:creationId xmlns:a16="http://schemas.microsoft.com/office/drawing/2014/main" id="{1F85DBD6-7AA2-4DDA-8C27-A85A2BADD0C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330F5BD-5C62-4AA4-B2CC-E9E05AD6551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8145A01-F328-4EB1-8AAF-725AC708F9F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107</a:t>
            </a:r>
          </a:p>
        </p:txBody>
      </p:sp>
      <p:sp>
        <p:nvSpPr>
          <p:cNvPr id="6" name="">
            <a:extLst xmlns:a="http://schemas.openxmlformats.org/drawingml/2006/main">
              <a:ext uri="{FF2B5EF4-FFF2-40B4-BE49-F238E27FC236}">
                <a16:creationId xmlns:a16="http://schemas.microsoft.com/office/drawing/2014/main" id="{17C38A82-7399-4284-9D75-6FFF5B621219}"/>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7F6031-A48E-40A7-8EFC-419FC96DAC5B}"/>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labs.day4.office_lab.sheets.student_excel import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load_sample, grade_exam</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exam = load_sample("exam_sample.json")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report = grade_exam(exam)</a:t>
            </a:r>
          </a:p>
        </p:txBody>
      </p:sp>
      <p:sp>
        <p:nvSpPr>
          <p:cNvPr id="8" name="">
            <a:extLst xmlns:a="http://schemas.openxmlformats.org/drawingml/2006/main">
              <a:ext uri="{FF2B5EF4-FFF2-40B4-BE49-F238E27FC236}">
                <a16:creationId xmlns:a16="http://schemas.microsoft.com/office/drawing/2014/main" id="{43FA85CA-AE5E-4D2C-A7FD-32939F5BFEF1}"/>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Excel 결과와 독립적으로 비교</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기본 집계 대상 26명</a:t>
            </a:r>
          </a:p>
        </p:txBody>
      </p:sp>
    </p:spTree>
    <p:extLst>
      <p:ext uri="{BB962C8B-B14F-4D97-AF65-F5344CB8AC3E}">
        <p14:creationId xmlns:p14="http://schemas.microsoft.com/office/powerpoint/2010/main" val="139994504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C62F9E-AC8B-4000-BF77-7DF1F409EAA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F8DD6FDD-B856-49D5-8B88-4BD3B9D08DF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문항 번호와 목록 위치</a:t>
            </a:r>
          </a:p>
        </p:txBody>
      </p:sp>
      <p:sp>
        <p:nvSpPr>
          <p:cNvPr id="3" name="">
            <a:extLst xmlns:a="http://schemas.openxmlformats.org/drawingml/2006/main">
              <a:ext uri="{FF2B5EF4-FFF2-40B4-BE49-F238E27FC236}">
                <a16:creationId xmlns:a16="http://schemas.microsoft.com/office/drawing/2014/main" id="{49942D85-8390-488A-AD94-97CEB75CE59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E9595CB-3FF7-4713-B2F1-C63A7759E4B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F8753F5-3D96-4A2F-9086-FCC7E4F8BAD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108</a:t>
            </a:r>
          </a:p>
        </p:txBody>
      </p:sp>
      <p:sp>
        <p:nvSpPr>
          <p:cNvPr id="6" name="">
            <a:extLst xmlns:a="http://schemas.openxmlformats.org/drawingml/2006/main">
              <a:ext uri="{FF2B5EF4-FFF2-40B4-BE49-F238E27FC236}">
                <a16:creationId xmlns:a16="http://schemas.microsoft.com/office/drawing/2014/main" id="{0391DB00-E015-4D46-A22B-2F4D496599D6}"/>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ADB157-17E6-4E14-8919-74C86A1E9F78}"/>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print("1번 정답:", exam["key"][0])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student = exam["students"][25]</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print("학생:", student["id"])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print("9번 답안:", student["answers"][8])</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print(grade_exam(exam)["students"][25])</a:t>
            </a:r>
          </a:p>
        </p:txBody>
      </p:sp>
      <p:sp>
        <p:nvSpPr>
          <p:cNvPr id="8" name="">
            <a:extLst xmlns:a="http://schemas.openxmlformats.org/drawingml/2006/main">
              <a:ext uri="{FF2B5EF4-FFF2-40B4-BE49-F238E27FC236}">
                <a16:creationId xmlns:a16="http://schemas.microsoft.com/office/drawing/2014/main" id="{43A1DF08-3B3B-4307-BA7F-DB78F5C1DA4B}"/>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26번째 학생 S026 / 9번 답안 9 / Excel L35</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목록 위치는 0부터, 문항 번호는 1부터 시작</a:t>
            </a:r>
          </a:p>
        </p:txBody>
      </p:sp>
    </p:spTree>
    <p:extLst>
      <p:ext uri="{BB962C8B-B14F-4D97-AF65-F5344CB8AC3E}">
        <p14:creationId xmlns:p14="http://schemas.microsoft.com/office/powerpoint/2010/main" val="139637506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F6EC974-2AB5-41DE-985E-CC4B4C6C3C6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C60E6D9A-004A-4A0E-A904-FA102A6FF5D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정답 변경의 영향</a:t>
            </a:r>
          </a:p>
        </p:txBody>
      </p:sp>
      <p:sp>
        <p:nvSpPr>
          <p:cNvPr id="3" name="">
            <a:extLst xmlns:a="http://schemas.openxmlformats.org/drawingml/2006/main">
              <a:ext uri="{FF2B5EF4-FFF2-40B4-BE49-F238E27FC236}">
                <a16:creationId xmlns:a16="http://schemas.microsoft.com/office/drawing/2014/main" id="{B5FE5C28-B07A-4453-818E-F4B8522F1BC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D3A16BD-D732-4B5F-A380-D5DB951853C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937B16D-EB9D-4704-9171-0AB5AF49AD0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109</a:t>
            </a:r>
          </a:p>
        </p:txBody>
      </p:sp>
      <p:sp>
        <p:nvSpPr>
          <p:cNvPr id="6" name="">
            <a:extLst xmlns:a="http://schemas.openxmlformats.org/drawingml/2006/main">
              <a:ext uri="{FF2B5EF4-FFF2-40B4-BE49-F238E27FC236}">
                <a16:creationId xmlns:a16="http://schemas.microsoft.com/office/drawing/2014/main" id="{3F35C74F-44AB-49BB-A3D0-B51E65C4ADCE}"/>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F147E12-3425-457F-B994-7508BD7F6D25}"/>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원본을 deepcopy로 복사</a:t>
            </a:r>
          </a:p>
        </p:txBody>
      </p:sp>
      <p:sp>
        <p:nvSpPr>
          <p:cNvPr id="8" name="">
            <a:extLst xmlns:a="http://schemas.openxmlformats.org/drawingml/2006/main">
              <a:ext uri="{FF2B5EF4-FFF2-40B4-BE49-F238E27FC236}">
                <a16:creationId xmlns:a16="http://schemas.microsoft.com/office/drawing/2014/main" id="{2B999307-34E5-4B95-A5C5-F30922F131C2}"/>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6789DC30-97E4-4395-9B92-61E8F7EF5E77}"/>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첫 문항 정답을 1에서 2로 변경</a:t>
            </a:r>
          </a:p>
        </p:txBody>
      </p:sp>
      <p:sp>
        <p:nvSpPr>
          <p:cNvPr id="10" name="">
            <a:extLst xmlns:a="http://schemas.openxmlformats.org/drawingml/2006/main">
              <a:ext uri="{FF2B5EF4-FFF2-40B4-BE49-F238E27FC236}">
                <a16:creationId xmlns:a16="http://schemas.microsoft.com/office/drawing/2014/main" id="{ABCBC030-7071-41A3-9D6A-CC7A2ABC76A2}"/>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C9DE3834-973D-4F5C-A928-39CD7C1D93CF}"/>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Python 보고서와 새 XLSX의 총점 비교</a:t>
            </a:r>
          </a:p>
        </p:txBody>
      </p:sp>
      <p:sp>
        <p:nvSpPr>
          <p:cNvPr id="12" name="">
            <a:extLst xmlns:a="http://schemas.openxmlformats.org/drawingml/2006/main">
              <a:ext uri="{FF2B5EF4-FFF2-40B4-BE49-F238E27FC236}">
                <a16:creationId xmlns:a16="http://schemas.microsoft.com/office/drawing/2014/main" id="{8860CA8B-04D2-411C-86E9-0CE424994EFA}"/>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4766A46F-5937-47D1-B07E-29EFB3840483}"/>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5차시 · D8</a:t>
            </a:r>
          </a:p>
        </p:txBody>
      </p:sp>
      <p:sp>
        <p:nvSpPr>
          <p:cNvPr id="14" name="">
            <a:extLst xmlns:a="http://schemas.openxmlformats.org/drawingml/2006/main">
              <a:ext uri="{FF2B5EF4-FFF2-40B4-BE49-F238E27FC236}">
                <a16:creationId xmlns:a16="http://schemas.microsoft.com/office/drawing/2014/main" id="{A46DE36F-2406-4913-9A18-0B8F5F722593}"/>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총점·순위·정답률의 동시 갱신</a:t>
            </a:r>
          </a:p>
        </p:txBody>
      </p:sp>
    </p:spTree>
    <p:extLst>
      <p:ext uri="{BB962C8B-B14F-4D97-AF65-F5344CB8AC3E}">
        <p14:creationId xmlns:p14="http://schemas.microsoft.com/office/powerpoint/2010/main" val="521516606"/>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7D920E5-90C0-443F-98AF-894186F1D66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26D2C726-87DE-40F4-B6C6-518C43A3F14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 오류의 복구</a:t>
            </a:r>
          </a:p>
        </p:txBody>
      </p:sp>
      <p:sp>
        <p:nvSpPr>
          <p:cNvPr id="3" name="">
            <a:extLst xmlns:a="http://schemas.openxmlformats.org/drawingml/2006/main">
              <a:ext uri="{FF2B5EF4-FFF2-40B4-BE49-F238E27FC236}">
                <a16:creationId xmlns:a16="http://schemas.microsoft.com/office/drawing/2014/main" id="{D375A490-0804-4C43-9215-907FB6E9497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61623CA-FC04-4D8D-87DE-B0646977426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733F104-CA5B-49ED-AD9D-5A98D05E82F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110</a:t>
            </a:r>
          </a:p>
        </p:txBody>
      </p:sp>
      <p:sp>
        <p:nvSpPr>
          <p:cNvPr id="6" name="">
            <a:extLst xmlns:a="http://schemas.openxmlformats.org/drawingml/2006/main">
              <a:ext uri="{FF2B5EF4-FFF2-40B4-BE49-F238E27FC236}">
                <a16:creationId xmlns:a16="http://schemas.microsoft.com/office/drawing/2014/main" id="{92F5B734-245B-4E0B-981A-4337704DC0DD}"/>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CE4E0BAC-968E-482B-8A72-3E0CB90ABC5B}"/>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L35의 9 입력 확인</a:t>
            </a:r>
          </a:p>
        </p:txBody>
      </p:sp>
      <p:sp>
        <p:nvSpPr>
          <p:cNvPr id="8" name="">
            <a:extLst xmlns:a="http://schemas.openxmlformats.org/drawingml/2006/main">
              <a:ext uri="{FF2B5EF4-FFF2-40B4-BE49-F238E27FC236}">
                <a16:creationId xmlns:a16="http://schemas.microsoft.com/office/drawing/2014/main" id="{7DC9921B-BD16-47A8-9CA0-55FB69719F0A}"/>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77025DE7-B860-408A-86C4-BFFF40D333DF}"/>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1~4의 유효한 답안으로 수정</a:t>
            </a:r>
          </a:p>
        </p:txBody>
      </p:sp>
      <p:sp>
        <p:nvSpPr>
          <p:cNvPr id="10" name="">
            <a:extLst xmlns:a="http://schemas.openxmlformats.org/drawingml/2006/main">
              <a:ext uri="{FF2B5EF4-FFF2-40B4-BE49-F238E27FC236}">
                <a16:creationId xmlns:a16="http://schemas.microsoft.com/office/drawing/2014/main" id="{73AE3253-521F-4DAB-9E63-8535D1CCE891}"/>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6A6AA2C7-153B-45FA-9B53-1DA5B7796A7A}"/>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집계 대상 인원과 평균 재확인</a:t>
            </a:r>
          </a:p>
        </p:txBody>
      </p:sp>
      <p:sp>
        <p:nvSpPr>
          <p:cNvPr id="12" name="">
            <a:extLst xmlns:a="http://schemas.openxmlformats.org/drawingml/2006/main">
              <a:ext uri="{FF2B5EF4-FFF2-40B4-BE49-F238E27FC236}">
                <a16:creationId xmlns:a16="http://schemas.microsoft.com/office/drawing/2014/main" id="{CB3E4E6B-4D60-4B60-90F4-C9AB252863E4}"/>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125F6055-E9AD-409D-803B-D3DE1A054DEA}"/>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Exam_Grading.xlsx · L35</a:t>
            </a:r>
          </a:p>
        </p:txBody>
      </p:sp>
      <p:sp>
        <p:nvSpPr>
          <p:cNvPr id="14" name="">
            <a:extLst xmlns:a="http://schemas.openxmlformats.org/drawingml/2006/main">
              <a:ext uri="{FF2B5EF4-FFF2-40B4-BE49-F238E27FC236}">
                <a16:creationId xmlns:a16="http://schemas.microsoft.com/office/drawing/2014/main" id="{09008A1B-0B03-4555-B8FC-CF1A63D3CAF8}"/>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집계 대상 26 → 27명</a:t>
            </a:r>
          </a:p>
        </p:txBody>
      </p:sp>
    </p:spTree>
    <p:extLst>
      <p:ext uri="{BB962C8B-B14F-4D97-AF65-F5344CB8AC3E}">
        <p14:creationId xmlns:p14="http://schemas.microsoft.com/office/powerpoint/2010/main" val="1511190059"/>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9BCDCC-CEA0-4838-A53C-38E3B519902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D872417F-E25C-45E6-B1A3-9167CA65A82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보기 번호 수정의 전후</a:t>
            </a:r>
          </a:p>
        </p:txBody>
      </p:sp>
      <p:sp>
        <p:nvSpPr>
          <p:cNvPr id="3" name="">
            <a:extLst xmlns:a="http://schemas.openxmlformats.org/drawingml/2006/main">
              <a:ext uri="{FF2B5EF4-FFF2-40B4-BE49-F238E27FC236}">
                <a16:creationId xmlns:a16="http://schemas.microsoft.com/office/drawing/2014/main" id="{AD2AAB37-F34B-4A40-AA2C-F967195AF86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59C07A0-94B4-445B-8CE1-23B58305684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DA41450-7E19-486A-A760-0C2C091C35A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111</a:t>
            </a:r>
          </a:p>
        </p:txBody>
      </p:sp>
      <p:sp>
        <p:nvSpPr>
          <p:cNvPr id="6" name="">
            <a:extLst xmlns:a="http://schemas.openxmlformats.org/drawingml/2006/main">
              <a:ext uri="{FF2B5EF4-FFF2-40B4-BE49-F238E27FC236}">
                <a16:creationId xmlns:a16="http://schemas.microsoft.com/office/drawing/2014/main" id="{3536121E-CE93-46AC-A9FD-23FD7618D608}"/>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3308E08-837A-482E-993B-F3DAD2E76BE0}"/>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exam_my = deepcopy(exam)</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exam_my["students"][25]["answers"][8] = 1</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before_count = grade_exam(exam)["eligible_count"]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fixed = grade_exam(exam_my)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print(before_count, fixed["eligible_count"])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print(fixed["students"][25]["score"])</a:t>
            </a:r>
          </a:p>
        </p:txBody>
      </p:sp>
      <p:sp>
        <p:nvSpPr>
          <p:cNvPr id="8" name="">
            <a:extLst xmlns:a="http://schemas.openxmlformats.org/drawingml/2006/main">
              <a:ext uri="{FF2B5EF4-FFF2-40B4-BE49-F238E27FC236}">
                <a16:creationId xmlns:a16="http://schemas.microsoft.com/office/drawing/2014/main" id="{E65FB61B-31DF-48A4-B14B-498E9275E61C}"/>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집계 대상 26명에서 27명 / S026은 24점</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수정한 exam_my를 Notebook의 XLSX·CSV 저장 셀에 전달</a:t>
            </a:r>
          </a:p>
        </p:txBody>
      </p:sp>
    </p:spTree>
    <p:extLst>
      <p:ext uri="{BB962C8B-B14F-4D97-AF65-F5344CB8AC3E}">
        <p14:creationId xmlns:p14="http://schemas.microsoft.com/office/powerpoint/2010/main" val="80741834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811B21-6E15-4316-9273-8CD1A993B4B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2BD560C2-944A-466B-923C-1A6F4C70FA6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예외 입력 테스트</a:t>
            </a:r>
          </a:p>
        </p:txBody>
      </p:sp>
      <p:sp>
        <p:nvSpPr>
          <p:cNvPr id="3" name="">
            <a:extLst xmlns:a="http://schemas.openxmlformats.org/drawingml/2006/main">
              <a:ext uri="{FF2B5EF4-FFF2-40B4-BE49-F238E27FC236}">
                <a16:creationId xmlns:a16="http://schemas.microsoft.com/office/drawing/2014/main" id="{E9C792EB-0B13-4349-80AF-7AFB3DE4E2E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C483C7B-FC21-48FB-9631-FB3409AB973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410378A-2711-4D61-AA97-F998E4BBBEE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112</a:t>
            </a:r>
          </a:p>
        </p:txBody>
      </p:sp>
      <p:sp>
        <p:nvSpPr>
          <p:cNvPr id="6" name="">
            <a:extLst xmlns:a="http://schemas.openxmlformats.org/drawingml/2006/main">
              <a:ext uri="{FF2B5EF4-FFF2-40B4-BE49-F238E27FC236}">
                <a16:creationId xmlns:a16="http://schemas.microsoft.com/office/drawing/2014/main" id="{CC47DA64-A9C6-46C7-AFFE-04A102456A13}"/>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009D7974-CF74-4785-A630-5C23CCEDBA5D}"/>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정답 한 칸을 비워 채점 보류 확인</a:t>
            </a:r>
          </a:p>
        </p:txBody>
      </p:sp>
      <p:sp>
        <p:nvSpPr>
          <p:cNvPr id="8" name="">
            <a:extLst xmlns:a="http://schemas.openxmlformats.org/drawingml/2006/main">
              <a:ext uri="{FF2B5EF4-FFF2-40B4-BE49-F238E27FC236}">
                <a16:creationId xmlns:a16="http://schemas.microsoft.com/office/drawing/2014/main" id="{1DE010EA-264C-4BCF-85F0-6A1A680416C8}"/>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4562BE5E-E993-4235-BD32-A1C6BAB7BBFC}"/>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답안에 글자 또는 9 입력</a:t>
            </a:r>
          </a:p>
        </p:txBody>
      </p:sp>
      <p:sp>
        <p:nvSpPr>
          <p:cNvPr id="10" name="">
            <a:extLst xmlns:a="http://schemas.openxmlformats.org/drawingml/2006/main">
              <a:ext uri="{FF2B5EF4-FFF2-40B4-BE49-F238E27FC236}">
                <a16:creationId xmlns:a16="http://schemas.microsoft.com/office/drawing/2014/main" id="{20E18D5D-21FD-4430-B013-BD2484F72A9A}"/>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6029B1AC-6A04-4B29-B938-108BDAFC1B56}"/>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정답·답안을 복구하고 재계산</a:t>
            </a:r>
          </a:p>
        </p:txBody>
      </p:sp>
      <p:sp>
        <p:nvSpPr>
          <p:cNvPr id="12" name="">
            <a:extLst xmlns:a="http://schemas.openxmlformats.org/drawingml/2006/main">
              <a:ext uri="{FF2B5EF4-FFF2-40B4-BE49-F238E27FC236}">
                <a16:creationId xmlns:a16="http://schemas.microsoft.com/office/drawing/2014/main" id="{E0CE775B-F69C-4194-BE1C-D9C8EC0112E7}"/>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7EE6C43F-4096-4802-9CD7-4FDD4C796454}"/>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5차시 · 별도 복사본</a:t>
            </a:r>
          </a:p>
        </p:txBody>
      </p:sp>
      <p:sp>
        <p:nvSpPr>
          <p:cNvPr id="14" name="">
            <a:extLst xmlns:a="http://schemas.openxmlformats.org/drawingml/2006/main">
              <a:ext uri="{FF2B5EF4-FFF2-40B4-BE49-F238E27FC236}">
                <a16:creationId xmlns:a16="http://schemas.microsoft.com/office/drawing/2014/main" id="{62D8DC54-369B-48EC-B3B2-4842E7FFE1A5}"/>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오류는 보류 · 복구 후 정상 계산</a:t>
            </a:r>
          </a:p>
        </p:txBody>
      </p:sp>
    </p:spTree>
    <p:extLst>
      <p:ext uri="{BB962C8B-B14F-4D97-AF65-F5344CB8AC3E}">
        <p14:creationId xmlns:p14="http://schemas.microsoft.com/office/powerpoint/2010/main" val="1324470856"/>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ECBA53-EE72-494C-9F44-81B132BF03B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95974A61-548A-43F3-ACDC-15182341553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정답 누락의 복구 순서</a:t>
            </a:r>
          </a:p>
        </p:txBody>
      </p:sp>
      <p:sp>
        <p:nvSpPr>
          <p:cNvPr id="3" name="">
            <a:extLst xmlns:a="http://schemas.openxmlformats.org/drawingml/2006/main">
              <a:ext uri="{FF2B5EF4-FFF2-40B4-BE49-F238E27FC236}">
                <a16:creationId xmlns:a16="http://schemas.microsoft.com/office/drawing/2014/main" id="{6739035A-573B-4079-BCA1-04198D7BEE0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9E19AA2-C4DB-4DE8-BCB5-6C09B8F0E57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A2C9ED5-057B-4795-9137-AC9BCBB1FDA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113</a:t>
            </a:r>
          </a:p>
        </p:txBody>
      </p:sp>
      <p:sp>
        <p:nvSpPr>
          <p:cNvPr id="6" name="">
            <a:extLst xmlns:a="http://schemas.openxmlformats.org/drawingml/2006/main">
              <a:ext uri="{FF2B5EF4-FFF2-40B4-BE49-F238E27FC236}">
                <a16:creationId xmlns:a16="http://schemas.microsoft.com/office/drawing/2014/main" id="{2C6E10B3-2CE5-4AF2-821D-9E0967E8D97C}"/>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63AD46-C834-4374-9971-A0EA1EF5936B}"/>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missing = deepcopy(exam_my)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missing["key"][0] = None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held = grade_exam(missing)</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held["students"][0]["score"] is None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print(held["students"][0]["status"])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missing["key"][0] = exam["key"][0]</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grade_exam(missing)["eligible_count"] == 27</a:t>
            </a:r>
          </a:p>
        </p:txBody>
      </p:sp>
      <p:sp>
        <p:nvSpPr>
          <p:cNvPr id="8" name="">
            <a:extLst xmlns:a="http://schemas.openxmlformats.org/drawingml/2006/main">
              <a:ext uri="{FF2B5EF4-FFF2-40B4-BE49-F238E27FC236}">
                <a16:creationId xmlns:a16="http://schemas.microsoft.com/office/drawing/2014/main" id="{EB39E608-88BC-441D-8004-F7052C24F68B}"/>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D8에 해당하는 정답 누락: 정답 확인 / 점수 보류</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정답 복구 후, 입력 오류를 고친 27명 다시 집계</a:t>
            </a:r>
          </a:p>
        </p:txBody>
      </p:sp>
    </p:spTree>
    <p:extLst>
      <p:ext uri="{BB962C8B-B14F-4D97-AF65-F5344CB8AC3E}">
        <p14:creationId xmlns:p14="http://schemas.microsoft.com/office/powerpoint/2010/main" val="1583639360"/>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CF4D5D-CA9A-4AE9-95D3-DE16C8B0080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시연</a:t>
            </a:r>
          </a:p>
        </p:txBody>
      </p:sp>
      <p:sp>
        <p:nvSpPr>
          <p:cNvPr id="2" name="">
            <a:extLst xmlns:a="http://schemas.openxmlformats.org/drawingml/2006/main">
              <a:ext uri="{FF2B5EF4-FFF2-40B4-BE49-F238E27FC236}">
                <a16:creationId xmlns:a16="http://schemas.microsoft.com/office/drawing/2014/main" id="{38766324-2A84-47C3-A37B-337A628E26B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문항 분석</a:t>
            </a:r>
          </a:p>
        </p:txBody>
      </p:sp>
      <p:sp>
        <p:nvSpPr>
          <p:cNvPr id="3" name="">
            <a:extLst xmlns:a="http://schemas.openxmlformats.org/drawingml/2006/main">
              <a:ext uri="{FF2B5EF4-FFF2-40B4-BE49-F238E27FC236}">
                <a16:creationId xmlns:a16="http://schemas.microsoft.com/office/drawing/2014/main" id="{72F20382-B941-469D-AC17-F5F7E7F9FBD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27A9F29-0D44-4487-BBE4-7F6DCB29C4D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66E1042-2495-4007-8A94-51D8A5C6E0C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5b1d42c46f04269"/>
          <a:stretch xmlns:a="http://schemas.openxmlformats.org/drawingml/2006/main"/>
        </p:blipFill>
        <p:spPr>
          <a:xfrm xmlns:a="http://schemas.openxmlformats.org/drawingml/2006/main">
            <a:off x="609600" y="1719773"/>
            <a:ext cx="10972800" cy="383755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096F5B2-097E-4D54-B32D-3429E46898D0}"/>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정답률만이 아닌 정답자 수·집계 대상·미응답 수</a:t>
            </a:r>
          </a:p>
        </p:txBody>
      </p:sp>
    </p:spTree>
    <p:extLst>
      <p:ext uri="{BB962C8B-B14F-4D97-AF65-F5344CB8AC3E}">
        <p14:creationId xmlns:p14="http://schemas.microsoft.com/office/powerpoint/2010/main" val="979306069"/>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7C41D0-7D07-42DB-B802-5354B78BA6C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이론</a:t>
            </a:r>
          </a:p>
        </p:txBody>
      </p:sp>
      <p:sp>
        <p:nvSpPr>
          <p:cNvPr id="2" name="">
            <a:extLst xmlns:a="http://schemas.openxmlformats.org/drawingml/2006/main">
              <a:ext uri="{FF2B5EF4-FFF2-40B4-BE49-F238E27FC236}">
                <a16:creationId xmlns:a16="http://schemas.microsoft.com/office/drawing/2014/main" id="{D0666DCF-AB5C-467A-8BC3-35DDCA88CE7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Google Sheets 적용</a:t>
            </a:r>
          </a:p>
        </p:txBody>
      </p:sp>
      <p:sp>
        <p:nvSpPr>
          <p:cNvPr id="3" name="">
            <a:extLst xmlns:a="http://schemas.openxmlformats.org/drawingml/2006/main">
              <a:ext uri="{FF2B5EF4-FFF2-40B4-BE49-F238E27FC236}">
                <a16:creationId xmlns:a16="http://schemas.microsoft.com/office/drawing/2014/main" id="{B214D751-09A6-41C7-94D1-98FB334835F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1A29CF7-1376-4AC6-A0CE-FA3BEE1DED8D}"/>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EDA9D14-DBDD-4CF9-9FFE-19B8DA8059C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순서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내 연습 파일에서의 작업</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1</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합성 XLSX 업로드 → Google Sheets 사본</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2</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빈 문서는 제공 Code.gs로 합성 시트 생성</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3</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D10:AQ37 → 서식 → 조건부서식</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4</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맞춤 수식과 범위 확인</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5</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정답·오답·빈칸을 바꿔 실제 결과 비교</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917337764"/>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453D9B9-B2F3-4270-A7EF-061A17590B8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선택 파일 작업 · Google Sheets</a:t>
            </a:r>
          </a:p>
        </p:txBody>
      </p:sp>
      <p:sp>
        <p:nvSpPr>
          <p:cNvPr id="2" name="">
            <a:extLst xmlns:a="http://schemas.openxmlformats.org/drawingml/2006/main">
              <a:ext uri="{FF2B5EF4-FFF2-40B4-BE49-F238E27FC236}">
                <a16:creationId xmlns:a16="http://schemas.microsoft.com/office/drawing/2014/main" id="{280BB90F-E3F1-4D7E-9EC0-C2DB79887C9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내 채점표의 Google Sheets 사본</a:t>
            </a:r>
          </a:p>
        </p:txBody>
      </p:sp>
      <p:sp>
        <p:nvSpPr>
          <p:cNvPr id="3" name="">
            <a:extLst xmlns:a="http://schemas.openxmlformats.org/drawingml/2006/main">
              <a:ext uri="{FF2B5EF4-FFF2-40B4-BE49-F238E27FC236}">
                <a16:creationId xmlns:a16="http://schemas.microsoft.com/office/drawing/2014/main" id="{33E3FC68-4016-4E4A-BBB6-AC86D9EE350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6523909-7ECA-4CC9-82D0-E5D2C0CBE3D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4D0E979-1906-413F-8F96-5ECF701F2E8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116</a:t>
            </a:r>
          </a:p>
        </p:txBody>
      </p:sp>
      <p:sp>
        <p:nvSpPr>
          <p:cNvPr id="6" name="">
            <a:extLst xmlns:a="http://schemas.openxmlformats.org/drawingml/2006/main">
              <a:ext uri="{FF2B5EF4-FFF2-40B4-BE49-F238E27FC236}">
                <a16:creationId xmlns:a16="http://schemas.microsoft.com/office/drawing/2014/main" id="{F936931C-E454-4D1E-8C9E-B7576556BE05}"/>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132ECEEE-D02B-4D2B-A8F3-07B30A12C926}"/>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개인 Drive의 새로 만들기에서 합성 XLSX 파일 업로드</a:t>
            </a:r>
          </a:p>
        </p:txBody>
      </p:sp>
      <p:sp>
        <p:nvSpPr>
          <p:cNvPr id="8" name="">
            <a:extLst xmlns:a="http://schemas.openxmlformats.org/drawingml/2006/main">
              <a:ext uri="{FF2B5EF4-FFF2-40B4-BE49-F238E27FC236}">
                <a16:creationId xmlns:a16="http://schemas.microsoft.com/office/drawing/2014/main" id="{77994EED-DB27-4608-81AA-3B9B187D8337}"/>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8E176DB4-8D77-4D5C-A1C9-A3BE49474C12}"/>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업로드한 파일 열기, 파일 메뉴의 Google Sheets로 저장</a:t>
            </a:r>
          </a:p>
        </p:txBody>
      </p:sp>
      <p:sp>
        <p:nvSpPr>
          <p:cNvPr id="10" name="">
            <a:extLst xmlns:a="http://schemas.openxmlformats.org/drawingml/2006/main">
              <a:ext uri="{FF2B5EF4-FFF2-40B4-BE49-F238E27FC236}">
                <a16:creationId xmlns:a16="http://schemas.microsoft.com/office/drawing/2014/main" id="{23B4CE90-F36F-4848-8D2D-6DFBD1AE04D1}"/>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BFC8B075-C65F-4294-AF6A-F6DC7E6C1777}"/>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Google 파일 이름을 4주차_채점_연습으로 변경</a:t>
            </a:r>
          </a:p>
        </p:txBody>
      </p:sp>
      <p:sp>
        <p:nvSpPr>
          <p:cNvPr id="12" name="">
            <a:extLst xmlns:a="http://schemas.openxmlformats.org/drawingml/2006/main">
              <a:ext uri="{FF2B5EF4-FFF2-40B4-BE49-F238E27FC236}">
                <a16:creationId xmlns:a16="http://schemas.microsoft.com/office/drawing/2014/main" id="{9DEBCFFC-020E-4C1B-AD7E-7708178E7F6D}"/>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F2E9B694-8155-4CA0-8C77-15A7DD2E5406}"/>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원래 XLSX 보존, 새 파일의 채점 탭에서만 작업</a:t>
            </a:r>
          </a:p>
        </p:txBody>
      </p:sp>
      <p:sp>
        <p:nvSpPr>
          <p:cNvPr id="14" name="">
            <a:extLst xmlns:a="http://schemas.openxmlformats.org/drawingml/2006/main">
              <a:ext uri="{FF2B5EF4-FFF2-40B4-BE49-F238E27FC236}">
                <a16:creationId xmlns:a16="http://schemas.microsoft.com/office/drawing/2014/main" id="{DDDE2826-7425-4B30-BC19-1C2DCB6658D8}"/>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12822151-BC63-42DF-A03B-4A97D94DA49E}"/>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복사본의 Exam_Grading.xlsx / 개인 Google 계정</a:t>
            </a:r>
          </a:p>
        </p:txBody>
      </p:sp>
      <p:sp>
        <p:nvSpPr>
          <p:cNvPr id="16" name="">
            <a:extLst xmlns:a="http://schemas.openxmlformats.org/drawingml/2006/main">
              <a:ext uri="{FF2B5EF4-FFF2-40B4-BE49-F238E27FC236}">
                <a16:creationId xmlns:a16="http://schemas.microsoft.com/office/drawing/2014/main" id="{A4D0952D-BC5E-4C20-9E6C-28DCDCE7E30A}"/>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선택 확장 / 온라인 계산·서식은 계정에서 직접 확인 필요</a:t>
            </a:r>
          </a:p>
        </p:txBody>
      </p:sp>
    </p:spTree>
    <p:extLst>
      <p:ext uri="{BB962C8B-B14F-4D97-AF65-F5344CB8AC3E}">
        <p14:creationId xmlns:p14="http://schemas.microsoft.com/office/powerpoint/2010/main" val="1895401463"/>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D4C8430-7589-4274-907D-727C89E1682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선택 파일 작업 · Google Sheets</a:t>
            </a:r>
          </a:p>
        </p:txBody>
      </p:sp>
      <p:sp>
        <p:nvSpPr>
          <p:cNvPr id="2" name="">
            <a:extLst xmlns:a="http://schemas.openxmlformats.org/drawingml/2006/main">
              <a:ext uri="{FF2B5EF4-FFF2-40B4-BE49-F238E27FC236}">
                <a16:creationId xmlns:a16="http://schemas.microsoft.com/office/drawing/2014/main" id="{C2DE7008-3368-407A-A539-7D84572CCFB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조건부서식 메뉴와 시험 입력</a:t>
            </a:r>
          </a:p>
        </p:txBody>
      </p:sp>
      <p:sp>
        <p:nvSpPr>
          <p:cNvPr id="3" name="">
            <a:extLst xmlns:a="http://schemas.openxmlformats.org/drawingml/2006/main">
              <a:ext uri="{FF2B5EF4-FFF2-40B4-BE49-F238E27FC236}">
                <a16:creationId xmlns:a16="http://schemas.microsoft.com/office/drawing/2014/main" id="{8BF96A45-6A5F-48D3-BAF2-4D0640DFD26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7F373FF-07C3-43C1-A164-B61A9D31553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EC67CED-318A-4C24-AAFB-E10626237C6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117</a:t>
            </a:r>
          </a:p>
        </p:txBody>
      </p:sp>
      <p:sp>
        <p:nvSpPr>
          <p:cNvPr id="6" name="">
            <a:extLst xmlns:a="http://schemas.openxmlformats.org/drawingml/2006/main">
              <a:ext uri="{FF2B5EF4-FFF2-40B4-BE49-F238E27FC236}">
                <a16:creationId xmlns:a16="http://schemas.microsoft.com/office/drawing/2014/main" id="{44694E99-4B12-409F-ADF1-8D1D549899E1}"/>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795F7F65-972A-4592-89B8-5796E1867A86}"/>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채점 탭에서 응답 범위 D10:AQ37 선택</a:t>
            </a:r>
          </a:p>
        </p:txBody>
      </p:sp>
      <p:sp>
        <p:nvSpPr>
          <p:cNvPr id="8" name="">
            <a:extLst xmlns:a="http://schemas.openxmlformats.org/drawingml/2006/main">
              <a:ext uri="{FF2B5EF4-FFF2-40B4-BE49-F238E27FC236}">
                <a16:creationId xmlns:a16="http://schemas.microsoft.com/office/drawing/2014/main" id="{041D59B9-EEDB-40D2-8273-9736B2022D28}"/>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510EA80A-E797-4900-8401-99846D6B3FD6}"/>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서식 메뉴의 조건부서식 열기, 맞춤 수식 규칙 선택</a:t>
            </a:r>
          </a:p>
        </p:txBody>
      </p:sp>
      <p:sp>
        <p:nvSpPr>
          <p:cNvPr id="10" name="">
            <a:extLst xmlns:a="http://schemas.openxmlformats.org/drawingml/2006/main">
              <a:ext uri="{FF2B5EF4-FFF2-40B4-BE49-F238E27FC236}">
                <a16:creationId xmlns:a16="http://schemas.microsoft.com/office/drawing/2014/main" id="{45C6C480-DCEA-4553-B35F-E78002DF9D9D}"/>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E864CFCF-8BBF-4A79-9A78-706BD551F812}"/>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정답 규칙의 적용 범위와 D$8·D$45 참조 확인</a:t>
            </a:r>
          </a:p>
        </p:txBody>
      </p:sp>
      <p:sp>
        <p:nvSpPr>
          <p:cNvPr id="12" name="">
            <a:extLst xmlns:a="http://schemas.openxmlformats.org/drawingml/2006/main">
              <a:ext uri="{FF2B5EF4-FFF2-40B4-BE49-F238E27FC236}">
                <a16:creationId xmlns:a16="http://schemas.microsoft.com/office/drawing/2014/main" id="{8DE059E9-92CD-4567-9D06-3BD945A2C9FF}"/>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5E4312A7-962C-4E67-8DCD-6BC0DDA0B2AC}"/>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L35를 9에서 1로 변경, B5=27과 AR35=24 확인</a:t>
            </a:r>
          </a:p>
        </p:txBody>
      </p:sp>
      <p:sp>
        <p:nvSpPr>
          <p:cNvPr id="14" name="">
            <a:extLst xmlns:a="http://schemas.openxmlformats.org/drawingml/2006/main">
              <a:ext uri="{FF2B5EF4-FFF2-40B4-BE49-F238E27FC236}">
                <a16:creationId xmlns:a16="http://schemas.microsoft.com/office/drawing/2014/main" id="{7919068C-4317-4EF7-8EB4-E100D8A6D29E}"/>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DC984751-9204-40D5-AD09-EAF98D8C1764}"/>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새 Google 파일 / 채점 탭 / 서식 &gt; 조건부서식</a:t>
            </a:r>
          </a:p>
        </p:txBody>
      </p:sp>
      <p:sp>
        <p:nvSpPr>
          <p:cNvPr id="16" name="">
            <a:extLst xmlns:a="http://schemas.openxmlformats.org/drawingml/2006/main">
              <a:ext uri="{FF2B5EF4-FFF2-40B4-BE49-F238E27FC236}">
                <a16:creationId xmlns:a16="http://schemas.microsoft.com/office/drawing/2014/main" id="{6BFAF865-E62F-4A97-B355-B9E5FF2618D1}"/>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원격 실행 미검증 / 계산과 색을 함께 확인 후 사용</a:t>
            </a:r>
          </a:p>
        </p:txBody>
      </p:sp>
    </p:spTree>
    <p:extLst>
      <p:ext uri="{BB962C8B-B14F-4D97-AF65-F5344CB8AC3E}">
        <p14:creationId xmlns:p14="http://schemas.microsoft.com/office/powerpoint/2010/main" val="244646033"/>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403A00-F0B6-448F-A7A4-50D72FEA7CF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코드·파일 작업</a:t>
            </a:r>
          </a:p>
        </p:txBody>
      </p:sp>
      <p:sp>
        <p:nvSpPr>
          <p:cNvPr id="2" name="">
            <a:extLst xmlns:a="http://schemas.openxmlformats.org/drawingml/2006/main">
              <a:ext uri="{FF2B5EF4-FFF2-40B4-BE49-F238E27FC236}">
                <a16:creationId xmlns:a16="http://schemas.microsoft.com/office/drawing/2014/main" id="{749B9C81-54F0-4331-ADDD-DC21FA8E584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채점 규칙 개선 요청</a:t>
            </a:r>
          </a:p>
        </p:txBody>
      </p:sp>
      <p:sp>
        <p:nvSpPr>
          <p:cNvPr id="3" name="">
            <a:extLst xmlns:a="http://schemas.openxmlformats.org/drawingml/2006/main">
              <a:ext uri="{FF2B5EF4-FFF2-40B4-BE49-F238E27FC236}">
                <a16:creationId xmlns:a16="http://schemas.microsoft.com/office/drawing/2014/main" id="{99CF7463-85C1-4607-B464-22F8D9D2F61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C5131CA-918C-41B2-9A18-703ED1C4705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4F4152F-2976-4575-A19C-027A07CA83D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118</a:t>
            </a:r>
          </a:p>
        </p:txBody>
      </p:sp>
      <p:sp>
        <p:nvSpPr>
          <p:cNvPr id="6" name="">
            <a:extLst xmlns:a="http://schemas.openxmlformats.org/drawingml/2006/main">
              <a:ext uri="{FF2B5EF4-FFF2-40B4-BE49-F238E27FC236}">
                <a16:creationId xmlns:a16="http://schemas.microsoft.com/office/drawing/2014/main" id="{16C0DBAF-1CC6-445B-9041-5BFD32EE4533}"/>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24339ACF-9CB1-4174-97FC-BB83D75D8514}"/>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F31F89-56BC-4292-A70F-62E76A23D8AC}"/>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합성 채점 코드에 대해 입력 오류, 미응답, 결시, 동점 처리 규칙을 표로 설명해 줘. 정답을 추측해서 바꾸지 마. 문항별 배점을 추가한다면 기존 1점 기본값을 유지하고 관련 테스트부터 제안해 줘.</a:t>
            </a:r>
          </a:p>
        </p:txBody>
      </p:sp>
      <p:sp>
        <p:nvSpPr>
          <p:cNvPr id="9" name="">
            <a:extLst xmlns:a="http://schemas.openxmlformats.org/drawingml/2006/main">
              <a:ext uri="{FF2B5EF4-FFF2-40B4-BE49-F238E27FC236}">
                <a16:creationId xmlns:a16="http://schemas.microsoft.com/office/drawing/2014/main" id="{4E95C6A5-BB0C-494E-9AC1-0FBF49773E89}"/>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4BE4801D-E108-4FEC-BDF4-16076824E9AF}"/>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점수 정책 · 기존 결과 · 추가 테스트</a:t>
            </a:r>
          </a:p>
        </p:txBody>
      </p:sp>
    </p:spTree>
    <p:extLst>
      <p:ext uri="{BB962C8B-B14F-4D97-AF65-F5344CB8AC3E}">
        <p14:creationId xmlns:p14="http://schemas.microsoft.com/office/powerpoint/2010/main" val="395308243"/>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376ED6-E857-476C-8A9A-59C0F21181A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결과 확인</a:t>
            </a:r>
          </a:p>
        </p:txBody>
      </p:sp>
      <p:sp>
        <p:nvSpPr>
          <p:cNvPr id="2" name="">
            <a:extLst xmlns:a="http://schemas.openxmlformats.org/drawingml/2006/main">
              <a:ext uri="{FF2B5EF4-FFF2-40B4-BE49-F238E27FC236}">
                <a16:creationId xmlns:a16="http://schemas.microsoft.com/office/drawing/2014/main" id="{B4E47F93-C1C9-4A05-AE19-60148B78206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5차시 확인</a:t>
            </a:r>
          </a:p>
        </p:txBody>
      </p:sp>
      <p:sp>
        <p:nvSpPr>
          <p:cNvPr id="3" name="">
            <a:extLst xmlns:a="http://schemas.openxmlformats.org/drawingml/2006/main">
              <a:ext uri="{FF2B5EF4-FFF2-40B4-BE49-F238E27FC236}">
                <a16:creationId xmlns:a16="http://schemas.microsoft.com/office/drawing/2014/main" id="{D239CDC9-EF3B-48C2-8916-586AADB295C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5F4669C-B2B3-440C-BB53-14A3C6E01985}"/>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950C491-116D-4DBC-B45F-E732B02B6D4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119</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정답 변경</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총점·순위·정답률 갱신</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오류 처리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잘못된 답안은 채점 보류</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분모</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결시·입력 오류 제외 규칙</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결과 파일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수정된 XLSX·CSV 열기</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363011983"/>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9B7603-AE7B-4C2E-B0F9-59744215774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선택 확장</a:t>
            </a:r>
          </a:p>
        </p:txBody>
      </p:sp>
      <p:sp>
        <p:nvSpPr>
          <p:cNvPr id="2" name="">
            <a:extLst xmlns:a="http://schemas.openxmlformats.org/drawingml/2006/main">
              <a:ext uri="{FF2B5EF4-FFF2-40B4-BE49-F238E27FC236}">
                <a16:creationId xmlns:a16="http://schemas.microsoft.com/office/drawing/2014/main" id="{3A0AAE99-AADB-4E03-AF8E-A290DECA8FF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맞춤 수식의 공식 안내</a:t>
            </a:r>
          </a:p>
        </p:txBody>
      </p:sp>
      <p:sp>
        <p:nvSpPr>
          <p:cNvPr id="3" name="">
            <a:extLst xmlns:a="http://schemas.openxmlformats.org/drawingml/2006/main">
              <a:ext uri="{FF2B5EF4-FFF2-40B4-BE49-F238E27FC236}">
                <a16:creationId xmlns:a16="http://schemas.microsoft.com/office/drawing/2014/main" id="{361095DA-5CBD-4E25-9399-7222683531B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3E58F54-F90B-4A01-A00A-889CAEBEB79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D4F5AFD-B9F1-4499-99FB-040D5921CCD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42e0d9965724a69"/>
          <a:stretch xmlns:a="http://schemas.openxmlformats.org/drawingml/2006/main"/>
        </p:blipFill>
        <p:spPr>
          <a:xfrm xmlns:a="http://schemas.openxmlformats.org/drawingml/2006/main">
            <a:off x="2592954" y="1666875"/>
            <a:ext cx="7006092"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75F49F6-5F47-4614-9327-8F97C9A576F2}"/>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Google 공식 도움말 · 실제 브라우저 캡처</a:t>
            </a:r>
          </a:p>
        </p:txBody>
      </p:sp>
    </p:spTree>
    <p:extLst>
      <p:ext uri="{BB962C8B-B14F-4D97-AF65-F5344CB8AC3E}">
        <p14:creationId xmlns:p14="http://schemas.microsoft.com/office/powerpoint/2010/main" val="1759372636"/>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FE4453-9DC4-489E-9058-E0D4F851CF2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5차시 · 13:50–14:40  /  선택 확장</a:t>
            </a:r>
          </a:p>
        </p:txBody>
      </p:sp>
      <p:sp>
        <p:nvSpPr>
          <p:cNvPr id="2" name="">
            <a:extLst xmlns:a="http://schemas.openxmlformats.org/drawingml/2006/main">
              <a:ext uri="{FF2B5EF4-FFF2-40B4-BE49-F238E27FC236}">
                <a16:creationId xmlns:a16="http://schemas.microsoft.com/office/drawing/2014/main" id="{F75D744E-FB16-4AB0-BDB6-67F6CA25F28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Apps Script 확장</a:t>
            </a:r>
          </a:p>
        </p:txBody>
      </p:sp>
      <p:sp>
        <p:nvSpPr>
          <p:cNvPr id="3" name="">
            <a:extLst xmlns:a="http://schemas.openxmlformats.org/drawingml/2006/main">
              <a:ext uri="{FF2B5EF4-FFF2-40B4-BE49-F238E27FC236}">
                <a16:creationId xmlns:a16="http://schemas.microsoft.com/office/drawing/2014/main" id="{D22CA7B4-8463-477D-AF25-E851B00591B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B0AA8DFE-16ED-450C-B02F-1569C7F1BA0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8414CA1-F2F4-493D-A096-B240E7AA681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기능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안전한 범위</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수식·조건부서식 일괄 배치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합성 연습 시트만 생성</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반복 실행</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기존 동일 이름 시트 덮어쓰기 금지</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권한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현재 문서만 접근</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검증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생성 후 직접 정답·오류 입력 변경</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787263277"/>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654B7F-FA88-4B63-9759-F3C291A2B48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4·5차시 수업 종료</a:t>
            </a:r>
          </a:p>
        </p:txBody>
      </p:sp>
      <p:sp>
        <p:nvSpPr>
          <p:cNvPr id="2" name="">
            <a:extLst xmlns:a="http://schemas.openxmlformats.org/drawingml/2006/main">
              <a:ext uri="{FF2B5EF4-FFF2-40B4-BE49-F238E27FC236}">
                <a16:creationId xmlns:a16="http://schemas.microsoft.com/office/drawing/2014/main" id="{6E45E109-B5DF-432E-9937-43BF877BF54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쉬는 시간</a:t>
            </a:r>
          </a:p>
        </p:txBody>
      </p:sp>
      <p:sp>
        <p:nvSpPr>
          <p:cNvPr id="3" name="">
            <a:extLst xmlns:a="http://schemas.openxmlformats.org/drawingml/2006/main">
              <a:ext uri="{FF2B5EF4-FFF2-40B4-BE49-F238E27FC236}">
                <a16:creationId xmlns:a16="http://schemas.microsoft.com/office/drawing/2014/main" id="{E04392F9-EA9E-40FF-BA24-38FB0ADD5A8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796B80C-9E61-49AF-BD5B-5D1DDC75E5C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DE13F17-9628-4246-B9C7-799FF21BF10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122</a:t>
            </a:r>
          </a:p>
        </p:txBody>
      </p:sp>
      <p:sp>
        <p:nvSpPr>
          <p:cNvPr id="6" name="">
            <a:extLst xmlns:a="http://schemas.openxmlformats.org/drawingml/2006/main">
              <a:ext uri="{FF2B5EF4-FFF2-40B4-BE49-F238E27FC236}">
                <a16:creationId xmlns:a16="http://schemas.microsoft.com/office/drawing/2014/main" id="{E8A79ED2-62ED-4B98-908D-7E5177A46E81}"/>
              </a:ext>
            </a:extLst>
          </p:cNvPr>
          <p:cNvSpPr>
            <a:spLocks xmlns:a="http://schemas.openxmlformats.org/drawingml/2006/main" noGrp="1"/>
          </p:cNvSpPr>
          <p:nvPr/>
        </p:nvSpPr>
        <p:spPr>
          <a:xfrm xmlns:a="http://schemas.openxmlformats.org/drawingml/2006/main">
            <a:off x="609600" y="2152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100" b="1">
                <a:solidFill>
                  <a:srgbClr val="161616"/>
                </a:solidFill>
                <a:latin typeface="NanumGothic"/>
                <a:ea typeface="NanumGothic"/>
                <a:cs typeface="NanumGothic"/>
              </a:defRPr>
            </a:pPr>
            <a:r>
              <a:rPr sz="5100" b="1">
                <a:solidFill>
                  <a:srgbClr val="161616"/>
                </a:solidFill>
                <a:latin typeface="NanumGothic"/>
                <a:ea typeface="NanumGothic"/>
                <a:cs typeface="NanumGothic"/>
              </a:rPr>
              <a:t>14:40–15:00</a:t>
            </a:r>
          </a:p>
        </p:txBody>
      </p:sp>
      <p:sp>
        <p:nvSpPr>
          <p:cNvPr id="7" name="">
            <a:extLst xmlns:a="http://schemas.openxmlformats.org/drawingml/2006/main">
              <a:ext uri="{FF2B5EF4-FFF2-40B4-BE49-F238E27FC236}">
                <a16:creationId xmlns:a16="http://schemas.microsoft.com/office/drawing/2014/main" id="{285E295B-11F2-41FF-8939-919940E2676C}"/>
              </a:ext>
            </a:extLst>
          </p:cNvPr>
          <p:cNvSpPr>
            <a:spLocks xmlns:a="http://schemas.openxmlformats.org/drawingml/2006/main" noGrp="1"/>
          </p:cNvSpPr>
          <p:nvPr/>
        </p:nvSpPr>
        <p:spPr>
          <a:xfrm xmlns:a="http://schemas.openxmlformats.org/drawingml/2006/main">
            <a:off x="609600" y="37719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850" b="0">
                <a:solidFill>
                  <a:srgbClr val="161616"/>
                </a:solidFill>
                <a:latin typeface="NanumGothic"/>
                <a:ea typeface="NanumGothic"/>
                <a:cs typeface="NanumGothic"/>
              </a:defRPr>
            </a:pPr>
            <a:r>
              <a:rPr sz="2850" b="0">
                <a:solidFill>
                  <a:srgbClr val="161616"/>
                </a:solidFill>
                <a:latin typeface="NanumGothic"/>
                <a:ea typeface="NanumGothic"/>
                <a:cs typeface="NanumGothic"/>
              </a:rPr>
              <a:t>파일 저장 · 15시 수업 시작</a:t>
            </a:r>
          </a:p>
        </p:txBody>
      </p:sp>
    </p:spTree>
    <p:extLst>
      <p:ext uri="{BB962C8B-B14F-4D97-AF65-F5344CB8AC3E}">
        <p14:creationId xmlns:p14="http://schemas.microsoft.com/office/powerpoint/2010/main" val="273045676"/>
      </p:ext>
    </p:extLst>
  </p:cSld>
</p:sld>
</file>

<file path=ppt/slides/slide123.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518ACE-497C-4175-BF8B-A20E61879D0F}"/>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6차시</a:t>
            </a:r>
          </a:p>
        </p:txBody>
      </p:sp>
      <p:sp>
        <p:nvSpPr>
          <p:cNvPr id="2" name="">
            <a:extLst xmlns:a="http://schemas.openxmlformats.org/drawingml/2006/main">
              <a:ext uri="{FF2B5EF4-FFF2-40B4-BE49-F238E27FC236}">
                <a16:creationId xmlns:a16="http://schemas.microsoft.com/office/drawing/2014/main" id="{DCCAAE66-363C-480B-9AA9-EADA35353820}"/>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15:00–15:50</a:t>
            </a:r>
          </a:p>
        </p:txBody>
      </p:sp>
      <p:sp>
        <p:nvSpPr>
          <p:cNvPr id="3" name="">
            <a:extLst xmlns:a="http://schemas.openxmlformats.org/drawingml/2006/main">
              <a:ext uri="{FF2B5EF4-FFF2-40B4-BE49-F238E27FC236}">
                <a16:creationId xmlns:a16="http://schemas.microsoft.com/office/drawing/2014/main" id="{CBC21C2A-1B15-4BA1-8980-DF9945B8415E}"/>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Word 이력서와 사실 검증</a:t>
            </a:r>
          </a:p>
        </p:txBody>
      </p:sp>
      <p:sp>
        <p:nvSpPr>
          <p:cNvPr id="4" name="">
            <a:extLst xmlns:a="http://schemas.openxmlformats.org/drawingml/2006/main">
              <a:ext uri="{FF2B5EF4-FFF2-40B4-BE49-F238E27FC236}">
                <a16:creationId xmlns:a16="http://schemas.microsoft.com/office/drawing/2014/main" id="{39F0586D-DE13-4CB3-95C8-F28753B979A3}"/>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경력 사실을 보존한 문장 개선과 Word 생성</a:t>
            </a:r>
          </a:p>
        </p:txBody>
      </p:sp>
      <p:sp>
        <p:nvSpPr>
          <p:cNvPr id="5" name="">
            <a:extLst xmlns:a="http://schemas.openxmlformats.org/drawingml/2006/main">
              <a:ext uri="{FF2B5EF4-FFF2-40B4-BE49-F238E27FC236}">
                <a16:creationId xmlns:a16="http://schemas.microsoft.com/office/drawing/2014/main" id="{C24B6D8B-31D0-45D7-B309-DC35C3DD15CC}"/>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944F2FD3-CCFC-494A-937C-5E0AF67333B3}"/>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career_facts.json · Resume_After.docx</a:t>
            </a:r>
          </a:p>
        </p:txBody>
      </p:sp>
      <p:sp>
        <p:nvSpPr>
          <p:cNvPr id="7" name="">
            <a:extLst xmlns:a="http://schemas.openxmlformats.org/drawingml/2006/main">
              <a:ext uri="{FF2B5EF4-FFF2-40B4-BE49-F238E27FC236}">
                <a16:creationId xmlns:a16="http://schemas.microsoft.com/office/drawing/2014/main" id="{FBADFEA7-8D77-4B9B-A482-F61F62BBAA2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72B8E05C-8C4C-4B78-B6D0-669852B9F8A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1CF02DCD-0C91-4005-BFD8-9EAB6C822FD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123</a:t>
            </a:r>
          </a:p>
        </p:txBody>
      </p:sp>
    </p:spTree>
    <p:extLst>
      <p:ext uri="{BB962C8B-B14F-4D97-AF65-F5344CB8AC3E}">
        <p14:creationId xmlns:p14="http://schemas.microsoft.com/office/powerpoint/2010/main" val="1295612390"/>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044790-0B56-4789-A218-CBA21B35DDD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시연</a:t>
            </a:r>
          </a:p>
        </p:txBody>
      </p:sp>
      <p:sp>
        <p:nvSpPr>
          <p:cNvPr id="2" name="">
            <a:extLst xmlns:a="http://schemas.openxmlformats.org/drawingml/2006/main">
              <a:ext uri="{FF2B5EF4-FFF2-40B4-BE49-F238E27FC236}">
                <a16:creationId xmlns:a16="http://schemas.microsoft.com/office/drawing/2014/main" id="{FCC29229-FA24-498D-B075-98240187943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Word 이력서 개선 전</a:t>
            </a:r>
          </a:p>
        </p:txBody>
      </p:sp>
      <p:sp>
        <p:nvSpPr>
          <p:cNvPr id="3" name="">
            <a:extLst xmlns:a="http://schemas.openxmlformats.org/drawingml/2006/main">
              <a:ext uri="{FF2B5EF4-FFF2-40B4-BE49-F238E27FC236}">
                <a16:creationId xmlns:a16="http://schemas.microsoft.com/office/drawing/2014/main" id="{07FF616E-53F3-40FB-9A8A-EF633628A63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03857EB-3C2D-4A12-B625-B26F3B8FA05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0AEF2E5-6DB9-434F-B40D-E48A380C8EE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bf1b16292f54781"/>
          <a:stretch xmlns:a="http://schemas.openxmlformats.org/drawingml/2006/main"/>
        </p:blipFill>
        <p:spPr>
          <a:xfrm xmlns:a="http://schemas.openxmlformats.org/drawingml/2006/main">
            <a:off x="882015" y="1666875"/>
            <a:ext cx="10427970"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EA2103-5D19-4939-A1CD-CC9AC6EC9E2E}"/>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개선 전 상단 확대 · 같은 경력 사실의 긴 문장·중복 표현</a:t>
            </a:r>
          </a:p>
        </p:txBody>
      </p:sp>
    </p:spTree>
    <p:extLst>
      <p:ext uri="{BB962C8B-B14F-4D97-AF65-F5344CB8AC3E}">
        <p14:creationId xmlns:p14="http://schemas.microsoft.com/office/powerpoint/2010/main" val="744094177"/>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E2275E-83C6-422D-A8C8-C3B0FCF2293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이론</a:t>
            </a:r>
          </a:p>
        </p:txBody>
      </p:sp>
      <p:sp>
        <p:nvSpPr>
          <p:cNvPr id="2" name="">
            <a:extLst xmlns:a="http://schemas.openxmlformats.org/drawingml/2006/main">
              <a:ext uri="{FF2B5EF4-FFF2-40B4-BE49-F238E27FC236}">
                <a16:creationId xmlns:a16="http://schemas.microsoft.com/office/drawing/2014/main" id="{F9CE0E49-6248-4E0D-8D15-937696F6238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경력 문장의 구성</a:t>
            </a:r>
          </a:p>
        </p:txBody>
      </p:sp>
      <p:sp>
        <p:nvSpPr>
          <p:cNvPr id="3" name="">
            <a:extLst xmlns:a="http://schemas.openxmlformats.org/drawingml/2006/main">
              <a:ext uri="{FF2B5EF4-FFF2-40B4-BE49-F238E27FC236}">
                <a16:creationId xmlns:a16="http://schemas.microsoft.com/office/drawing/2014/main" id="{C6BF1FA0-6F0F-4BF5-8439-B5153415284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B8A4873-070D-4F6F-9515-C0AD80D1599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84972EF-426F-4C8A-A2D9-916729D1939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요소</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질문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예시</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상황</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어떤 업무 문제였나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수작업 말하기·글쓰기 평가</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Role</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어떤 일을 맡았나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AI 개발·운영 총괄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실행</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무엇을 만들었나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평가 시스템과 운영 흐름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결과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무엇이 달라졌나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처리시간 단축</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근거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어떤 사실에 기반하나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career_facts.json의 ID</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2084013881"/>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FC0352-2A9E-4943-9066-76CB56F8BB2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이론</a:t>
            </a:r>
          </a:p>
        </p:txBody>
      </p:sp>
      <p:sp>
        <p:nvSpPr>
          <p:cNvPr id="2" name="">
            <a:extLst xmlns:a="http://schemas.openxmlformats.org/drawingml/2006/main">
              <a:ext uri="{FF2B5EF4-FFF2-40B4-BE49-F238E27FC236}">
                <a16:creationId xmlns:a16="http://schemas.microsoft.com/office/drawing/2014/main" id="{C381023A-E4CA-4D81-BFAC-9A7813EBEED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개선과 사실 변경</a:t>
            </a:r>
          </a:p>
        </p:txBody>
      </p:sp>
      <p:sp>
        <p:nvSpPr>
          <p:cNvPr id="3" name="">
            <a:extLst xmlns:a="http://schemas.openxmlformats.org/drawingml/2006/main">
              <a:ext uri="{FF2B5EF4-FFF2-40B4-BE49-F238E27FC236}">
                <a16:creationId xmlns:a16="http://schemas.microsoft.com/office/drawing/2014/main" id="{5A2DF4DE-251E-411A-9FE9-4F986BEF7A9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5219908-F2D0-4BB9-98C7-521590AF48E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C0EF1E0-586A-40FA-9CD4-35299E9CBAE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작업</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허용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필요</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문장 정리</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중복 제거·명사 통일</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의미가 달라진 표현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성과 강조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제공한 수치 재사용</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수치·비율</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업무 범위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제공한 Role 설명</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참여를 총괄로 변경</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경력 구조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산업별 묶음</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재직 기간·직함</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65452967"/>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CEAEFE-0BC4-4C1F-863A-053A03B6BF7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이론</a:t>
            </a:r>
          </a:p>
        </p:txBody>
      </p:sp>
      <p:sp>
        <p:nvSpPr>
          <p:cNvPr id="2" name="">
            <a:extLst xmlns:a="http://schemas.openxmlformats.org/drawingml/2006/main">
              <a:ext uri="{FF2B5EF4-FFF2-40B4-BE49-F238E27FC236}">
                <a16:creationId xmlns:a16="http://schemas.microsoft.com/office/drawing/2014/main" id="{B7222923-4E22-41C6-A657-A12C12744AE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Fact map</a:t>
            </a:r>
          </a:p>
        </p:txBody>
      </p:sp>
      <p:sp>
        <p:nvSpPr>
          <p:cNvPr id="3" name="">
            <a:extLst xmlns:a="http://schemas.openxmlformats.org/drawingml/2006/main">
              <a:ext uri="{FF2B5EF4-FFF2-40B4-BE49-F238E27FC236}">
                <a16:creationId xmlns:a16="http://schemas.microsoft.com/office/drawing/2014/main" id="{137E47D4-556D-4187-A9DC-291570169BA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4BAA48D-3F4A-4279-9BEE-0AD0B239E2C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09578C8-9DBB-4861-B908-E874599D2D6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용도</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fact_id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문장을 원래 사실에 연결</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원문</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사용자가 제공한 경력</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개선안</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더 읽기 쉬운 설명</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검사 결과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숫자·누락된 근거 탐지</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사람 확인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의미·범위·톤앤매너 검토</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773378979"/>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36747DE-B4ED-40B9-98C3-B9E93562E6D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C118D5EF-0724-4DCE-8EF7-7B647B5C438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경력 원문 JSON 열기</a:t>
            </a:r>
          </a:p>
        </p:txBody>
      </p:sp>
      <p:sp>
        <p:nvSpPr>
          <p:cNvPr id="3" name="">
            <a:extLst xmlns:a="http://schemas.openxmlformats.org/drawingml/2006/main">
              <a:ext uri="{FF2B5EF4-FFF2-40B4-BE49-F238E27FC236}">
                <a16:creationId xmlns:a16="http://schemas.microsoft.com/office/drawing/2014/main" id="{9AC32BA4-270A-47B9-A0A8-2B8D6D9BA3E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3236D06-BA69-4439-81F5-A0EEDEED7EA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5F416CD-4DBA-492C-AA92-6EB9B08A1C0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128</a:t>
            </a:r>
          </a:p>
        </p:txBody>
      </p:sp>
      <p:sp>
        <p:nvSpPr>
          <p:cNvPr id="6" name="">
            <a:extLst xmlns:a="http://schemas.openxmlformats.org/drawingml/2006/main">
              <a:ext uri="{FF2B5EF4-FFF2-40B4-BE49-F238E27FC236}">
                <a16:creationId xmlns:a16="http://schemas.microsoft.com/office/drawing/2014/main" id="{F2155B87-95A0-4812-8BAF-5A1DF8EE05A7}"/>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DBC1976-4DAC-4DF5-B4A6-FCC78C3F2864}"/>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VS Code 탐색기에서 documents 폴더의 JSON 열기</a:t>
            </a:r>
          </a:p>
        </p:txBody>
      </p:sp>
      <p:sp>
        <p:nvSpPr>
          <p:cNvPr id="8" name="">
            <a:extLst xmlns:a="http://schemas.openxmlformats.org/drawingml/2006/main">
              <a:ext uri="{FF2B5EF4-FFF2-40B4-BE49-F238E27FC236}">
                <a16:creationId xmlns:a16="http://schemas.microsoft.com/office/drawing/2014/main" id="{1DA34AFF-DFEB-466E-ABBF-5D4481BEE7EE}"/>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9CC3664B-86F4-4532-A50D-B6103C56FD04}"/>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파일 안에서 medical-polyp 검색</a:t>
            </a:r>
          </a:p>
        </p:txBody>
      </p:sp>
      <p:sp>
        <p:nvSpPr>
          <p:cNvPr id="10" name="">
            <a:extLst xmlns:a="http://schemas.openxmlformats.org/drawingml/2006/main">
              <a:ext uri="{FF2B5EF4-FFF2-40B4-BE49-F238E27FC236}">
                <a16:creationId xmlns:a16="http://schemas.microsoft.com/office/drawing/2014/main" id="{54E279B2-649D-44DF-AA1A-A6CC2AC43DBA}"/>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587AAF8C-41E2-4CEF-80EA-19C40F685944}"/>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text의 원문과 rewrite의 수정 문장 비교</a:t>
            </a:r>
          </a:p>
        </p:txBody>
      </p:sp>
      <p:sp>
        <p:nvSpPr>
          <p:cNvPr id="12" name="">
            <a:extLst xmlns:a="http://schemas.openxmlformats.org/drawingml/2006/main">
              <a:ext uri="{FF2B5EF4-FFF2-40B4-BE49-F238E27FC236}">
                <a16:creationId xmlns:a16="http://schemas.microsoft.com/office/drawing/2014/main" id="{9CCA4A83-986E-46E9-86CF-562A07ED4A59}"/>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8439916D-C17D-4439-AA60-017E5F3D9E84}"/>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원본 저장 없이 Notebook의 my_rewrites에서 수정</a:t>
            </a:r>
          </a:p>
        </p:txBody>
      </p:sp>
      <p:sp>
        <p:nvSpPr>
          <p:cNvPr id="14" name="">
            <a:extLst xmlns:a="http://schemas.openxmlformats.org/drawingml/2006/main">
              <a:ext uri="{FF2B5EF4-FFF2-40B4-BE49-F238E27FC236}">
                <a16:creationId xmlns:a16="http://schemas.microsoft.com/office/drawing/2014/main" id="{AEF08B86-18CD-49B0-8E73-1AEA05C1DB71}"/>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9FA42F3D-3556-44BA-91B8-1A6D5E1D78D8}"/>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labs/day4/office_lab/documents/career_facts.json</a:t>
            </a:r>
          </a:p>
        </p:txBody>
      </p:sp>
      <p:sp>
        <p:nvSpPr>
          <p:cNvPr id="16" name="">
            <a:extLst xmlns:a="http://schemas.openxmlformats.org/drawingml/2006/main">
              <a:ext uri="{FF2B5EF4-FFF2-40B4-BE49-F238E27FC236}">
                <a16:creationId xmlns:a16="http://schemas.microsoft.com/office/drawing/2014/main" id="{FAD0F5FC-B185-44AA-8188-3723223F752C}"/>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id는 근거 연결 / text는 원문 / rewrite는 수정 초안</a:t>
            </a:r>
          </a:p>
        </p:txBody>
      </p:sp>
    </p:spTree>
    <p:extLst>
      <p:ext uri="{BB962C8B-B14F-4D97-AF65-F5344CB8AC3E}">
        <p14:creationId xmlns:p14="http://schemas.microsoft.com/office/powerpoint/2010/main" val="679232778"/>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6DE545-680A-4E4D-9245-F8C03B748B8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7CB3AE7D-CCED-47A2-985B-02731B55030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Fact ID의 원문 조회</a:t>
            </a:r>
          </a:p>
        </p:txBody>
      </p:sp>
      <p:sp>
        <p:nvSpPr>
          <p:cNvPr id="3" name="">
            <a:extLst xmlns:a="http://schemas.openxmlformats.org/drawingml/2006/main">
              <a:ext uri="{FF2B5EF4-FFF2-40B4-BE49-F238E27FC236}">
                <a16:creationId xmlns:a16="http://schemas.microsoft.com/office/drawing/2014/main" id="{5D63E65B-AFC2-44E8-90CE-9575F0FC866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220EA4DD-8D67-459A-8D58-4C90AEAB7B0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4C7A3E8-FDF6-4C2A-91FB-243DCCA37E7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129</a:t>
            </a:r>
          </a:p>
        </p:txBody>
      </p:sp>
      <p:sp>
        <p:nvSpPr>
          <p:cNvPr id="6" name="">
            <a:extLst xmlns:a="http://schemas.openxmlformats.org/drawingml/2006/main">
              <a:ext uri="{FF2B5EF4-FFF2-40B4-BE49-F238E27FC236}">
                <a16:creationId xmlns:a16="http://schemas.microsoft.com/office/drawing/2014/main" id="{BF8A00E1-5912-4DDA-B889-354B0733B78A}"/>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9EB5D7-5752-4914-B0FB-E34EF588BBDF}"/>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known =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fact["id"]: fact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for role in facts["roles"] for fact in role["facts"]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source_fact = known["medical-polyp"]</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print(source_fact["text"])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print(source_fact["rewrite"])</a:t>
            </a:r>
          </a:p>
        </p:txBody>
      </p:sp>
      <p:sp>
        <p:nvSpPr>
          <p:cNvPr id="8" name="">
            <a:extLst xmlns:a="http://schemas.openxmlformats.org/drawingml/2006/main">
              <a:ext uri="{FF2B5EF4-FFF2-40B4-BE49-F238E27FC236}">
                <a16:creationId xmlns:a16="http://schemas.microsoft.com/office/drawing/2014/main" id="{81FBBE93-1368-4FBC-9A22-B880BAC7E4E8}"/>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Notebook 6차시의 read_fact_map 셀 실행 후</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문장 위치가 바뀌어도 같은 ID로 원문 조회</a:t>
            </a:r>
          </a:p>
        </p:txBody>
      </p:sp>
    </p:spTree>
    <p:extLst>
      <p:ext uri="{BB962C8B-B14F-4D97-AF65-F5344CB8AC3E}">
        <p14:creationId xmlns:p14="http://schemas.microsoft.com/office/powerpoint/2010/main" val="27273271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7568B4-E594-49CC-888C-278091F35A6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시연</a:t>
            </a:r>
          </a:p>
        </p:txBody>
      </p:sp>
      <p:sp>
        <p:nvSpPr>
          <p:cNvPr id="2" name="">
            <a:extLst xmlns:a="http://schemas.openxmlformats.org/drawingml/2006/main">
              <a:ext uri="{FF2B5EF4-FFF2-40B4-BE49-F238E27FC236}">
                <a16:creationId xmlns:a16="http://schemas.microsoft.com/office/drawing/2014/main" id="{7EEE254F-E6B1-4842-AD6D-A45C3541C42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이력서 개선 요청</a:t>
            </a:r>
          </a:p>
        </p:txBody>
      </p:sp>
      <p:sp>
        <p:nvSpPr>
          <p:cNvPr id="3" name="">
            <a:extLst xmlns:a="http://schemas.openxmlformats.org/drawingml/2006/main">
              <a:ext uri="{FF2B5EF4-FFF2-40B4-BE49-F238E27FC236}">
                <a16:creationId xmlns:a16="http://schemas.microsoft.com/office/drawing/2014/main" id="{AAEAEF0B-2C2C-4E4D-974B-6C14FA4104D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B00C9BD-9239-42AA-BB65-A5FDCB33F0A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FDDCB13-2EF5-462D-B7D5-FF3AFF33A60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130</a:t>
            </a:r>
          </a:p>
        </p:txBody>
      </p:sp>
      <p:sp>
        <p:nvSpPr>
          <p:cNvPr id="6" name="">
            <a:extLst xmlns:a="http://schemas.openxmlformats.org/drawingml/2006/main">
              <a:ext uri="{FF2B5EF4-FFF2-40B4-BE49-F238E27FC236}">
                <a16:creationId xmlns:a16="http://schemas.microsoft.com/office/drawing/2014/main" id="{2D396E87-E6D1-4D4D-8611-549E6301248D}"/>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B3F50A88-38CA-41D0-848A-F6DDC972A847}"/>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A341242-2E73-4281-B1E6-7116DEC4DDD9}"/>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career_facts.json의 사실만 사용해 Word 이력서를 개선해 줘. 새로운 숫자·직함·재직 기간은 만들지 마. 산업별 경험은 문제·Role·실행·결과 순서로 정리하고, 바뀐 문장마다 근거 fact_id를 함께 보여 줘.</a:t>
            </a:r>
          </a:p>
        </p:txBody>
      </p:sp>
      <p:sp>
        <p:nvSpPr>
          <p:cNvPr id="9" name="">
            <a:extLst xmlns:a="http://schemas.openxmlformats.org/drawingml/2006/main">
              <a:ext uri="{FF2B5EF4-FFF2-40B4-BE49-F238E27FC236}">
                <a16:creationId xmlns:a16="http://schemas.microsoft.com/office/drawing/2014/main" id="{2E4F2DD4-9F55-4922-8D4C-75D20B94BD21}"/>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FCDF6297-B255-4923-A22D-3EA0DBE426AD}"/>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사실 연결 · 새 주장 여부 · 읽기 흐름</a:t>
            </a:r>
          </a:p>
        </p:txBody>
      </p:sp>
    </p:spTree>
    <p:extLst>
      <p:ext uri="{BB962C8B-B14F-4D97-AF65-F5344CB8AC3E}">
        <p14:creationId xmlns:p14="http://schemas.microsoft.com/office/powerpoint/2010/main" val="277826129"/>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0C9EA9-E223-430C-A385-3E5A9337100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시연</a:t>
            </a:r>
          </a:p>
        </p:txBody>
      </p:sp>
      <p:sp>
        <p:nvSpPr>
          <p:cNvPr id="2" name="">
            <a:extLst xmlns:a="http://schemas.openxmlformats.org/drawingml/2006/main">
              <a:ext uri="{FF2B5EF4-FFF2-40B4-BE49-F238E27FC236}">
                <a16:creationId xmlns:a16="http://schemas.microsoft.com/office/drawing/2014/main" id="{2A4B0E74-EC65-445D-A67A-07BCC99AA07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Word 이력서 개선 후</a:t>
            </a:r>
          </a:p>
        </p:txBody>
      </p:sp>
      <p:sp>
        <p:nvSpPr>
          <p:cNvPr id="3" name="">
            <a:extLst xmlns:a="http://schemas.openxmlformats.org/drawingml/2006/main">
              <a:ext uri="{FF2B5EF4-FFF2-40B4-BE49-F238E27FC236}">
                <a16:creationId xmlns:a16="http://schemas.microsoft.com/office/drawing/2014/main" id="{538F8DFB-FAB2-42A4-8603-75AB992151E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4BC94C6-2682-483C-83A2-6C403A285CD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35683B8-C24A-4D82-AD2C-6B31CEBDB16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4aa6f473644498"/>
          <a:stretch xmlns:a="http://schemas.openxmlformats.org/drawingml/2006/main"/>
        </p:blipFill>
        <p:spPr>
          <a:xfrm xmlns:a="http://schemas.openxmlformats.org/drawingml/2006/main">
            <a:off x="639504" y="1666875"/>
            <a:ext cx="10912992"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E26C1DA-232A-4897-A1BB-57B075719112}"/>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개선 후 상단 확대 · 전체 내용은 편집 가능한 DOCX 제공</a:t>
            </a:r>
          </a:p>
        </p:txBody>
      </p:sp>
    </p:spTree>
    <p:extLst>
      <p:ext uri="{BB962C8B-B14F-4D97-AF65-F5344CB8AC3E}">
        <p14:creationId xmlns:p14="http://schemas.microsoft.com/office/powerpoint/2010/main" val="249147420"/>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7EDD43-4FE9-43A5-ADE1-1059D4FB977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시연</a:t>
            </a:r>
          </a:p>
        </p:txBody>
      </p:sp>
      <p:sp>
        <p:nvSpPr>
          <p:cNvPr id="2" name="">
            <a:extLst xmlns:a="http://schemas.openxmlformats.org/drawingml/2006/main">
              <a:ext uri="{FF2B5EF4-FFF2-40B4-BE49-F238E27FC236}">
                <a16:creationId xmlns:a16="http://schemas.microsoft.com/office/drawing/2014/main" id="{19C337B3-69A7-4A1A-8043-CA714417F47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Word 생성 코드</a:t>
            </a:r>
          </a:p>
        </p:txBody>
      </p:sp>
      <p:sp>
        <p:nvSpPr>
          <p:cNvPr id="3" name="">
            <a:extLst xmlns:a="http://schemas.openxmlformats.org/drawingml/2006/main">
              <a:ext uri="{FF2B5EF4-FFF2-40B4-BE49-F238E27FC236}">
                <a16:creationId xmlns:a16="http://schemas.microsoft.com/office/drawing/2014/main" id="{D7877940-4070-443F-8F5A-0DF30220D25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AFD2745-3F6F-416A-9DBA-EFAB533C9EB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73B7AD7-D219-4E88-9271-9160944D12B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132</a:t>
            </a:r>
          </a:p>
        </p:txBody>
      </p:sp>
      <p:sp>
        <p:nvSpPr>
          <p:cNvPr id="6" name="">
            <a:extLst xmlns:a="http://schemas.openxmlformats.org/drawingml/2006/main">
              <a:ext uri="{FF2B5EF4-FFF2-40B4-BE49-F238E27FC236}">
                <a16:creationId xmlns:a16="http://schemas.microsoft.com/office/drawing/2014/main" id="{A9AD3399-9CE5-41C8-96DB-571688C3A2A8}"/>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8D5B13-A98B-4EB8-833C-D079BEF78C4B}"/>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python -m labs.day4.office_lab.documents.resume_lab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--variant after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--output outputs/day4-student/Resume_Mine.docx</a:t>
            </a:r>
          </a:p>
        </p:txBody>
      </p:sp>
      <p:sp>
        <p:nvSpPr>
          <p:cNvPr id="8" name="">
            <a:extLst xmlns:a="http://schemas.openxmlformats.org/drawingml/2006/main">
              <a:ext uri="{FF2B5EF4-FFF2-40B4-BE49-F238E27FC236}">
                <a16:creationId xmlns:a16="http://schemas.microsoft.com/office/drawing/2014/main" id="{B7D15900-296F-4529-A30B-01BA91C41226}"/>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python-docx · API key 불필요</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출력 폴더는 작업 공간 내부</a:t>
            </a:r>
          </a:p>
        </p:txBody>
      </p:sp>
    </p:spTree>
    <p:extLst>
      <p:ext uri="{BB962C8B-B14F-4D97-AF65-F5344CB8AC3E}">
        <p14:creationId xmlns:p14="http://schemas.microsoft.com/office/powerpoint/2010/main" val="721310568"/>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3F2185-4E5A-4A5F-B0A9-940ED952445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1C5629D0-179D-4E89-AF41-C3AA4F154FC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경력 문장 한 개 개선</a:t>
            </a:r>
          </a:p>
        </p:txBody>
      </p:sp>
      <p:sp>
        <p:nvSpPr>
          <p:cNvPr id="3" name="">
            <a:extLst xmlns:a="http://schemas.openxmlformats.org/drawingml/2006/main">
              <a:ext uri="{FF2B5EF4-FFF2-40B4-BE49-F238E27FC236}">
                <a16:creationId xmlns:a16="http://schemas.microsoft.com/office/drawing/2014/main" id="{4C4DA244-26E7-4ADE-B63A-61D7CE06E6E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27EC5FB-2135-4021-87CE-9ACC323BEA3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0420E3C-FFC5-4E53-BB6B-80B8FDEC9F1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133</a:t>
            </a:r>
          </a:p>
        </p:txBody>
      </p:sp>
      <p:sp>
        <p:nvSpPr>
          <p:cNvPr id="6" name="">
            <a:extLst xmlns:a="http://schemas.openxmlformats.org/drawingml/2006/main">
              <a:ext uri="{FF2B5EF4-FFF2-40B4-BE49-F238E27FC236}">
                <a16:creationId xmlns:a16="http://schemas.microsoft.com/office/drawing/2014/main" id="{19CB7606-F020-4EC4-A9D1-54FF41943CAF}"/>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CA6D50E4-1CB7-4DF0-8D59-A4EDBFEA7635}"/>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Fact map에서 문장 하나 선택</a:t>
            </a:r>
          </a:p>
        </p:txBody>
      </p:sp>
      <p:sp>
        <p:nvSpPr>
          <p:cNvPr id="8" name="">
            <a:extLst xmlns:a="http://schemas.openxmlformats.org/drawingml/2006/main">
              <a:ext uri="{FF2B5EF4-FFF2-40B4-BE49-F238E27FC236}">
                <a16:creationId xmlns:a16="http://schemas.microsoft.com/office/drawing/2014/main" id="{3BE06069-0769-4B70-AA53-1CD8B6A9FC3C}"/>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EBB55387-BAE6-467B-A5BA-D930561FB242}"/>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의미는 유지하고 길이·순서 개선</a:t>
            </a:r>
          </a:p>
        </p:txBody>
      </p:sp>
      <p:sp>
        <p:nvSpPr>
          <p:cNvPr id="10" name="">
            <a:extLst xmlns:a="http://schemas.openxmlformats.org/drawingml/2006/main">
              <a:ext uri="{FF2B5EF4-FFF2-40B4-BE49-F238E27FC236}">
                <a16:creationId xmlns:a16="http://schemas.microsoft.com/office/drawing/2014/main" id="{9D0085F3-3335-460E-9334-F07099C09139}"/>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BBAD9837-2175-400A-B422-CE42FDEA5F4A}"/>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audit_rewrite로 자동 검사</a:t>
            </a:r>
          </a:p>
        </p:txBody>
      </p:sp>
      <p:sp>
        <p:nvSpPr>
          <p:cNvPr id="12" name="">
            <a:extLst xmlns:a="http://schemas.openxmlformats.org/drawingml/2006/main">
              <a:ext uri="{FF2B5EF4-FFF2-40B4-BE49-F238E27FC236}">
                <a16:creationId xmlns:a16="http://schemas.microsoft.com/office/drawing/2014/main" id="{0FC0DDB8-3080-45E2-8EE2-A1358D03302E}"/>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30A9D9A1-03D6-48B6-92EB-FE63A821CACD}"/>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career_facts.json · Notebook 6차시</a:t>
            </a:r>
          </a:p>
        </p:txBody>
      </p:sp>
      <p:sp>
        <p:nvSpPr>
          <p:cNvPr id="14" name="">
            <a:extLst xmlns:a="http://schemas.openxmlformats.org/drawingml/2006/main">
              <a:ext uri="{FF2B5EF4-FFF2-40B4-BE49-F238E27FC236}">
                <a16:creationId xmlns:a16="http://schemas.microsoft.com/office/drawing/2014/main" id="{D0B73C38-5911-464D-9CDD-19075AFD4036}"/>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fact_id 유지 · 새 숫자 없음</a:t>
            </a:r>
          </a:p>
        </p:txBody>
      </p:sp>
    </p:spTree>
    <p:extLst>
      <p:ext uri="{BB962C8B-B14F-4D97-AF65-F5344CB8AC3E}">
        <p14:creationId xmlns:p14="http://schemas.microsoft.com/office/powerpoint/2010/main" val="620056065"/>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73D4E6-2C3A-4E9C-831A-86B1A9447FD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7DAE65CB-9BB9-46D9-9DE7-13502801BD0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문장 수정안의 자동 검사</a:t>
            </a:r>
          </a:p>
        </p:txBody>
      </p:sp>
      <p:sp>
        <p:nvSpPr>
          <p:cNvPr id="3" name="">
            <a:extLst xmlns:a="http://schemas.openxmlformats.org/drawingml/2006/main">
              <a:ext uri="{FF2B5EF4-FFF2-40B4-BE49-F238E27FC236}">
                <a16:creationId xmlns:a16="http://schemas.microsoft.com/office/drawing/2014/main" id="{57685C1A-2C0F-486F-A888-B48195D312B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D5C0E11-9162-43CF-9237-73E5327357F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FAF3044-06C6-4BE9-B8A3-60A81332D66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134</a:t>
            </a:r>
          </a:p>
        </p:txBody>
      </p:sp>
      <p:sp>
        <p:nvSpPr>
          <p:cNvPr id="6" name="">
            <a:extLst xmlns:a="http://schemas.openxmlformats.org/drawingml/2006/main">
              <a:ext uri="{FF2B5EF4-FFF2-40B4-BE49-F238E27FC236}">
                <a16:creationId xmlns:a16="http://schemas.microsoft.com/office/drawing/2014/main" id="{A906E11D-2413-468B-8B64-34048E1FEDED}"/>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158B42-9971-4C14-87D9-5BCD23CD2987}"/>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my_rewrites =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"medical-polyp":</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"대장내시경 영상 기반 용종 탐지·진단 서비스 총괄 개발과 운영"</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report = audit_rewrite(facts, my_rewrites)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print(report["numeric_guard"])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print(report["semantic_claims_verified"])</a:t>
            </a:r>
          </a:p>
        </p:txBody>
      </p:sp>
      <p:sp>
        <p:nvSpPr>
          <p:cNvPr id="8" name="">
            <a:extLst xmlns:a="http://schemas.openxmlformats.org/drawingml/2006/main">
              <a:ext uri="{FF2B5EF4-FFF2-40B4-BE49-F238E27FC236}">
                <a16:creationId xmlns:a16="http://schemas.microsoft.com/office/drawing/2014/main" id="{783E6E44-E4D9-449D-8B98-416E9F451325}"/>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새 숫자 검사 PASS / 의미 검증 False</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자동 검사 후에도 Role과 업무 범위는 원문 대조</a:t>
            </a:r>
          </a:p>
        </p:txBody>
      </p:sp>
    </p:spTree>
    <p:extLst>
      <p:ext uri="{BB962C8B-B14F-4D97-AF65-F5344CB8AC3E}">
        <p14:creationId xmlns:p14="http://schemas.microsoft.com/office/powerpoint/2010/main" val="1679610835"/>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81FC87-CE04-4F59-BC96-73A7E24C9EE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87282B5F-0892-4B7E-9BEC-6213C00C1E6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의도한 과장 검사</a:t>
            </a:r>
          </a:p>
        </p:txBody>
      </p:sp>
      <p:sp>
        <p:nvSpPr>
          <p:cNvPr id="3" name="">
            <a:extLst xmlns:a="http://schemas.openxmlformats.org/drawingml/2006/main">
              <a:ext uri="{FF2B5EF4-FFF2-40B4-BE49-F238E27FC236}">
                <a16:creationId xmlns:a16="http://schemas.microsoft.com/office/drawing/2014/main" id="{11C46C3C-CF53-4904-8DCC-15042860F0C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171C2BF-FF10-41FC-8380-B25111FDA5F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B07F453-C55A-46B8-9595-6948B94BD71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135</a:t>
            </a:r>
          </a:p>
        </p:txBody>
      </p:sp>
      <p:sp>
        <p:nvSpPr>
          <p:cNvPr id="6" name="">
            <a:extLst xmlns:a="http://schemas.openxmlformats.org/drawingml/2006/main">
              <a:ext uri="{FF2B5EF4-FFF2-40B4-BE49-F238E27FC236}">
                <a16:creationId xmlns:a16="http://schemas.microsoft.com/office/drawing/2014/main" id="{0ACAF669-4B66-4F36-8A6E-DFA096DA3280}"/>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11474129-0926-4213-943A-1CB9C420828A}"/>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복사한 개선안에 새 숫자 추가</a:t>
            </a:r>
          </a:p>
        </p:txBody>
      </p:sp>
      <p:sp>
        <p:nvSpPr>
          <p:cNvPr id="8" name="">
            <a:extLst xmlns:a="http://schemas.openxmlformats.org/drawingml/2006/main">
              <a:ext uri="{FF2B5EF4-FFF2-40B4-BE49-F238E27FC236}">
                <a16:creationId xmlns:a16="http://schemas.microsoft.com/office/drawing/2014/main" id="{AE4BCC79-D6BC-457B-B31F-C6DE541F50D3}"/>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2D1E2BA4-79D9-40CF-BE8B-3F034CF141F3}"/>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자동 검사에서 차단 확인</a:t>
            </a:r>
          </a:p>
        </p:txBody>
      </p:sp>
      <p:sp>
        <p:nvSpPr>
          <p:cNvPr id="10" name="">
            <a:extLst xmlns:a="http://schemas.openxmlformats.org/drawingml/2006/main">
              <a:ext uri="{FF2B5EF4-FFF2-40B4-BE49-F238E27FC236}">
                <a16:creationId xmlns:a16="http://schemas.microsoft.com/office/drawing/2014/main" id="{D7FA8713-58C2-4D79-BA4B-A9E5DB4BDB40}"/>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CC68C7DC-5673-4ADB-AD22-A242992738E0}"/>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숫자를 제거하고 다시 검사</a:t>
            </a:r>
          </a:p>
        </p:txBody>
      </p:sp>
      <p:sp>
        <p:nvSpPr>
          <p:cNvPr id="12" name="">
            <a:extLst xmlns:a="http://schemas.openxmlformats.org/drawingml/2006/main">
              <a:ext uri="{FF2B5EF4-FFF2-40B4-BE49-F238E27FC236}">
                <a16:creationId xmlns:a16="http://schemas.microsoft.com/office/drawing/2014/main" id="{B66D6970-B9E2-4422-82C0-9BCE2CB804C0}"/>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5FA630C9-81E8-46D6-8158-9C1BC8642409}"/>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6차시 · audit_rewrite</a:t>
            </a:r>
          </a:p>
        </p:txBody>
      </p:sp>
      <p:sp>
        <p:nvSpPr>
          <p:cNvPr id="14" name="">
            <a:extLst xmlns:a="http://schemas.openxmlformats.org/drawingml/2006/main">
              <a:ext uri="{FF2B5EF4-FFF2-40B4-BE49-F238E27FC236}">
                <a16:creationId xmlns:a16="http://schemas.microsoft.com/office/drawing/2014/main" id="{FB0DC857-49D4-489F-AF01-73E864D138D7}"/>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새 숫자 차단 · 통과 후에도 사람 검토</a:t>
            </a:r>
          </a:p>
        </p:txBody>
      </p:sp>
    </p:spTree>
    <p:extLst>
      <p:ext uri="{BB962C8B-B14F-4D97-AF65-F5344CB8AC3E}">
        <p14:creationId xmlns:p14="http://schemas.microsoft.com/office/powerpoint/2010/main" val="1159298827"/>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7852E9-9DA3-470D-8F9F-8B28A18C1E4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6018CDCD-3A8B-4ED4-B571-C7373F0ADEB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숫자 없는 과장의 검사 한계</a:t>
            </a:r>
          </a:p>
        </p:txBody>
      </p:sp>
      <p:sp>
        <p:nvSpPr>
          <p:cNvPr id="3" name="">
            <a:extLst xmlns:a="http://schemas.openxmlformats.org/drawingml/2006/main">
              <a:ext uri="{FF2B5EF4-FFF2-40B4-BE49-F238E27FC236}">
                <a16:creationId xmlns:a16="http://schemas.microsoft.com/office/drawing/2014/main" id="{375B7640-1235-4BBD-B1C9-499475631BC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D304E34-893E-43DF-AFA7-74416C50DC0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3459884-AFB8-454E-9D88-51300CE7506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136</a:t>
            </a:r>
          </a:p>
        </p:txBody>
      </p:sp>
      <p:sp>
        <p:nvSpPr>
          <p:cNvPr id="6" name="">
            <a:extLst xmlns:a="http://schemas.openxmlformats.org/drawingml/2006/main">
              <a:ext uri="{FF2B5EF4-FFF2-40B4-BE49-F238E27FC236}">
                <a16:creationId xmlns:a16="http://schemas.microsoft.com/office/drawing/2014/main" id="{4F8CBE50-61BC-446F-86C1-CA74552535A7}"/>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E35AB8-C7C2-4E47-A981-2FED105426A7}"/>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bad_proposal =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"medical-polyp": "전 세계 모든 병원의 진단 서비스를 총괄"</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limit = audit_rewrite(facts, bad_proposal)</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print(limit["numeric_guard"])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print(limit["semantic_claims_verified"])</a:t>
            </a:r>
          </a:p>
        </p:txBody>
      </p:sp>
      <p:sp>
        <p:nvSpPr>
          <p:cNvPr id="8" name="">
            <a:extLst xmlns:a="http://schemas.openxmlformats.org/drawingml/2006/main">
              <a:ext uri="{FF2B5EF4-FFF2-40B4-BE49-F238E27FC236}">
                <a16:creationId xmlns:a16="http://schemas.microsoft.com/office/drawing/2014/main" id="{19C0BD8D-EC39-4218-819E-B9C8FFAC5253}"/>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검사 한계용 허위 문장 / DOCX 저장 금지</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숫자가 없어 PASS여도, 원문에 없는 주장</a:t>
            </a:r>
          </a:p>
        </p:txBody>
      </p:sp>
    </p:spTree>
    <p:extLst>
      <p:ext uri="{BB962C8B-B14F-4D97-AF65-F5344CB8AC3E}">
        <p14:creationId xmlns:p14="http://schemas.microsoft.com/office/powerpoint/2010/main" val="2092026810"/>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230C8BA-F722-456B-BAD7-5D35E13A619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0024DBAF-E9BA-469E-A3ED-1D4084AA0D2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Word 스타일 수정</a:t>
            </a:r>
          </a:p>
        </p:txBody>
      </p:sp>
      <p:sp>
        <p:nvSpPr>
          <p:cNvPr id="3" name="">
            <a:extLst xmlns:a="http://schemas.openxmlformats.org/drawingml/2006/main">
              <a:ext uri="{FF2B5EF4-FFF2-40B4-BE49-F238E27FC236}">
                <a16:creationId xmlns:a16="http://schemas.microsoft.com/office/drawing/2014/main" id="{20E70554-6F8C-4A19-9221-7CE0C1856A2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8B8E743-E01B-4567-8395-F3FFA31FCEA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53F93A5-C49D-4D45-AA5E-1FD20810560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137</a:t>
            </a:r>
          </a:p>
        </p:txBody>
      </p:sp>
      <p:sp>
        <p:nvSpPr>
          <p:cNvPr id="6" name="">
            <a:extLst xmlns:a="http://schemas.openxmlformats.org/drawingml/2006/main">
              <a:ext uri="{FF2B5EF4-FFF2-40B4-BE49-F238E27FC236}">
                <a16:creationId xmlns:a16="http://schemas.microsoft.com/office/drawing/2014/main" id="{599A7F28-DDF6-4AE4-B0DF-5AF024696629}"/>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B819532C-139C-4D4F-8C88-C7FB78F3B9E3}"/>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제목·본문·섹션 스타일 확인</a:t>
            </a:r>
          </a:p>
        </p:txBody>
      </p:sp>
      <p:sp>
        <p:nvSpPr>
          <p:cNvPr id="8" name="">
            <a:extLst xmlns:a="http://schemas.openxmlformats.org/drawingml/2006/main">
              <a:ext uri="{FF2B5EF4-FFF2-40B4-BE49-F238E27FC236}">
                <a16:creationId xmlns:a16="http://schemas.microsoft.com/office/drawing/2014/main" id="{222E3BC9-3C1D-474E-8C01-049AC1074FFB}"/>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D2EF9988-3AA2-40A9-8FAF-093EBF4963DC}"/>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글꼴 또는 단락 간격 한 항목 수정</a:t>
            </a:r>
          </a:p>
        </p:txBody>
      </p:sp>
      <p:sp>
        <p:nvSpPr>
          <p:cNvPr id="10" name="">
            <a:extLst xmlns:a="http://schemas.openxmlformats.org/drawingml/2006/main">
              <a:ext uri="{FF2B5EF4-FFF2-40B4-BE49-F238E27FC236}">
                <a16:creationId xmlns:a16="http://schemas.microsoft.com/office/drawing/2014/main" id="{7DBA396E-41E3-4ADB-BCE0-BB1AF002864B}"/>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53AFD518-0197-4ED5-B61E-6281F6B8C6CB}"/>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DOCX 생성 후 Word/PDF 화면 비교</a:t>
            </a:r>
          </a:p>
        </p:txBody>
      </p:sp>
      <p:sp>
        <p:nvSpPr>
          <p:cNvPr id="12" name="">
            <a:extLst xmlns:a="http://schemas.openxmlformats.org/drawingml/2006/main">
              <a:ext uri="{FF2B5EF4-FFF2-40B4-BE49-F238E27FC236}">
                <a16:creationId xmlns:a16="http://schemas.microsoft.com/office/drawing/2014/main" id="{DF0E15D8-745E-4835-AB3E-EF7EEA7F1C0C}"/>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95495030-8421-4095-93A2-669105554031}"/>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resume_lab.py → 내 DOCX</a:t>
            </a:r>
          </a:p>
        </p:txBody>
      </p:sp>
      <p:sp>
        <p:nvSpPr>
          <p:cNvPr id="14" name="">
            <a:extLst xmlns:a="http://schemas.openxmlformats.org/drawingml/2006/main">
              <a:ext uri="{FF2B5EF4-FFF2-40B4-BE49-F238E27FC236}">
                <a16:creationId xmlns:a16="http://schemas.microsoft.com/office/drawing/2014/main" id="{FAABFE05-122D-479E-B4F3-B748D28F4228}"/>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편집 가능한 본문 · 줄바꿈·페이지 확인</a:t>
            </a:r>
          </a:p>
        </p:txBody>
      </p:sp>
    </p:spTree>
    <p:extLst>
      <p:ext uri="{BB962C8B-B14F-4D97-AF65-F5344CB8AC3E}">
        <p14:creationId xmlns:p14="http://schemas.microsoft.com/office/powerpoint/2010/main" val="1669601971"/>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E1E433-100D-4A94-BD26-13D7EFF19FD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9E0148C5-C2F9-40B6-8A8E-A340D3E448F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DOCX의 새 버전 생성</a:t>
            </a:r>
          </a:p>
        </p:txBody>
      </p:sp>
      <p:sp>
        <p:nvSpPr>
          <p:cNvPr id="3" name="">
            <a:extLst xmlns:a="http://schemas.openxmlformats.org/drawingml/2006/main">
              <a:ext uri="{FF2B5EF4-FFF2-40B4-BE49-F238E27FC236}">
                <a16:creationId xmlns:a16="http://schemas.microsoft.com/office/drawing/2014/main" id="{538DB357-80E8-4608-B0AD-9AAD4D945A4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97996B9-3A56-45F1-B5FD-027CC63C0FB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E3CD6DE-110C-42BB-BF06-E86799CE02A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138</a:t>
            </a:r>
          </a:p>
        </p:txBody>
      </p:sp>
      <p:sp>
        <p:nvSpPr>
          <p:cNvPr id="6" name="">
            <a:extLst xmlns:a="http://schemas.openxmlformats.org/drawingml/2006/main">
              <a:ext uri="{FF2B5EF4-FFF2-40B4-BE49-F238E27FC236}">
                <a16:creationId xmlns:a16="http://schemas.microsoft.com/office/drawing/2014/main" id="{95FCF3EF-7B99-4ABE-B31C-9DE73FD99D1D}"/>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899867-CD96-4A88-B030-0DB87C85E0D9}"/>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word_path = RUN / "word/Resume_walkthrough.docx"</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result = build_resume(</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ROOT, FACT_SOURCE, word_path,</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variant="after", proposals=my_rewrites,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print(result["path"])</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print(result["status"])</a:t>
            </a:r>
          </a:p>
        </p:txBody>
      </p:sp>
      <p:sp>
        <p:nvSpPr>
          <p:cNvPr id="8" name="">
            <a:extLst xmlns:a="http://schemas.openxmlformats.org/drawingml/2006/main">
              <a:ext uri="{FF2B5EF4-FFF2-40B4-BE49-F238E27FC236}">
                <a16:creationId xmlns:a16="http://schemas.microsoft.com/office/drawing/2014/main" id="{E551DE93-717C-46D1-9168-3C00FB0EABEE}"/>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실제 파일 생성 / 상태는 REQUIRES_HUMAN_REVIEW</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OUTPUT_EXISTS 발생 시 파일명에 _v2 추가</a:t>
            </a:r>
          </a:p>
        </p:txBody>
      </p:sp>
    </p:spTree>
    <p:extLst>
      <p:ext uri="{BB962C8B-B14F-4D97-AF65-F5344CB8AC3E}">
        <p14:creationId xmlns:p14="http://schemas.microsoft.com/office/powerpoint/2010/main" val="1230871468"/>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C29113-DB35-49AD-A24D-3F68F4A25F3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이론</a:t>
            </a:r>
          </a:p>
        </p:txBody>
      </p:sp>
      <p:sp>
        <p:nvSpPr>
          <p:cNvPr id="2" name="">
            <a:extLst xmlns:a="http://schemas.openxmlformats.org/drawingml/2006/main">
              <a:ext uri="{FF2B5EF4-FFF2-40B4-BE49-F238E27FC236}">
                <a16:creationId xmlns:a16="http://schemas.microsoft.com/office/drawing/2014/main" id="{E4FC674D-0367-49AB-86BE-09A7A8E6E2C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구조와 서식</a:t>
            </a:r>
          </a:p>
        </p:txBody>
      </p:sp>
      <p:sp>
        <p:nvSpPr>
          <p:cNvPr id="3" name="">
            <a:extLst xmlns:a="http://schemas.openxmlformats.org/drawingml/2006/main">
              <a:ext uri="{FF2B5EF4-FFF2-40B4-BE49-F238E27FC236}">
                <a16:creationId xmlns:a16="http://schemas.microsoft.com/office/drawing/2014/main" id="{32269840-7465-4195-8C7F-12E0096C311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20CE4E3A-0F81-4308-86F8-58385429B11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D5690F5-295C-4C83-BB67-3C6BD5E5C83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139</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구조</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서식</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검수</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제목·경력 구분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일관된 제목 크기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구분이 한눈에 보이는가</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문장과 목록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단락 간격</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페이지 밖으로 넘치지 않는가</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사실 근거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fact_id 비교표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주장이 들어갔는가</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출력</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DOCX + PDF</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두 파일이 같은 내용인가</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38024229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D636AE-724F-46BA-AA5D-5130305F7E2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9BA0D281-1511-472F-B95E-77FD90028C3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Word 문장과 원문 대조</a:t>
            </a:r>
          </a:p>
        </p:txBody>
      </p:sp>
      <p:sp>
        <p:nvSpPr>
          <p:cNvPr id="3" name="">
            <a:extLst xmlns:a="http://schemas.openxmlformats.org/drawingml/2006/main">
              <a:ext uri="{FF2B5EF4-FFF2-40B4-BE49-F238E27FC236}">
                <a16:creationId xmlns:a16="http://schemas.microsoft.com/office/drawing/2014/main" id="{01DF3555-D947-4300-9458-3D7583BFB6F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530EFAC-E732-4317-A76D-1C13953C395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57045D1-4AF4-4CF8-B30D-A77EDA3038C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140</a:t>
            </a:r>
          </a:p>
        </p:txBody>
      </p:sp>
      <p:sp>
        <p:nvSpPr>
          <p:cNvPr id="6" name="">
            <a:extLst xmlns:a="http://schemas.openxmlformats.org/drawingml/2006/main">
              <a:ext uri="{FF2B5EF4-FFF2-40B4-BE49-F238E27FC236}">
                <a16:creationId xmlns:a16="http://schemas.microsoft.com/office/drawing/2014/main" id="{7F418FBE-DE2B-411E-81A4-356062A46BBF}"/>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EDC453D0-B8D7-4D3F-A78D-AF152289BBB3}"/>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출력한 Resume_walkthrough.docx를 Word에서 열기</a:t>
            </a:r>
          </a:p>
        </p:txBody>
      </p:sp>
      <p:sp>
        <p:nvSpPr>
          <p:cNvPr id="8" name="">
            <a:extLst xmlns:a="http://schemas.openxmlformats.org/drawingml/2006/main">
              <a:ext uri="{FF2B5EF4-FFF2-40B4-BE49-F238E27FC236}">
                <a16:creationId xmlns:a16="http://schemas.microsoft.com/office/drawing/2014/main" id="{AB752521-5995-4749-B806-47440C1458AD}"/>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DCF1631D-7192-4052-84F5-1C3F29763613}"/>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의료 경력 문장을 찾아 원문의 서비스 범위와 비교</a:t>
            </a:r>
          </a:p>
        </p:txBody>
      </p:sp>
      <p:sp>
        <p:nvSpPr>
          <p:cNvPr id="10" name="">
            <a:extLst xmlns:a="http://schemas.openxmlformats.org/drawingml/2006/main">
              <a:ext uri="{FF2B5EF4-FFF2-40B4-BE49-F238E27FC236}">
                <a16:creationId xmlns:a16="http://schemas.microsoft.com/office/drawing/2014/main" id="{89E554EC-9BEB-4816-9C33-298DD9809F07}"/>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34C62EDB-40D0-414C-BD50-8EDEEB627319}"/>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직함·총괄 여부·빠진 사실을 확인하고 수정안 기록</a:t>
            </a:r>
          </a:p>
        </p:txBody>
      </p:sp>
      <p:sp>
        <p:nvSpPr>
          <p:cNvPr id="12" name="">
            <a:extLst xmlns:a="http://schemas.openxmlformats.org/drawingml/2006/main">
              <a:ext uri="{FF2B5EF4-FFF2-40B4-BE49-F238E27FC236}">
                <a16:creationId xmlns:a16="http://schemas.microsoft.com/office/drawing/2014/main" id="{23146B54-2F86-4E4E-AC40-FD5154ABD74E}"/>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7C15693B-9E0E-42C3-AE38-3ECDCDF4A5A6}"/>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홈의 스타일에서 제목·본문 확인, 모든 페이지 점검</a:t>
            </a:r>
          </a:p>
        </p:txBody>
      </p:sp>
      <p:sp>
        <p:nvSpPr>
          <p:cNvPr id="14" name="">
            <a:extLst xmlns:a="http://schemas.openxmlformats.org/drawingml/2006/main">
              <a:ext uri="{FF2B5EF4-FFF2-40B4-BE49-F238E27FC236}">
                <a16:creationId xmlns:a16="http://schemas.microsoft.com/office/drawing/2014/main" id="{FF01B54D-0E0B-484D-BC71-B341DCEBA0F6}"/>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8FF41F15-DC5E-4CFB-A9EC-4F80A8D5CC55}"/>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DOCX + career_facts.json의 medical-polyp</a:t>
            </a:r>
          </a:p>
        </p:txBody>
      </p:sp>
      <p:sp>
        <p:nvSpPr>
          <p:cNvPr id="16" name="">
            <a:extLst xmlns:a="http://schemas.openxmlformats.org/drawingml/2006/main">
              <a:ext uri="{FF2B5EF4-FFF2-40B4-BE49-F238E27FC236}">
                <a16:creationId xmlns:a16="http://schemas.microsoft.com/office/drawing/2014/main" id="{04E4F5A2-5945-4F14-B206-1DCA14A07D3A}"/>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숫자 일치 외에 Role·범위·누락 확인</a:t>
            </a:r>
          </a:p>
        </p:txBody>
      </p:sp>
    </p:spTree>
    <p:extLst>
      <p:ext uri="{BB962C8B-B14F-4D97-AF65-F5344CB8AC3E}">
        <p14:creationId xmlns:p14="http://schemas.microsoft.com/office/powerpoint/2010/main" val="178425514"/>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E2E163-1DA3-4560-8FED-C4910122390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코드·파일 작업</a:t>
            </a:r>
          </a:p>
        </p:txBody>
      </p:sp>
      <p:sp>
        <p:nvSpPr>
          <p:cNvPr id="2" name="">
            <a:extLst xmlns:a="http://schemas.openxmlformats.org/drawingml/2006/main">
              <a:ext uri="{FF2B5EF4-FFF2-40B4-BE49-F238E27FC236}">
                <a16:creationId xmlns:a16="http://schemas.microsoft.com/office/drawing/2014/main" id="{D8010F21-FE4B-4A31-BFBE-20CDB07F24C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후 비교 요청</a:t>
            </a:r>
          </a:p>
        </p:txBody>
      </p:sp>
      <p:sp>
        <p:nvSpPr>
          <p:cNvPr id="3" name="">
            <a:extLst xmlns:a="http://schemas.openxmlformats.org/drawingml/2006/main">
              <a:ext uri="{FF2B5EF4-FFF2-40B4-BE49-F238E27FC236}">
                <a16:creationId xmlns:a16="http://schemas.microsoft.com/office/drawing/2014/main" id="{68398159-7CB9-4410-8A6C-63BF5678607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0A9BC4F-3380-41D6-AB6E-D50C96B0064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7034A78-CB0F-4CAB-A266-941EC23E644E}"/>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141</a:t>
            </a:r>
          </a:p>
        </p:txBody>
      </p:sp>
      <p:sp>
        <p:nvSpPr>
          <p:cNvPr id="6" name="">
            <a:extLst xmlns:a="http://schemas.openxmlformats.org/drawingml/2006/main">
              <a:ext uri="{FF2B5EF4-FFF2-40B4-BE49-F238E27FC236}">
                <a16:creationId xmlns:a16="http://schemas.microsoft.com/office/drawing/2014/main" id="{CCC1797A-3473-4058-B293-BF3FA5F45969}"/>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24BCA6C9-C037-4FE9-A4CD-E768E4CC9D7B}"/>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FC97FD-7EF7-43B1-8BFF-A45DDBC1813B}"/>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원문과 개선안을 비교해 줘. 추가된 주장, 빠진 사실, 어색한 직역 표현만 표로 정리해 줘. 단순 문체 취향은 별도 제안으로 분리하고, 내가 확인하기 전에는 원문을 덮어쓰지 마.</a:t>
            </a:r>
          </a:p>
        </p:txBody>
      </p:sp>
      <p:sp>
        <p:nvSpPr>
          <p:cNvPr id="9" name="">
            <a:extLst xmlns:a="http://schemas.openxmlformats.org/drawingml/2006/main">
              <a:ext uri="{FF2B5EF4-FFF2-40B4-BE49-F238E27FC236}">
                <a16:creationId xmlns:a16="http://schemas.microsoft.com/office/drawing/2014/main" id="{5B1A7E8B-43C0-416F-B53D-5F9BDD8565B6}"/>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385329A4-7EBC-4684-B325-DC1B29F4CECD}"/>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추가 · 누락 · 의미 변화</a:t>
            </a:r>
          </a:p>
        </p:txBody>
      </p:sp>
    </p:spTree>
    <p:extLst>
      <p:ext uri="{BB962C8B-B14F-4D97-AF65-F5344CB8AC3E}">
        <p14:creationId xmlns:p14="http://schemas.microsoft.com/office/powerpoint/2010/main" val="1205666743"/>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0BB8F8-0E30-4EB5-BBE3-93BEB22D479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결과 확인</a:t>
            </a:r>
          </a:p>
        </p:txBody>
      </p:sp>
      <p:sp>
        <p:nvSpPr>
          <p:cNvPr id="2" name="">
            <a:extLst xmlns:a="http://schemas.openxmlformats.org/drawingml/2006/main">
              <a:ext uri="{FF2B5EF4-FFF2-40B4-BE49-F238E27FC236}">
                <a16:creationId xmlns:a16="http://schemas.microsoft.com/office/drawing/2014/main" id="{D3155591-41CF-48AD-A640-395DC3C3199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6차시 확인</a:t>
            </a:r>
          </a:p>
        </p:txBody>
      </p:sp>
      <p:sp>
        <p:nvSpPr>
          <p:cNvPr id="3" name="">
            <a:extLst xmlns:a="http://schemas.openxmlformats.org/drawingml/2006/main">
              <a:ext uri="{FF2B5EF4-FFF2-40B4-BE49-F238E27FC236}">
                <a16:creationId xmlns:a16="http://schemas.microsoft.com/office/drawing/2014/main" id="{B1E11632-0BC0-4F1B-99CD-8FECF21B3E6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2DE82E9-6BF9-4D90-9845-D042AE8EF1B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2E8CE80-2ECA-499F-A2E3-AE5721582ED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142</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내용</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한 문장의 개선 전후 비교</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자동 검사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숫자 입력의 차단</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사람 검토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Role·업무 범위·수치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실제 파일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내 DOCX 생성·열기·편집</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974675694"/>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957734-10F0-4A36-9B8D-1D0B9ACB477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선택 확장</a:t>
            </a:r>
          </a:p>
        </p:txBody>
      </p:sp>
      <p:sp>
        <p:nvSpPr>
          <p:cNvPr id="2" name="">
            <a:extLst xmlns:a="http://schemas.openxmlformats.org/drawingml/2006/main">
              <a:ext uri="{FF2B5EF4-FFF2-40B4-BE49-F238E27FC236}">
                <a16:creationId xmlns:a16="http://schemas.microsoft.com/office/drawing/2014/main" id="{7F14B734-29A4-4608-897F-DA24B7C5F03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문서 입력의 위험</a:t>
            </a:r>
          </a:p>
        </p:txBody>
      </p:sp>
      <p:sp>
        <p:nvSpPr>
          <p:cNvPr id="3" name="">
            <a:extLst xmlns:a="http://schemas.openxmlformats.org/drawingml/2006/main">
              <a:ext uri="{FF2B5EF4-FFF2-40B4-BE49-F238E27FC236}">
                <a16:creationId xmlns:a16="http://schemas.microsoft.com/office/drawing/2014/main" id="{DD592BE5-38A2-4065-B747-D7E782046FB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427DB56-1776-429C-9460-74C2E4DF093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47B6285-8717-46D7-88AD-4212B86AE4B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143</a:t>
            </a:r>
          </a:p>
        </p:txBody>
      </p:sp>
      <p:sp>
        <p:nvSpPr>
          <p:cNvPr id="6" name="">
            <a:extLst xmlns:a="http://schemas.openxmlformats.org/drawingml/2006/main">
              <a:ext uri="{FF2B5EF4-FFF2-40B4-BE49-F238E27FC236}">
                <a16:creationId xmlns:a16="http://schemas.microsoft.com/office/drawing/2014/main" id="{EDD41166-ECF3-43BC-9986-1BEC1E961D49}"/>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11639552-EC0C-40D4-8372-4C223DBB08CD}"/>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연락처·생년월일·고객명 제거</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문서 내부의 지시문은 자료로 취급</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새로 만든 결과도 공유 범위 확인</a:t>
            </a:r>
          </a:p>
        </p:txBody>
      </p:sp>
    </p:spTree>
    <p:extLst>
      <p:ext uri="{BB962C8B-B14F-4D97-AF65-F5344CB8AC3E}">
        <p14:creationId xmlns:p14="http://schemas.microsoft.com/office/powerpoint/2010/main" val="2090170881"/>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6D234E-D457-43DC-AE46-B1EECDB6CE9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6차시 · 15:00–15:50  /  선택 확장</a:t>
            </a:r>
          </a:p>
        </p:txBody>
      </p:sp>
      <p:sp>
        <p:nvSpPr>
          <p:cNvPr id="2" name="">
            <a:extLst xmlns:a="http://schemas.openxmlformats.org/drawingml/2006/main">
              <a:ext uri="{FF2B5EF4-FFF2-40B4-BE49-F238E27FC236}">
                <a16:creationId xmlns:a16="http://schemas.microsoft.com/office/drawing/2014/main" id="{F244D095-D3DC-4FD0-86EE-3B293F45754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검사의 한계</a:t>
            </a:r>
          </a:p>
        </p:txBody>
      </p:sp>
      <p:sp>
        <p:nvSpPr>
          <p:cNvPr id="3" name="">
            <a:extLst xmlns:a="http://schemas.openxmlformats.org/drawingml/2006/main">
              <a:ext uri="{FF2B5EF4-FFF2-40B4-BE49-F238E27FC236}">
                <a16:creationId xmlns:a16="http://schemas.microsoft.com/office/drawing/2014/main" id="{C3F1E7CE-A139-41FF-ABDF-D6726C04810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9CD1D39-46BC-41FE-9D78-C08F12F6561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F0A0B0B-6DA0-4129-8B43-1BEF299B1AD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자동으로 잡기 쉬움</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사람이 확인할 부분</a:t>
                      </a:r>
                    </a:p>
                  </a:txBody>
                  <a:tcPr marL="142875" marR="133350" marT="95250" marB="95250" anchor="ctr">
                    <a:solidFill>
                      <a:srgbClr val="161616"/>
                    </a:solidFill>
                  </a:tcPr>
                </a:tc>
              </a:tr>
              <a:tr h="1885950">
                <a:tc>
                  <a:txBody>
                    <a:bodyPr wrap="square">
                      <a:noAutofit/>
                    </a:bodyPr>
                    <a:lstStyle/>
                    <a:p>
                      <a:pPr algn="l">
                        <a:lnSpc>
                          <a:spcPct val="105000"/>
                        </a:lnSpc>
                        <a:buNone/>
                      </a:pPr>
                      <a:r>
                        <a:rPr sz="1950" b="1">
                          <a:solidFill>
                            <a:srgbClr val="161616"/>
                          </a:solidFill>
                          <a:latin typeface="NanumGothic"/>
                          <a:ea typeface="NanumGothic"/>
                          <a:cs typeface="NanumGothic"/>
                        </a:rPr>
                        <a:t>새 숫자·알 수 없는 fact_id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참여와 총괄의 차이</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빈 문장·필수 필드 누락</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산업 용어의 적절함</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파일 경로·생성 오류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읽는 사람에게 주는 인상</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982791615"/>
      </p:ext>
    </p:extLst>
  </p:cSld>
</p:sld>
</file>

<file path=ppt/slides/slide145.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2AFD10-0EBE-4937-A771-ABBD15B8EAAD}"/>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7차시</a:t>
            </a:r>
          </a:p>
        </p:txBody>
      </p:sp>
      <p:sp>
        <p:nvSpPr>
          <p:cNvPr id="2" name="">
            <a:extLst xmlns:a="http://schemas.openxmlformats.org/drawingml/2006/main">
              <a:ext uri="{FF2B5EF4-FFF2-40B4-BE49-F238E27FC236}">
                <a16:creationId xmlns:a16="http://schemas.microsoft.com/office/drawing/2014/main" id="{B009B208-BB60-4A8F-AE58-BE80C6A2B78C}"/>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15:50–16:40</a:t>
            </a:r>
          </a:p>
        </p:txBody>
      </p:sp>
      <p:sp>
        <p:nvSpPr>
          <p:cNvPr id="3" name="">
            <a:extLst xmlns:a="http://schemas.openxmlformats.org/drawingml/2006/main">
              <a:ext uri="{FF2B5EF4-FFF2-40B4-BE49-F238E27FC236}">
                <a16:creationId xmlns:a16="http://schemas.microsoft.com/office/drawing/2014/main" id="{40CB080D-0D55-4A8B-815A-FAF86EE1FADF}"/>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데이터 기반 PPT 제작</a:t>
            </a:r>
          </a:p>
        </p:txBody>
      </p:sp>
      <p:sp>
        <p:nvSpPr>
          <p:cNvPr id="4" name="">
            <a:extLst xmlns:a="http://schemas.openxmlformats.org/drawingml/2006/main">
              <a:ext uri="{FF2B5EF4-FFF2-40B4-BE49-F238E27FC236}">
                <a16:creationId xmlns:a16="http://schemas.microsoft.com/office/drawing/2014/main" id="{06644572-1780-4BA4-89F7-7764CA7A0C16}"/>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같은 프로젝트 데이터로 보고서 생성·수정·검수</a:t>
            </a:r>
          </a:p>
        </p:txBody>
      </p:sp>
      <p:sp>
        <p:nvSpPr>
          <p:cNvPr id="5" name="">
            <a:extLst xmlns:a="http://schemas.openxmlformats.org/drawingml/2006/main">
              <a:ext uri="{FF2B5EF4-FFF2-40B4-BE49-F238E27FC236}">
                <a16:creationId xmlns:a16="http://schemas.microsoft.com/office/drawing/2014/main" id="{789956B7-24F9-4BD3-8482-28E3120C26D1}"/>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12분  ·  시연 8분  ·  작업 25분  ·  확인 5분</a:t>
            </a:r>
          </a:p>
        </p:txBody>
      </p:sp>
      <p:sp>
        <p:nvSpPr>
          <p:cNvPr id="6" name="">
            <a:extLst xmlns:a="http://schemas.openxmlformats.org/drawingml/2006/main">
              <a:ext uri="{FF2B5EF4-FFF2-40B4-BE49-F238E27FC236}">
                <a16:creationId xmlns:a16="http://schemas.microsoft.com/office/drawing/2014/main" id="{DC6777B5-6C3C-42F8-9F1B-D9C20210E8F4}"/>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project_brief.json · Project_Brief.pptx</a:t>
            </a:r>
          </a:p>
        </p:txBody>
      </p:sp>
      <p:sp>
        <p:nvSpPr>
          <p:cNvPr id="7" name="">
            <a:extLst xmlns:a="http://schemas.openxmlformats.org/drawingml/2006/main">
              <a:ext uri="{FF2B5EF4-FFF2-40B4-BE49-F238E27FC236}">
                <a16:creationId xmlns:a16="http://schemas.microsoft.com/office/drawing/2014/main" id="{94501885-9285-4C38-BB70-D71CD4F7B34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916DE989-D8C9-460E-87E7-E6AC5F8AE24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80C7B75A-A069-4855-B686-2F2C56C3086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145</a:t>
            </a:r>
          </a:p>
        </p:txBody>
      </p:sp>
    </p:spTree>
    <p:extLst>
      <p:ext uri="{BB962C8B-B14F-4D97-AF65-F5344CB8AC3E}">
        <p14:creationId xmlns:p14="http://schemas.microsoft.com/office/powerpoint/2010/main" val="1732501593"/>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247170-0EB8-4C87-BDC2-346C399A545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이론</a:t>
            </a:r>
          </a:p>
        </p:txBody>
      </p:sp>
      <p:sp>
        <p:nvSpPr>
          <p:cNvPr id="2" name="">
            <a:extLst xmlns:a="http://schemas.openxmlformats.org/drawingml/2006/main">
              <a:ext uri="{FF2B5EF4-FFF2-40B4-BE49-F238E27FC236}">
                <a16:creationId xmlns:a16="http://schemas.microsoft.com/office/drawing/2014/main" id="{8B499B82-F740-4D0B-BB4A-58A19519198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보고서의 입력</a:t>
            </a:r>
          </a:p>
        </p:txBody>
      </p:sp>
      <p:sp>
        <p:nvSpPr>
          <p:cNvPr id="3" name="">
            <a:extLst xmlns:a="http://schemas.openxmlformats.org/drawingml/2006/main">
              <a:ext uri="{FF2B5EF4-FFF2-40B4-BE49-F238E27FC236}">
                <a16:creationId xmlns:a16="http://schemas.microsoft.com/office/drawing/2014/main" id="{BB192234-1C61-43AE-B455-E66F88CF984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63BD860-CBBC-4016-AA39-57E4012E51D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1050E18-DEC2-40F9-A704-41C70CC2339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데이터</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보고할 내용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근거</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WBS 업무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전체·완료·지연 업무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JSON의 계산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기준일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언제 시점의 보고인지</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고정 as_of</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지연 업무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현재 확인할 일정</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status=지연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다음 단계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변경·검토 계획</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사람이 선택한 내용</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784492021"/>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BD229A-F778-4797-83D5-90B6D956559B}"/>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이론</a:t>
            </a:r>
          </a:p>
        </p:txBody>
      </p:sp>
      <p:sp>
        <p:nvSpPr>
          <p:cNvPr id="2" name="">
            <a:extLst xmlns:a="http://schemas.openxmlformats.org/drawingml/2006/main">
              <a:ext uri="{FF2B5EF4-FFF2-40B4-BE49-F238E27FC236}">
                <a16:creationId xmlns:a16="http://schemas.microsoft.com/office/drawing/2014/main" id="{8D478ADE-BA42-4E2D-ACD9-F27B181B879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7장 보고서의 흐름</a:t>
            </a:r>
          </a:p>
        </p:txBody>
      </p:sp>
      <p:sp>
        <p:nvSpPr>
          <p:cNvPr id="3" name="">
            <a:extLst xmlns:a="http://schemas.openxmlformats.org/drawingml/2006/main">
              <a:ext uri="{FF2B5EF4-FFF2-40B4-BE49-F238E27FC236}">
                <a16:creationId xmlns:a16="http://schemas.microsoft.com/office/drawing/2014/main" id="{768033F1-783E-4E1A-9B40-3510E4CE253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04B9F4A-F679-466F-A0D2-FF7293DDFD9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95434AE-82DD-4400-A5B5-FA27B232A14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내용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역할</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1·2</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개요·일정 현황</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프로젝트와 현재 상태</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3·4</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개발·문서·출시 일정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14개 업무의 진행</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5·6</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코드 리뷰·산출물 검토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확인할 근거와 기준</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7</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다음 작업·승인</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후속 작업과 사람 확인</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463207603"/>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00D339-7D18-44A6-803C-CB85E658778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이론</a:t>
            </a:r>
          </a:p>
        </p:txBody>
      </p:sp>
      <p:sp>
        <p:nvSpPr>
          <p:cNvPr id="2" name="">
            <a:extLst xmlns:a="http://schemas.openxmlformats.org/drawingml/2006/main">
              <a:ext uri="{FF2B5EF4-FFF2-40B4-BE49-F238E27FC236}">
                <a16:creationId xmlns:a16="http://schemas.microsoft.com/office/drawing/2014/main" id="{7EA55521-D667-44B2-BE84-BF67347288B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좋은 생성 요청의 조건</a:t>
            </a:r>
          </a:p>
        </p:txBody>
      </p:sp>
      <p:sp>
        <p:nvSpPr>
          <p:cNvPr id="3" name="">
            <a:extLst xmlns:a="http://schemas.openxmlformats.org/drawingml/2006/main">
              <a:ext uri="{FF2B5EF4-FFF2-40B4-BE49-F238E27FC236}">
                <a16:creationId xmlns:a16="http://schemas.microsoft.com/office/drawing/2014/main" id="{61781F8A-B735-41A2-99CF-3C4118BEA56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7980ACD-28AE-49EF-B15A-DA4EA2624AF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669551D-39EA-4742-BA98-3691FA76054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148</a:t>
            </a:r>
          </a:p>
        </p:txBody>
      </p:sp>
      <p:sp>
        <p:nvSpPr>
          <p:cNvPr id="6" name="">
            <a:extLst xmlns:a="http://schemas.openxmlformats.org/drawingml/2006/main">
              <a:ext uri="{FF2B5EF4-FFF2-40B4-BE49-F238E27FC236}">
                <a16:creationId xmlns:a16="http://schemas.microsoft.com/office/drawing/2014/main" id="{0677BF22-22E9-46CC-84D8-214B74D2F0AC}"/>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AE500CF7-AA00-408A-9E21-C8785EFF5854}"/>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독자와 회의 목적</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사용할 데이터와 금지할 추정</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페이지별 질문과 편집 가능 형식</a:t>
            </a:r>
          </a:p>
        </p:txBody>
      </p:sp>
    </p:spTree>
    <p:extLst>
      <p:ext uri="{BB962C8B-B14F-4D97-AF65-F5344CB8AC3E}">
        <p14:creationId xmlns:p14="http://schemas.microsoft.com/office/powerpoint/2010/main" val="1083924731"/>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02252B-BFCD-426D-B7A2-8D9A32658F1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이론</a:t>
            </a:r>
          </a:p>
        </p:txBody>
      </p:sp>
      <p:sp>
        <p:nvSpPr>
          <p:cNvPr id="2" name="">
            <a:extLst xmlns:a="http://schemas.openxmlformats.org/drawingml/2006/main">
              <a:ext uri="{FF2B5EF4-FFF2-40B4-BE49-F238E27FC236}">
                <a16:creationId xmlns:a16="http://schemas.microsoft.com/office/drawing/2014/main" id="{B95144E9-43A1-4781-A790-9811DA3D044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자동화 방식의 차이</a:t>
            </a:r>
          </a:p>
        </p:txBody>
      </p:sp>
      <p:sp>
        <p:nvSpPr>
          <p:cNvPr id="3" name="">
            <a:extLst xmlns:a="http://schemas.openxmlformats.org/drawingml/2006/main">
              <a:ext uri="{FF2B5EF4-FFF2-40B4-BE49-F238E27FC236}">
                <a16:creationId xmlns:a16="http://schemas.microsoft.com/office/drawing/2014/main" id="{F5AD8ABE-7E01-4613-9026-FCA7C325580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4C28ACE-6237-4A30-8AE4-6570A19B00D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D668025-CFFF-471E-BB27-944D268A871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149</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방식</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장점</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확인할 점</a:t>
                      </a:r>
                    </a:p>
                  </a:txBody>
                  <a:tcPr marL="142875" marR="133350" marT="95250" marB="95250" anchor="ctr">
                    <a:solidFill>
                      <a:srgbClr val="161616"/>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대화형 파일 생성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초안과 구조를 빠르게 비교</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계정 도구·실행 결과 확인</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템플릿 채우기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일관된 양식 반복</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필드 길이와 넘침</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코드 기반 생성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입력으로 재생성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글꼴·표·시각 검수</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054808914"/>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823C72-13E9-424D-8819-1B5F4D7D9D4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69B58558-A3B0-48DF-B185-2660AE1023C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Node.js와 PPT 패키지 확인</a:t>
            </a:r>
          </a:p>
        </p:txBody>
      </p:sp>
      <p:sp>
        <p:nvSpPr>
          <p:cNvPr id="3" name="">
            <a:extLst xmlns:a="http://schemas.openxmlformats.org/drawingml/2006/main">
              <a:ext uri="{FF2B5EF4-FFF2-40B4-BE49-F238E27FC236}">
                <a16:creationId xmlns:a16="http://schemas.microsoft.com/office/drawing/2014/main" id="{5870FB59-D157-4F3F-AFD3-DE4A795CCE2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852A6A7-7F73-45CD-B14C-EF426A953EDD}"/>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359DAFF-CE2B-4DF0-B2D2-6B5BF00EF38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150</a:t>
            </a:r>
          </a:p>
        </p:txBody>
      </p:sp>
      <p:sp>
        <p:nvSpPr>
          <p:cNvPr id="6" name="">
            <a:extLst xmlns:a="http://schemas.openxmlformats.org/drawingml/2006/main">
              <a:ext uri="{FF2B5EF4-FFF2-40B4-BE49-F238E27FC236}">
                <a16:creationId xmlns:a16="http://schemas.microsoft.com/office/drawing/2014/main" id="{A471484C-16DD-447A-9D68-8887371EAD3E}"/>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EBD1FE-13E9-48A9-A4C2-16D151D1B01D}"/>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node --version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npm --version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npm list --prefix labs/day4/office_lab/presentations pptxgenjs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패키지가 없을 때만 실행</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npm install --prefix labs/day4/office_lab/presentations</a:t>
            </a:r>
          </a:p>
        </p:txBody>
      </p:sp>
      <p:sp>
        <p:nvSpPr>
          <p:cNvPr id="8" name="">
            <a:extLst xmlns:a="http://schemas.openxmlformats.org/drawingml/2006/main">
              <a:ext uri="{FF2B5EF4-FFF2-40B4-BE49-F238E27FC236}">
                <a16:creationId xmlns:a16="http://schemas.microsoft.com/office/drawing/2014/main" id="{D7D1B25B-59D6-4C50-BBBD-F7C138921307}"/>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저장소 루트의 터미널 / Python 셀이 아님</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node가 없으면 설치 후 터미널·Notebook 커널 재시작</a:t>
            </a:r>
          </a:p>
        </p:txBody>
      </p:sp>
    </p:spTree>
    <p:extLst>
      <p:ext uri="{BB962C8B-B14F-4D97-AF65-F5344CB8AC3E}">
        <p14:creationId xmlns:p14="http://schemas.microsoft.com/office/powerpoint/2010/main" val="2050729736"/>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4CFD7F-3467-4671-94DF-EF0FF2BD096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시연</a:t>
            </a:r>
          </a:p>
        </p:txBody>
      </p:sp>
      <p:sp>
        <p:nvSpPr>
          <p:cNvPr id="2" name="">
            <a:extLst xmlns:a="http://schemas.openxmlformats.org/drawingml/2006/main">
              <a:ext uri="{FF2B5EF4-FFF2-40B4-BE49-F238E27FC236}">
                <a16:creationId xmlns:a16="http://schemas.microsoft.com/office/drawing/2014/main" id="{7A757B60-FD03-4BB6-B280-0E97AAB947C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프로젝트 데이터 준비</a:t>
            </a:r>
          </a:p>
        </p:txBody>
      </p:sp>
      <p:sp>
        <p:nvSpPr>
          <p:cNvPr id="3" name="">
            <a:extLst xmlns:a="http://schemas.openxmlformats.org/drawingml/2006/main">
              <a:ext uri="{FF2B5EF4-FFF2-40B4-BE49-F238E27FC236}">
                <a16:creationId xmlns:a16="http://schemas.microsoft.com/office/drawing/2014/main" id="{FCFDE2F2-1954-4C37-9DDA-A350BF41089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C1131CD-B18F-432D-AC1B-9ECF951DF3A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05BE367-71EF-480F-96BD-A4FA64B7A32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151</a:t>
            </a:r>
          </a:p>
        </p:txBody>
      </p:sp>
      <p:sp>
        <p:nvSpPr>
          <p:cNvPr id="6" name="">
            <a:extLst xmlns:a="http://schemas.openxmlformats.org/drawingml/2006/main">
              <a:ext uri="{FF2B5EF4-FFF2-40B4-BE49-F238E27FC236}">
                <a16:creationId xmlns:a16="http://schemas.microsoft.com/office/drawing/2014/main" id="{BE6BD58A-4605-409F-98F6-55030702C81A}"/>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DD0C67-D137-4CD8-8BCB-E0D2397F7697}"/>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python -m labs.day4.office_lab.presentations.brief_data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--as-of 2026-09-25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--output outputs/day4-student/brief.json</a:t>
            </a:r>
          </a:p>
        </p:txBody>
      </p:sp>
      <p:sp>
        <p:nvSpPr>
          <p:cNvPr id="8" name="">
            <a:extLst xmlns:a="http://schemas.openxmlformats.org/drawingml/2006/main">
              <a:ext uri="{FF2B5EF4-FFF2-40B4-BE49-F238E27FC236}">
                <a16:creationId xmlns:a16="http://schemas.microsoft.com/office/drawing/2014/main" id="{50E29CE4-893E-41DB-9D25-5FFA9D22D02F}"/>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WBS와 같은 기준일</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검증된 계산 → 보고서 입력</a:t>
            </a:r>
          </a:p>
        </p:txBody>
      </p:sp>
    </p:spTree>
    <p:extLst>
      <p:ext uri="{BB962C8B-B14F-4D97-AF65-F5344CB8AC3E}">
        <p14:creationId xmlns:p14="http://schemas.microsoft.com/office/powerpoint/2010/main" val="1602810422"/>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50F681-0243-4A35-B516-6C29CC59E30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001146DB-93E2-4D89-B94B-5A43BB064CA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수정 WBS의 보고서 입력 저장</a:t>
            </a:r>
          </a:p>
        </p:txBody>
      </p:sp>
      <p:sp>
        <p:nvSpPr>
          <p:cNvPr id="3" name="">
            <a:extLst xmlns:a="http://schemas.openxmlformats.org/drawingml/2006/main">
              <a:ext uri="{FF2B5EF4-FFF2-40B4-BE49-F238E27FC236}">
                <a16:creationId xmlns:a16="http://schemas.microsoft.com/office/drawing/2014/main" id="{6A38765F-BD14-49EE-9D8D-40B4A5084FA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DD7792E-B982-4377-BE4B-041E658F834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3B74B1D-85B6-451D-A92A-9DDA59FD93C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152</a:t>
            </a:r>
          </a:p>
        </p:txBody>
      </p:sp>
      <p:sp>
        <p:nvSpPr>
          <p:cNvPr id="6" name="">
            <a:extLst xmlns:a="http://schemas.openxmlformats.org/drawingml/2006/main">
              <a:ext uri="{FF2B5EF4-FFF2-40B4-BE49-F238E27FC236}">
                <a16:creationId xmlns:a16="http://schemas.microsoft.com/office/drawing/2014/main" id="{9B99ECA9-E7DC-45D5-BB67-B0AF49810CF1}"/>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88BCA48-5A8C-404F-A365-B805F63DABA0}"/>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labs.day4.office_lab.presentations.brief_data import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write_brief,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brief_path = write_brief(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ROOT, str((RUN / "ppt/walkthrough.json").relative_to(ROOT)),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tasks=tasks_my, as_of=AS_OF,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print(brief_path)</a:t>
            </a:r>
          </a:p>
        </p:txBody>
      </p:sp>
      <p:sp>
        <p:nvSpPr>
          <p:cNvPr id="8" name="">
            <a:extLst xmlns:a="http://schemas.openxmlformats.org/drawingml/2006/main">
              <a:ext uri="{FF2B5EF4-FFF2-40B4-BE49-F238E27FC236}">
                <a16:creationId xmlns:a16="http://schemas.microsoft.com/office/drawing/2014/main" id="{DCE6E0E9-6DDC-4A1D-962E-90D062E205B2}"/>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4차시의 tasks_my와 고정 기준일 AS_OF 재사용</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같은 출력 이름이 있으면 walkthrough_v2.json 사용</a:t>
            </a:r>
          </a:p>
        </p:txBody>
      </p:sp>
    </p:spTree>
    <p:extLst>
      <p:ext uri="{BB962C8B-B14F-4D97-AF65-F5344CB8AC3E}">
        <p14:creationId xmlns:p14="http://schemas.microsoft.com/office/powerpoint/2010/main" val="872417826"/>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D382AC-3807-4B29-A602-97F182B76BE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시연</a:t>
            </a:r>
          </a:p>
        </p:txBody>
      </p:sp>
      <p:sp>
        <p:nvSpPr>
          <p:cNvPr id="2" name="">
            <a:extLst xmlns:a="http://schemas.openxmlformats.org/drawingml/2006/main">
              <a:ext uri="{FF2B5EF4-FFF2-40B4-BE49-F238E27FC236}">
                <a16:creationId xmlns:a16="http://schemas.microsoft.com/office/drawing/2014/main" id="{FE9D6A7A-2588-47DE-BCA8-4B614AD7970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학생용 PPT 생성</a:t>
            </a:r>
          </a:p>
        </p:txBody>
      </p:sp>
      <p:sp>
        <p:nvSpPr>
          <p:cNvPr id="3" name="">
            <a:extLst xmlns:a="http://schemas.openxmlformats.org/drawingml/2006/main">
              <a:ext uri="{FF2B5EF4-FFF2-40B4-BE49-F238E27FC236}">
                <a16:creationId xmlns:a16="http://schemas.microsoft.com/office/drawing/2014/main" id="{40398B61-16EA-4F2A-9448-8B39A381319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6FF8298-5119-441D-A05A-D881C0BB5B8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516BC15E-4EB4-4AD6-A63C-37A7DF5CAB0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153</a:t>
            </a:r>
          </a:p>
        </p:txBody>
      </p:sp>
      <p:sp>
        <p:nvSpPr>
          <p:cNvPr id="6" name="">
            <a:extLst xmlns:a="http://schemas.openxmlformats.org/drawingml/2006/main">
              <a:ext uri="{FF2B5EF4-FFF2-40B4-BE49-F238E27FC236}">
                <a16:creationId xmlns:a16="http://schemas.microsoft.com/office/drawing/2014/main" id="{183ABF6A-1192-483D-878B-98850D373EA7}"/>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CC105B-E691-4269-A0B5-3D6E9203E186}"/>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npm install --prefix labs/day4/office_lab/presentations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node labs/day4/office_lab/presentations/student_ppt.mjs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outputs/day4-student/brief.json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outputs/day4-student/Project_Brief.pptx</a:t>
            </a:r>
          </a:p>
        </p:txBody>
      </p:sp>
      <p:sp>
        <p:nvSpPr>
          <p:cNvPr id="8" name="">
            <a:extLst xmlns:a="http://schemas.openxmlformats.org/drawingml/2006/main">
              <a:ext uri="{FF2B5EF4-FFF2-40B4-BE49-F238E27FC236}">
                <a16:creationId xmlns:a16="http://schemas.microsoft.com/office/drawing/2014/main" id="{D3828CFA-58EA-4A65-BEDA-DAD4CC6A81B0}"/>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저장소 루트에서 실행 · Node.js 필요</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같은 파일명 재사용 시 새 이름 선택</a:t>
            </a:r>
          </a:p>
        </p:txBody>
      </p:sp>
    </p:spTree>
    <p:extLst>
      <p:ext uri="{BB962C8B-B14F-4D97-AF65-F5344CB8AC3E}">
        <p14:creationId xmlns:p14="http://schemas.microsoft.com/office/powerpoint/2010/main" val="1430715004"/>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6FAD8A-ACE2-48A5-B94D-F0C60F67B5D7}"/>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174C46A6-04D5-46E0-A70C-FB750058997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Notebook의 PPT 생성 순서</a:t>
            </a:r>
          </a:p>
        </p:txBody>
      </p:sp>
      <p:sp>
        <p:nvSpPr>
          <p:cNvPr id="3" name="">
            <a:extLst xmlns:a="http://schemas.openxmlformats.org/drawingml/2006/main">
              <a:ext uri="{FF2B5EF4-FFF2-40B4-BE49-F238E27FC236}">
                <a16:creationId xmlns:a16="http://schemas.microsoft.com/office/drawing/2014/main" id="{0D814A96-3F26-4ECD-A65D-0444B787A7C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9F8632D-E85A-4C0A-A805-E7DEB11083D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6CB117E-C4B0-4855-9D6D-92242739B71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154</a:t>
            </a:r>
          </a:p>
        </p:txBody>
      </p:sp>
      <p:sp>
        <p:nvSpPr>
          <p:cNvPr id="6" name="">
            <a:extLst xmlns:a="http://schemas.openxmlformats.org/drawingml/2006/main">
              <a:ext uri="{FF2B5EF4-FFF2-40B4-BE49-F238E27FC236}">
                <a16:creationId xmlns:a16="http://schemas.microsoft.com/office/drawing/2014/main" id="{0A21B782-6DA7-4E04-8C58-D1B5DD116853}"/>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4C9F5B1C-7AB8-4341-8478-8F765ACEF013}"/>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Node.js 준비 셀 실행, 두 준비 상태 모두 확인</a:t>
            </a:r>
          </a:p>
        </p:txBody>
      </p:sp>
      <p:sp>
        <p:nvSpPr>
          <p:cNvPr id="8" name="">
            <a:extLst xmlns:a="http://schemas.openxmlformats.org/drawingml/2006/main">
              <a:ext uri="{FF2B5EF4-FFF2-40B4-BE49-F238E27FC236}">
                <a16:creationId xmlns:a16="http://schemas.microsoft.com/office/drawing/2014/main" id="{FE12D344-3069-4EB8-9C70-43A5A487582C}"/>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A09229E7-02ED-4DBC-96BC-FC2BADC10A00}"/>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JSON 저장 셀 아래에 추가 코드 셀로 walkthrough.json 저장</a:t>
            </a:r>
          </a:p>
        </p:txBody>
      </p:sp>
      <p:sp>
        <p:nvSpPr>
          <p:cNvPr id="10" name="">
            <a:extLst xmlns:a="http://schemas.openxmlformats.org/drawingml/2006/main">
              <a:ext uri="{FF2B5EF4-FFF2-40B4-BE49-F238E27FC236}">
                <a16:creationId xmlns:a16="http://schemas.microsoft.com/office/drawing/2014/main" id="{10CD5103-F187-4292-922A-649C31DA103C}"/>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131F74C0-3500-48A8-B4A6-235998D7F56C}"/>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생성 셀의 파일명을 Project_Brief_walkthrough.pptx로 변경</a:t>
            </a:r>
          </a:p>
        </p:txBody>
      </p:sp>
      <p:sp>
        <p:nvSpPr>
          <p:cNvPr id="12" name="">
            <a:extLst xmlns:a="http://schemas.openxmlformats.org/drawingml/2006/main">
              <a:ext uri="{FF2B5EF4-FFF2-40B4-BE49-F238E27FC236}">
                <a16:creationId xmlns:a16="http://schemas.microsoft.com/office/drawing/2014/main" id="{05E0A1F7-C92F-4209-9CB3-188AFF024FC9}"/>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B15517F5-57C4-4A03-916C-FBA08E910400}"/>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PPT 생성 셀 실행 후 출력 링크로 실제 파일 열기</a:t>
            </a:r>
          </a:p>
        </p:txBody>
      </p:sp>
      <p:sp>
        <p:nvSpPr>
          <p:cNvPr id="14" name="">
            <a:extLst xmlns:a="http://schemas.openxmlformats.org/drawingml/2006/main">
              <a:ext uri="{FF2B5EF4-FFF2-40B4-BE49-F238E27FC236}">
                <a16:creationId xmlns:a16="http://schemas.microsoft.com/office/drawing/2014/main" id="{6A386546-6DA5-4262-83E4-316ED4E9B019}"/>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E415CA98-91CF-4878-82C0-84769C01884E}"/>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7차시 / student_ppt.mjs / 내 brief_path</a:t>
            </a:r>
          </a:p>
        </p:txBody>
      </p:sp>
      <p:sp>
        <p:nvSpPr>
          <p:cNvPr id="16" name="">
            <a:extLst xmlns:a="http://schemas.openxmlformats.org/drawingml/2006/main">
              <a:ext uri="{FF2B5EF4-FFF2-40B4-BE49-F238E27FC236}">
                <a16:creationId xmlns:a16="http://schemas.microsoft.com/office/drawing/2014/main" id="{422AABED-BDD9-4E1A-8C0F-EF46218993A4}"/>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PPT 생성 완료 메시지와 실제 7장 파일 확인</a:t>
            </a:r>
          </a:p>
        </p:txBody>
      </p:sp>
    </p:spTree>
    <p:extLst>
      <p:ext uri="{BB962C8B-B14F-4D97-AF65-F5344CB8AC3E}">
        <p14:creationId xmlns:p14="http://schemas.microsoft.com/office/powerpoint/2010/main" val="314515431"/>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E07E48-2065-45EF-BE97-4AC02840F17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시연</a:t>
            </a:r>
          </a:p>
        </p:txBody>
      </p:sp>
      <p:sp>
        <p:nvSpPr>
          <p:cNvPr id="2" name="">
            <a:extLst xmlns:a="http://schemas.openxmlformats.org/drawingml/2006/main">
              <a:ext uri="{FF2B5EF4-FFF2-40B4-BE49-F238E27FC236}">
                <a16:creationId xmlns:a16="http://schemas.microsoft.com/office/drawing/2014/main" id="{0E94568A-73D1-40BB-8FB7-66F89549AEE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프로젝트 보고서 예시</a:t>
            </a:r>
          </a:p>
        </p:txBody>
      </p:sp>
      <p:sp>
        <p:nvSpPr>
          <p:cNvPr id="3" name="">
            <a:extLst xmlns:a="http://schemas.openxmlformats.org/drawingml/2006/main">
              <a:ext uri="{FF2B5EF4-FFF2-40B4-BE49-F238E27FC236}">
                <a16:creationId xmlns:a16="http://schemas.microsoft.com/office/drawing/2014/main" id="{E8CA2116-1703-4375-8281-2C280F6D1355}"/>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3EC292A-5BB6-4F2D-9C3A-2AD6ECC8555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A9D45C1-B2EA-48A2-984B-9F87FAB556D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af47dc4f81a48b2"/>
          <a:stretch xmlns:a="http://schemas.openxmlformats.org/drawingml/2006/main"/>
        </p:blipFill>
        <p:spPr>
          <a:xfrm xmlns:a="http://schemas.openxmlformats.org/drawingml/2006/main">
            <a:off x="2588609" y="1666875"/>
            <a:ext cx="7014782"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4C9D84-A37C-4635-B1FB-84DF1F7BD6BC}"/>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Project_Brief.pptx · 편집 가능한 표와 수치</a:t>
            </a:r>
          </a:p>
        </p:txBody>
      </p:sp>
    </p:spTree>
    <p:extLst>
      <p:ext uri="{BB962C8B-B14F-4D97-AF65-F5344CB8AC3E}">
        <p14:creationId xmlns:p14="http://schemas.microsoft.com/office/powerpoint/2010/main" val="466466232"/>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32CB27F-3CA6-4C7E-AC0D-B8865935158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52DEC26F-3FAE-4B5B-A8C9-FF2BA88C3C4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보고서 재생성</a:t>
            </a:r>
          </a:p>
        </p:txBody>
      </p:sp>
      <p:sp>
        <p:nvSpPr>
          <p:cNvPr id="3" name="">
            <a:extLst xmlns:a="http://schemas.openxmlformats.org/drawingml/2006/main">
              <a:ext uri="{FF2B5EF4-FFF2-40B4-BE49-F238E27FC236}">
                <a16:creationId xmlns:a16="http://schemas.microsoft.com/office/drawing/2014/main" id="{36AAE18E-301A-4B2D-92E8-3132272C18B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4DE7B624-315C-4F7E-8DAE-E84FB4D7CED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3AEEB94-68FB-4810-A5A3-624D2DFCF36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156</a:t>
            </a:r>
          </a:p>
        </p:txBody>
      </p:sp>
      <p:sp>
        <p:nvSpPr>
          <p:cNvPr id="6" name="">
            <a:extLst xmlns:a="http://schemas.openxmlformats.org/drawingml/2006/main">
              <a:ext uri="{FF2B5EF4-FFF2-40B4-BE49-F238E27FC236}">
                <a16:creationId xmlns:a16="http://schemas.microsoft.com/office/drawing/2014/main" id="{7D279002-8CA7-4C1E-8E2D-69C0DE9BD768}"/>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DFE4D508-A810-4444-B9E5-DFB88940644B}"/>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W04 진척률을 바꾼 tasks 준비</a:t>
            </a:r>
          </a:p>
        </p:txBody>
      </p:sp>
      <p:sp>
        <p:nvSpPr>
          <p:cNvPr id="8" name="">
            <a:extLst xmlns:a="http://schemas.openxmlformats.org/drawingml/2006/main">
              <a:ext uri="{FF2B5EF4-FFF2-40B4-BE49-F238E27FC236}">
                <a16:creationId xmlns:a16="http://schemas.microsoft.com/office/drawing/2014/main" id="{234B6422-479B-41FD-86A4-5C300DF3C4B3}"/>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137409CC-535E-4A95-9288-1A633009065B}"/>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write_brief로 새 보고서 입력 생성</a:t>
            </a:r>
          </a:p>
        </p:txBody>
      </p:sp>
      <p:sp>
        <p:nvSpPr>
          <p:cNvPr id="10" name="">
            <a:extLst xmlns:a="http://schemas.openxmlformats.org/drawingml/2006/main">
              <a:ext uri="{FF2B5EF4-FFF2-40B4-BE49-F238E27FC236}">
                <a16:creationId xmlns:a16="http://schemas.microsoft.com/office/drawing/2014/main" id="{4CF93EAF-F70C-410D-AF5A-E25427DBDB74}"/>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FDB6635B-7898-48B5-88D7-773EA8F9CE29}"/>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student_ppt.mjs로 새 PPT 생성</a:t>
            </a:r>
          </a:p>
        </p:txBody>
      </p:sp>
      <p:sp>
        <p:nvSpPr>
          <p:cNvPr id="12" name="">
            <a:extLst xmlns:a="http://schemas.openxmlformats.org/drawingml/2006/main">
              <a:ext uri="{FF2B5EF4-FFF2-40B4-BE49-F238E27FC236}">
                <a16:creationId xmlns:a16="http://schemas.microsoft.com/office/drawing/2014/main" id="{432392F3-55A6-49B5-A6DB-FD2812B29CB7}"/>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115CB9F9-AAC4-4F44-BDE4-2623C72AE256}"/>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Notebook 7차시 · brief.json → PPTX</a:t>
            </a:r>
          </a:p>
        </p:txBody>
      </p:sp>
      <p:sp>
        <p:nvSpPr>
          <p:cNvPr id="14" name="">
            <a:extLst xmlns:a="http://schemas.openxmlformats.org/drawingml/2006/main">
              <a:ext uri="{FF2B5EF4-FFF2-40B4-BE49-F238E27FC236}">
                <a16:creationId xmlns:a16="http://schemas.microsoft.com/office/drawing/2014/main" id="{A9DF61EA-721E-4E25-8844-6048341E07C7}"/>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전체·완료·지연 수치의 변경 반영</a:t>
            </a:r>
          </a:p>
        </p:txBody>
      </p:sp>
    </p:spTree>
    <p:extLst>
      <p:ext uri="{BB962C8B-B14F-4D97-AF65-F5344CB8AC3E}">
        <p14:creationId xmlns:p14="http://schemas.microsoft.com/office/powerpoint/2010/main" val="1337633932"/>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FB7B97-FB73-4341-B694-D74974523E9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373FFFC5-4935-40DF-96FB-662BD2A2C7D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완료·지연 수치의 입력 대조</a:t>
            </a:r>
          </a:p>
        </p:txBody>
      </p:sp>
      <p:sp>
        <p:nvSpPr>
          <p:cNvPr id="3" name="">
            <a:extLst xmlns:a="http://schemas.openxmlformats.org/drawingml/2006/main">
              <a:ext uri="{FF2B5EF4-FFF2-40B4-BE49-F238E27FC236}">
                <a16:creationId xmlns:a16="http://schemas.microsoft.com/office/drawing/2014/main" id="{207A78F5-E502-4886-A721-B8FFA914BBF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92DD9BC-92E6-40AF-AFDE-DA80C36E418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5228575-5E61-43D0-883F-3D9EE703E9B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157</a:t>
            </a:r>
          </a:p>
        </p:txBody>
      </p:sp>
      <p:sp>
        <p:nvSpPr>
          <p:cNvPr id="6" name="">
            <a:extLst xmlns:a="http://schemas.openxmlformats.org/drawingml/2006/main">
              <a:ext uri="{FF2B5EF4-FFF2-40B4-BE49-F238E27FC236}">
                <a16:creationId xmlns:a16="http://schemas.microsoft.com/office/drawing/2014/main" id="{3DBC4115-86E9-4D12-9757-A25724B60835}"/>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60A96D7-122A-4EC7-9272-17FDA248DD72}"/>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data = json.loads(brief_path.read_text(encoding="utf-8"))</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rows = calculate_wbs(tasks_my, AS_OF)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counts = {r[0]: int(r[1]) for r in data["slides"][1]["table"][1:]}</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for status in ("완료", "지연"):</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expected = sum(r["status"] == status for r in rows)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assert counts[status] == expected</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assert data["wbs_snapshot"] == tasks_my</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print(counts)</a:t>
            </a:r>
          </a:p>
        </p:txBody>
      </p:sp>
      <p:sp>
        <p:nvSpPr>
          <p:cNvPr id="8" name="">
            <a:extLst xmlns:a="http://schemas.openxmlformats.org/drawingml/2006/main">
              <a:ext uri="{FF2B5EF4-FFF2-40B4-BE49-F238E27FC236}">
                <a16:creationId xmlns:a16="http://schemas.microsoft.com/office/drawing/2014/main" id="{347864F7-B152-4CC1-995D-2F8C9FB477D6}"/>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W04만 완료 처리한 입력: 완료 5개 / 지연 1개</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서로 다른 기준일·입력 파일이면 비교 중단</a:t>
            </a:r>
          </a:p>
        </p:txBody>
      </p:sp>
    </p:spTree>
    <p:extLst>
      <p:ext uri="{BB962C8B-B14F-4D97-AF65-F5344CB8AC3E}">
        <p14:creationId xmlns:p14="http://schemas.microsoft.com/office/powerpoint/2010/main" val="2019774551"/>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FCA038-0825-4BD3-AC14-0C6025B62D8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21AF43B7-D6D8-40B9-9242-D5D19C7E5FDB}"/>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편집 가능한 표 확인</a:t>
            </a:r>
          </a:p>
        </p:txBody>
      </p:sp>
      <p:sp>
        <p:nvSpPr>
          <p:cNvPr id="3" name="">
            <a:extLst xmlns:a="http://schemas.openxmlformats.org/drawingml/2006/main">
              <a:ext uri="{FF2B5EF4-FFF2-40B4-BE49-F238E27FC236}">
                <a16:creationId xmlns:a16="http://schemas.microsoft.com/office/drawing/2014/main" id="{2734E902-74E1-4C7E-A779-50514031B06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769D24B-6BC4-4026-9FA4-98785B8544B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8FFF354-6215-44E7-8245-EE22F6787DF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158</a:t>
            </a:r>
          </a:p>
        </p:txBody>
      </p:sp>
      <p:sp>
        <p:nvSpPr>
          <p:cNvPr id="6" name="">
            <a:extLst xmlns:a="http://schemas.openxmlformats.org/drawingml/2006/main">
              <a:ext uri="{FF2B5EF4-FFF2-40B4-BE49-F238E27FC236}">
                <a16:creationId xmlns:a16="http://schemas.microsoft.com/office/drawing/2014/main" id="{4E27A329-E0C0-4968-9046-17C9420BD12B}"/>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6ACD3CB2-D8D6-4AC3-AAA1-51C61C266104}"/>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생성 PPT를 PowerPoint/LibreOffice로 열기</a:t>
            </a:r>
          </a:p>
        </p:txBody>
      </p:sp>
      <p:sp>
        <p:nvSpPr>
          <p:cNvPr id="8" name="">
            <a:extLst xmlns:a="http://schemas.openxmlformats.org/drawingml/2006/main">
              <a:ext uri="{FF2B5EF4-FFF2-40B4-BE49-F238E27FC236}">
                <a16:creationId xmlns:a16="http://schemas.microsoft.com/office/drawing/2014/main" id="{76DE5AE5-80B7-41E1-A0C9-F9024F6D0D91}"/>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A51F482E-142D-4424-A34F-D8C768D42B65}"/>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표의 업무명 셀 직접 수정</a:t>
            </a:r>
          </a:p>
        </p:txBody>
      </p:sp>
      <p:sp>
        <p:nvSpPr>
          <p:cNvPr id="10" name="">
            <a:extLst xmlns:a="http://schemas.openxmlformats.org/drawingml/2006/main">
              <a:ext uri="{FF2B5EF4-FFF2-40B4-BE49-F238E27FC236}">
                <a16:creationId xmlns:a16="http://schemas.microsoft.com/office/drawing/2014/main" id="{6FA54F9E-C157-48E0-803C-545D707FD71B}"/>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B71FBE46-FDCB-423B-A2FE-E23E42877950}"/>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본문과 표가 이미지가 아닌지 확인</a:t>
            </a:r>
          </a:p>
        </p:txBody>
      </p:sp>
      <p:sp>
        <p:nvSpPr>
          <p:cNvPr id="12" name="">
            <a:extLst xmlns:a="http://schemas.openxmlformats.org/drawingml/2006/main">
              <a:ext uri="{FF2B5EF4-FFF2-40B4-BE49-F238E27FC236}">
                <a16:creationId xmlns:a16="http://schemas.microsoft.com/office/drawing/2014/main" id="{99BB8994-5FD0-4A17-A00C-6E413C01D85C}"/>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02B89911-21F7-418B-90E0-D3D74E859BCB}"/>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Project_Brief.pptx</a:t>
            </a:r>
          </a:p>
        </p:txBody>
      </p:sp>
      <p:sp>
        <p:nvSpPr>
          <p:cNvPr id="14" name="">
            <a:extLst xmlns:a="http://schemas.openxmlformats.org/drawingml/2006/main">
              <a:ext uri="{FF2B5EF4-FFF2-40B4-BE49-F238E27FC236}">
                <a16:creationId xmlns:a16="http://schemas.microsoft.com/office/drawing/2014/main" id="{8B957E1D-93EF-4F7C-A2D1-42480357A7FD}"/>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문자와 표 셀의 직접 편집</a:t>
            </a:r>
          </a:p>
        </p:txBody>
      </p:sp>
    </p:spTree>
    <p:extLst>
      <p:ext uri="{BB962C8B-B14F-4D97-AF65-F5344CB8AC3E}">
        <p14:creationId xmlns:p14="http://schemas.microsoft.com/office/powerpoint/2010/main" val="1602627024"/>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C5A5AD8-F8A3-43CE-B2EF-45D9EB0082B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C9DE79C6-1075-4CDF-8502-65452DB7A03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지연 업무와 보고 문장 비교</a:t>
            </a:r>
          </a:p>
        </p:txBody>
      </p:sp>
      <p:sp>
        <p:nvSpPr>
          <p:cNvPr id="3" name="">
            <a:extLst xmlns:a="http://schemas.openxmlformats.org/drawingml/2006/main">
              <a:ext uri="{FF2B5EF4-FFF2-40B4-BE49-F238E27FC236}">
                <a16:creationId xmlns:a16="http://schemas.microsoft.com/office/drawing/2014/main" id="{93CFF986-79D9-40AB-80A4-14205BE4CEE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994CCBB-A393-4D08-A41A-B9B94E1928B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A64CB0B-E7AE-4775-991B-AFC9338D2D4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159</a:t>
            </a:r>
          </a:p>
        </p:txBody>
      </p:sp>
      <p:sp>
        <p:nvSpPr>
          <p:cNvPr id="6" name="">
            <a:extLst xmlns:a="http://schemas.openxmlformats.org/drawingml/2006/main">
              <a:ext uri="{FF2B5EF4-FFF2-40B4-BE49-F238E27FC236}">
                <a16:creationId xmlns:a16="http://schemas.microsoft.com/office/drawing/2014/main" id="{D9EA9008-38BC-4267-9CBA-7D934F12836D}"/>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EF95BF22-6500-4D41-8A42-BB676BAA89AC}"/>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PPT 2장의 일정 현황에서 지연 업무 1개 확인</a:t>
            </a:r>
          </a:p>
        </p:txBody>
      </p:sp>
      <p:sp>
        <p:nvSpPr>
          <p:cNvPr id="8" name="">
            <a:extLst xmlns:a="http://schemas.openxmlformats.org/drawingml/2006/main">
              <a:ext uri="{FF2B5EF4-FFF2-40B4-BE49-F238E27FC236}">
                <a16:creationId xmlns:a16="http://schemas.microsoft.com/office/drawing/2014/main" id="{F38D788E-124C-4A02-8DE2-5C32721D5E6C}"/>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821BC4BB-D641-453A-A6A8-06BF894C1F70}"/>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3장의 W04는 완료, W05는 지연인지 비교</a:t>
            </a:r>
          </a:p>
        </p:txBody>
      </p:sp>
      <p:sp>
        <p:nvSpPr>
          <p:cNvPr id="10" name="">
            <a:extLst xmlns:a="http://schemas.openxmlformats.org/drawingml/2006/main">
              <a:ext uri="{FF2B5EF4-FFF2-40B4-BE49-F238E27FC236}">
                <a16:creationId xmlns:a16="http://schemas.microsoft.com/office/drawing/2014/main" id="{0BA5ABF3-F72F-4D3A-9055-98D043FDB4D6}"/>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F285DE28-2ADC-4E94-BEAF-AE81854484EB}"/>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7장의 후속 작업에서 W05의 지연 원인 확인 문장 검토</a:t>
            </a:r>
          </a:p>
        </p:txBody>
      </p:sp>
      <p:sp>
        <p:nvSpPr>
          <p:cNvPr id="12" name="">
            <a:extLst xmlns:a="http://schemas.openxmlformats.org/drawingml/2006/main">
              <a:ext uri="{FF2B5EF4-FFF2-40B4-BE49-F238E27FC236}">
                <a16:creationId xmlns:a16="http://schemas.microsoft.com/office/drawing/2014/main" id="{1D86C003-270C-40E6-AF06-2A04D6FBB8D1}"/>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1243E35F-DCBE-4AB6-80C0-2E58EBC833BE}"/>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표와 문장이 다르면 입력·생성 코드 확인 후 재생성</a:t>
            </a:r>
          </a:p>
        </p:txBody>
      </p:sp>
      <p:sp>
        <p:nvSpPr>
          <p:cNvPr id="14" name="">
            <a:extLst xmlns:a="http://schemas.openxmlformats.org/drawingml/2006/main">
              <a:ext uri="{FF2B5EF4-FFF2-40B4-BE49-F238E27FC236}">
                <a16:creationId xmlns:a16="http://schemas.microsoft.com/office/drawing/2014/main" id="{5C13F10C-103E-4CB8-A504-1D4D16A2CB44}"/>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257E71CD-B0DD-4C8B-AD73-DC111205F46C}"/>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PPT 2·3·7장 / W04 완료 입력 기준</a:t>
            </a:r>
          </a:p>
        </p:txBody>
      </p:sp>
      <p:sp>
        <p:nvSpPr>
          <p:cNvPr id="16" name="">
            <a:extLst xmlns:a="http://schemas.openxmlformats.org/drawingml/2006/main">
              <a:ext uri="{FF2B5EF4-FFF2-40B4-BE49-F238E27FC236}">
                <a16:creationId xmlns:a16="http://schemas.microsoft.com/office/drawing/2014/main" id="{58ED1806-7C9F-48AE-8056-A6549A70F7DF}"/>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업무 수가 같아도 후속 작업 문장은 별도 확인</a:t>
            </a:r>
          </a:p>
        </p:txBody>
      </p:sp>
    </p:spTree>
    <p:extLst>
      <p:ext uri="{BB962C8B-B14F-4D97-AF65-F5344CB8AC3E}">
        <p14:creationId xmlns:p14="http://schemas.microsoft.com/office/powerpoint/2010/main" val="764835860"/>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21346A-219D-4744-A7A1-5ACA93D8D608}"/>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98A1681F-9653-4154-9098-683C269DBA4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Codex의 레이아웃 수정</a:t>
            </a:r>
          </a:p>
        </p:txBody>
      </p:sp>
      <p:sp>
        <p:nvSpPr>
          <p:cNvPr id="3" name="">
            <a:extLst xmlns:a="http://schemas.openxmlformats.org/drawingml/2006/main">
              <a:ext uri="{FF2B5EF4-FFF2-40B4-BE49-F238E27FC236}">
                <a16:creationId xmlns:a16="http://schemas.microsoft.com/office/drawing/2014/main" id="{419B9C5C-5C2D-4964-8E2A-EF8C2CF6B75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BE27477F-A0BA-47D4-8E5D-E19504DB18D1}"/>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D2FA244-6C72-4123-8ABE-8CCDB4B0C15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160</a:t>
            </a:r>
          </a:p>
        </p:txBody>
      </p:sp>
      <p:sp>
        <p:nvSpPr>
          <p:cNvPr id="6" name="">
            <a:extLst xmlns:a="http://schemas.openxmlformats.org/drawingml/2006/main">
              <a:ext uri="{FF2B5EF4-FFF2-40B4-BE49-F238E27FC236}">
                <a16:creationId xmlns:a16="http://schemas.microsoft.com/office/drawing/2014/main" id="{96EA6EEB-A77F-4B19-AD91-1F501D03F22C}"/>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DE19DCEE-D3BC-44CD-8C87-D98A26D59E53}"/>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EADFAE-4E12-480C-80B2-4DFF6D631038}"/>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student_ppt.mjs를 읽고 본문 글씨를 더 크게 조정해 줘. 수치와 문장은 brief.json을 유지해 줘. 표를 이미지로 바꾸지 말고, 긴 업무명이 넘칠 때는 행 높이 또는 열 너비를 조정해 줘. 수정 전후를 렌더해서 비교해 줘.</a:t>
            </a:r>
          </a:p>
        </p:txBody>
      </p:sp>
      <p:sp>
        <p:nvSpPr>
          <p:cNvPr id="9" name="">
            <a:extLst xmlns:a="http://schemas.openxmlformats.org/drawingml/2006/main">
              <a:ext uri="{FF2B5EF4-FFF2-40B4-BE49-F238E27FC236}">
                <a16:creationId xmlns:a16="http://schemas.microsoft.com/office/drawing/2014/main" id="{C8F15219-3029-4EF0-9790-CB9D187FE26A}"/>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F85B3B1B-EEE5-48A2-93B5-732E63A3E544}"/>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내용 유지 · 글자 크기 · 실제 화면</a:t>
            </a:r>
          </a:p>
        </p:txBody>
      </p:sp>
    </p:spTree>
    <p:extLst>
      <p:ext uri="{BB962C8B-B14F-4D97-AF65-F5344CB8AC3E}">
        <p14:creationId xmlns:p14="http://schemas.microsoft.com/office/powerpoint/2010/main" val="913720968"/>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0BD9C3A-8193-4C91-9C05-FEAA37E8748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3C161927-F7B9-4858-82DD-8E888F0347A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긴 업무명과 표 너비 조정</a:t>
            </a:r>
          </a:p>
        </p:txBody>
      </p:sp>
      <p:sp>
        <p:nvSpPr>
          <p:cNvPr id="3" name="">
            <a:extLst xmlns:a="http://schemas.openxmlformats.org/drawingml/2006/main">
              <a:ext uri="{FF2B5EF4-FFF2-40B4-BE49-F238E27FC236}">
                <a16:creationId xmlns:a16="http://schemas.microsoft.com/office/drawing/2014/main" id="{5C637F8C-0F69-4ABC-96F9-2DAE110BD5B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09B5662-D92E-441A-A5C1-F8F5838C88A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A33953E-EA19-441F-BD69-8FEC08CAFFF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161</a:t>
            </a:r>
          </a:p>
        </p:txBody>
      </p:sp>
      <p:sp>
        <p:nvSpPr>
          <p:cNvPr id="6" name="">
            <a:extLst xmlns:a="http://schemas.openxmlformats.org/drawingml/2006/main">
              <a:ext uri="{FF2B5EF4-FFF2-40B4-BE49-F238E27FC236}">
                <a16:creationId xmlns:a16="http://schemas.microsoft.com/office/drawing/2014/main" id="{911435FA-E139-4009-AC52-1BC7F3E186FF}"/>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2FC0286E-55A3-4CFD-8D44-F116BD6530AD}"/>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같은 폴더에 student_ppt_my.mjs라는 코드 복사본 생성</a:t>
            </a:r>
          </a:p>
        </p:txBody>
      </p:sp>
      <p:sp>
        <p:nvSpPr>
          <p:cNvPr id="8" name="">
            <a:extLst xmlns:a="http://schemas.openxmlformats.org/drawingml/2006/main">
              <a:ext uri="{FF2B5EF4-FFF2-40B4-BE49-F238E27FC236}">
                <a16:creationId xmlns:a16="http://schemas.microsoft.com/office/drawing/2014/main" id="{A142D9AE-B2B7-4BF9-A86B-C32162D5C22A}"/>
              </a:ext>
            </a:extLst>
          </p:cNvPr>
          <p:cNvSpPr>
            <a:spLocks xmlns:a="http://schemas.openxmlformats.org/drawingml/2006/main" noGrp="1"/>
          </p:cNvSpPr>
          <p:nvPr/>
        </p:nvSpPr>
        <p:spPr>
          <a:xfrm xmlns:a="http://schemas.openxmlformats.org/drawingml/2006/main">
            <a:off x="609600" y="255270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355B38DD-403A-4A1C-8505-04C6D669836E}"/>
              </a:ext>
            </a:extLst>
          </p:cNvPr>
          <p:cNvSpPr>
            <a:spLocks xmlns:a="http://schemas.openxmlformats.org/drawingml/2006/main" noGrp="1"/>
          </p:cNvSpPr>
          <p:nvPr/>
        </p:nvSpPr>
        <p:spPr>
          <a:xfrm xmlns:a="http://schemas.openxmlformats.org/drawingml/2006/main">
            <a:off x="1800225" y="261937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Codex에 긴 업무명 행의 colW·rowH 조정 요청</a:t>
            </a:r>
          </a:p>
        </p:txBody>
      </p:sp>
      <p:sp>
        <p:nvSpPr>
          <p:cNvPr id="10" name="">
            <a:extLst xmlns:a="http://schemas.openxmlformats.org/drawingml/2006/main">
              <a:ext uri="{FF2B5EF4-FFF2-40B4-BE49-F238E27FC236}">
                <a16:creationId xmlns:a16="http://schemas.microsoft.com/office/drawing/2014/main" id="{DEAE046E-8640-48B8-8008-D3D990DD4DAD}"/>
              </a:ext>
            </a:extLst>
          </p:cNvPr>
          <p:cNvSpPr>
            <a:spLocks xmlns:a="http://schemas.openxmlformats.org/drawingml/2006/main" noGrp="1"/>
          </p:cNvSpPr>
          <p:nvPr/>
        </p:nvSpPr>
        <p:spPr>
          <a:xfrm xmlns:a="http://schemas.openxmlformats.org/drawingml/2006/main">
            <a:off x="609600" y="32861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405F738A-08B5-4ECB-B7D8-574DE828325F}"/>
              </a:ext>
            </a:extLst>
          </p:cNvPr>
          <p:cNvSpPr>
            <a:spLocks xmlns:a="http://schemas.openxmlformats.org/drawingml/2006/main" noGrp="1"/>
          </p:cNvSpPr>
          <p:nvPr/>
        </p:nvSpPr>
        <p:spPr>
          <a:xfrm xmlns:a="http://schemas.openxmlformats.org/drawingml/2006/main">
            <a:off x="1800225" y="33528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Notebook 실행 파일명을 복사본으로 바꾸고 새 PPT 생성</a:t>
            </a:r>
          </a:p>
        </p:txBody>
      </p:sp>
      <p:sp>
        <p:nvSpPr>
          <p:cNvPr id="12" name="">
            <a:extLst xmlns:a="http://schemas.openxmlformats.org/drawingml/2006/main">
              <a:ext uri="{FF2B5EF4-FFF2-40B4-BE49-F238E27FC236}">
                <a16:creationId xmlns:a16="http://schemas.microsoft.com/office/drawing/2014/main" id="{EA6FD6E1-0F1A-49C4-B5E1-97B3F7B6BF80}"/>
              </a:ext>
            </a:extLst>
          </p:cNvPr>
          <p:cNvSpPr>
            <a:spLocks xmlns:a="http://schemas.openxmlformats.org/drawingml/2006/main" noGrp="1"/>
          </p:cNvSpPr>
          <p:nvPr/>
        </p:nvSpPr>
        <p:spPr>
          <a:xfrm xmlns:a="http://schemas.openxmlformats.org/drawingml/2006/main">
            <a:off x="609600" y="40195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04</a:t>
            </a:r>
          </a:p>
        </p:txBody>
      </p:sp>
      <p:sp>
        <p:nvSpPr>
          <p:cNvPr id="13" name="">
            <a:extLst xmlns:a="http://schemas.openxmlformats.org/drawingml/2006/main">
              <a:ext uri="{FF2B5EF4-FFF2-40B4-BE49-F238E27FC236}">
                <a16:creationId xmlns:a16="http://schemas.microsoft.com/office/drawing/2014/main" id="{F0416EF5-34EF-4382-8533-7252BC18E4BB}"/>
              </a:ext>
            </a:extLst>
          </p:cNvPr>
          <p:cNvSpPr>
            <a:spLocks xmlns:a="http://schemas.openxmlformats.org/drawingml/2006/main" noGrp="1"/>
          </p:cNvSpPr>
          <p:nvPr/>
        </p:nvSpPr>
        <p:spPr>
          <a:xfrm xmlns:a="http://schemas.openxmlformats.org/drawingml/2006/main">
            <a:off x="1800225" y="40862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모든 7장에서 14개 업무의 누락·줄 잘림 확인</a:t>
            </a:r>
          </a:p>
        </p:txBody>
      </p:sp>
      <p:sp>
        <p:nvSpPr>
          <p:cNvPr id="14" name="">
            <a:extLst xmlns:a="http://schemas.openxmlformats.org/drawingml/2006/main">
              <a:ext uri="{FF2B5EF4-FFF2-40B4-BE49-F238E27FC236}">
                <a16:creationId xmlns:a16="http://schemas.microsoft.com/office/drawing/2014/main" id="{9DBCD120-6ADA-4637-8AC8-8B320A6DEB96}"/>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5" name="">
            <a:extLst xmlns:a="http://schemas.openxmlformats.org/drawingml/2006/main">
              <a:ext uri="{FF2B5EF4-FFF2-40B4-BE49-F238E27FC236}">
                <a16:creationId xmlns:a16="http://schemas.microsoft.com/office/drawing/2014/main" id="{D234C8FF-7A53-4685-91C6-7D11200AEC89}"/>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labs/day4/office_lab/presentations/student_ppt_my.mjs</a:t>
            </a:r>
          </a:p>
        </p:txBody>
      </p:sp>
      <p:sp>
        <p:nvSpPr>
          <p:cNvPr id="16" name="">
            <a:extLst xmlns:a="http://schemas.openxmlformats.org/drawingml/2006/main">
              <a:ext uri="{FF2B5EF4-FFF2-40B4-BE49-F238E27FC236}">
                <a16:creationId xmlns:a16="http://schemas.microsoft.com/office/drawing/2014/main" id="{611CC58D-6F1D-4862-8FAB-997B0B0182F9}"/>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표 편집 유지 / 글씨 축소보다 열 너비·행 높이 조정</a:t>
            </a:r>
          </a:p>
        </p:txBody>
      </p:sp>
    </p:spTree>
    <p:extLst>
      <p:ext uri="{BB962C8B-B14F-4D97-AF65-F5344CB8AC3E}">
        <p14:creationId xmlns:p14="http://schemas.microsoft.com/office/powerpoint/2010/main" val="1828724716"/>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FA5388-B49D-472A-9DFB-FDA60AC60FF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코드·파일 작업</a:t>
            </a:r>
          </a:p>
        </p:txBody>
      </p:sp>
      <p:sp>
        <p:nvSpPr>
          <p:cNvPr id="2" name="">
            <a:extLst xmlns:a="http://schemas.openxmlformats.org/drawingml/2006/main">
              <a:ext uri="{FF2B5EF4-FFF2-40B4-BE49-F238E27FC236}">
                <a16:creationId xmlns:a16="http://schemas.microsoft.com/office/drawing/2014/main" id="{A62F9F7E-85B2-4D89-8092-DA83B97AFA7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PDF와 화면 검수</a:t>
            </a:r>
          </a:p>
        </p:txBody>
      </p:sp>
      <p:sp>
        <p:nvSpPr>
          <p:cNvPr id="3" name="">
            <a:extLst xmlns:a="http://schemas.openxmlformats.org/drawingml/2006/main">
              <a:ext uri="{FF2B5EF4-FFF2-40B4-BE49-F238E27FC236}">
                <a16:creationId xmlns:a16="http://schemas.microsoft.com/office/drawing/2014/main" id="{622A9AD0-E5F7-4A82-A76B-75D02686F5B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0BF8628-1483-4971-AD71-E9368176879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952E550-ACA7-4612-996F-CF1BF921957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162</a:t>
            </a:r>
          </a:p>
        </p:txBody>
      </p:sp>
      <p:sp>
        <p:nvSpPr>
          <p:cNvPr id="6" name="">
            <a:extLst xmlns:a="http://schemas.openxmlformats.org/drawingml/2006/main">
              <a:ext uri="{FF2B5EF4-FFF2-40B4-BE49-F238E27FC236}">
                <a16:creationId xmlns:a16="http://schemas.microsoft.com/office/drawing/2014/main" id="{88697CBA-5666-42F9-9EA6-CEF8FE88ADCD}"/>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F08CB6EB-2B66-4B10-AB02-56FE119C6E6F}"/>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PPT를 PDF로 내보내기 또는 인쇄 저장</a:t>
            </a:r>
          </a:p>
        </p:txBody>
      </p:sp>
      <p:sp>
        <p:nvSpPr>
          <p:cNvPr id="8" name="">
            <a:extLst xmlns:a="http://schemas.openxmlformats.org/drawingml/2006/main">
              <a:ext uri="{FF2B5EF4-FFF2-40B4-BE49-F238E27FC236}">
                <a16:creationId xmlns:a16="http://schemas.microsoft.com/office/drawing/2014/main" id="{D8D93696-D827-4DF9-91F8-D10EEEC24C2B}"/>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63D4CEF3-DE4D-4A86-BDCC-72BBF2733778}"/>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모든 페이지의 글꼴·잘림 확인</a:t>
            </a:r>
          </a:p>
        </p:txBody>
      </p:sp>
      <p:sp>
        <p:nvSpPr>
          <p:cNvPr id="10" name="">
            <a:extLst xmlns:a="http://schemas.openxmlformats.org/drawingml/2006/main">
              <a:ext uri="{FF2B5EF4-FFF2-40B4-BE49-F238E27FC236}">
                <a16:creationId xmlns:a16="http://schemas.microsoft.com/office/drawing/2014/main" id="{DF8C1F54-179B-4539-8C26-BBF85ECECA69}"/>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87C31EFC-67F7-4450-B24F-314877740359}"/>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한 오류를 수정하고 다시 생성</a:t>
            </a:r>
          </a:p>
        </p:txBody>
      </p:sp>
      <p:sp>
        <p:nvSpPr>
          <p:cNvPr id="12" name="">
            <a:extLst xmlns:a="http://schemas.openxmlformats.org/drawingml/2006/main">
              <a:ext uri="{FF2B5EF4-FFF2-40B4-BE49-F238E27FC236}">
                <a16:creationId xmlns:a16="http://schemas.microsoft.com/office/drawing/2014/main" id="{8F872248-3620-42BC-BE89-74743FD22E77}"/>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3802C79C-21A9-4BAC-B514-149D0EDE0895}"/>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PPTX + PDF · 내 출력 폴더</a:t>
            </a:r>
          </a:p>
        </p:txBody>
      </p:sp>
      <p:sp>
        <p:nvSpPr>
          <p:cNvPr id="14" name="">
            <a:extLst xmlns:a="http://schemas.openxmlformats.org/drawingml/2006/main">
              <a:ext uri="{FF2B5EF4-FFF2-40B4-BE49-F238E27FC236}">
                <a16:creationId xmlns:a16="http://schemas.microsoft.com/office/drawing/2014/main" id="{00BD187B-9B48-4C1A-B284-5ED9126A31A8}"/>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같은 내용 · 읽을 수 있는 글꼴</a:t>
            </a:r>
          </a:p>
        </p:txBody>
      </p:sp>
    </p:spTree>
    <p:extLst>
      <p:ext uri="{BB962C8B-B14F-4D97-AF65-F5344CB8AC3E}">
        <p14:creationId xmlns:p14="http://schemas.microsoft.com/office/powerpoint/2010/main" val="134760614"/>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07D8D0-A609-45A6-A273-260C2FE5A64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이론</a:t>
            </a:r>
          </a:p>
        </p:txBody>
      </p:sp>
      <p:sp>
        <p:nvSpPr>
          <p:cNvPr id="2" name="">
            <a:extLst xmlns:a="http://schemas.openxmlformats.org/drawingml/2006/main">
              <a:ext uri="{FF2B5EF4-FFF2-40B4-BE49-F238E27FC236}">
                <a16:creationId xmlns:a16="http://schemas.microsoft.com/office/drawing/2014/main" id="{7C72D88F-C75A-4B71-9367-7062A7FA089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숫자·레이아웃 검증</a:t>
            </a:r>
          </a:p>
        </p:txBody>
      </p:sp>
      <p:sp>
        <p:nvSpPr>
          <p:cNvPr id="3" name="">
            <a:extLst xmlns:a="http://schemas.openxmlformats.org/drawingml/2006/main">
              <a:ext uri="{FF2B5EF4-FFF2-40B4-BE49-F238E27FC236}">
                <a16:creationId xmlns:a16="http://schemas.microsoft.com/office/drawing/2014/main" id="{538B7790-B19A-4D80-980C-4690055C59D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958C6C6-9F75-4BBE-85AC-68CE7CB77F8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D85E463-E5F1-402B-8575-872554B09A9D}"/>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검사</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비교 대상</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전체 업무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WBS 데이터의 행 수</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완료·지연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동일 as_of의 계산 결과</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긴 제목</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줄바꿈과 표 높이</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글꼴</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다른 PC와 PDF 출력</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파일 열기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PPTX 실제 편집 가능 여부</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602842484"/>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D806E0-B618-4DFE-AB6D-57C54AA1B28F}"/>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결과 확인</a:t>
            </a:r>
          </a:p>
        </p:txBody>
      </p:sp>
      <p:sp>
        <p:nvSpPr>
          <p:cNvPr id="2" name="">
            <a:extLst xmlns:a="http://schemas.openxmlformats.org/drawingml/2006/main">
              <a:ext uri="{FF2B5EF4-FFF2-40B4-BE49-F238E27FC236}">
                <a16:creationId xmlns:a16="http://schemas.microsoft.com/office/drawing/2014/main" id="{F5C56CB3-F99C-4D4C-A065-4859263DE45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7차시 확인</a:t>
            </a:r>
          </a:p>
        </p:txBody>
      </p:sp>
      <p:sp>
        <p:nvSpPr>
          <p:cNvPr id="3" name="">
            <a:extLst xmlns:a="http://schemas.openxmlformats.org/drawingml/2006/main">
              <a:ext uri="{FF2B5EF4-FFF2-40B4-BE49-F238E27FC236}">
                <a16:creationId xmlns:a16="http://schemas.microsoft.com/office/drawing/2014/main" id="{0453D48C-BA29-4E89-ACDA-6BB0FFDDD2C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2422C4E-65A3-4331-BDE1-2EC68149624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50A3AFF-1E99-448C-B33A-ABAA692BFBD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코드 실행</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입력으로 새 PPT 생성</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데이터 연결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WBS와 보고서의 숫자 일치</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편집 가능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본문·표 셀 직접 수정</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화면 검수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PDF의 잘림·글꼴 확인</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545131542"/>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AC4B2B-9F71-401A-AA36-DE3366ED58B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선택 확장</a:t>
            </a:r>
          </a:p>
        </p:txBody>
      </p:sp>
      <p:sp>
        <p:nvSpPr>
          <p:cNvPr id="2" name="">
            <a:extLst xmlns:a="http://schemas.openxmlformats.org/drawingml/2006/main">
              <a:ext uri="{FF2B5EF4-FFF2-40B4-BE49-F238E27FC236}">
                <a16:creationId xmlns:a16="http://schemas.microsoft.com/office/drawing/2014/main" id="{82448B26-19F7-4BA1-9514-C337DD4D7E6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반복 보고의 구조</a:t>
            </a:r>
          </a:p>
        </p:txBody>
      </p:sp>
      <p:sp>
        <p:nvSpPr>
          <p:cNvPr id="3" name="">
            <a:extLst xmlns:a="http://schemas.openxmlformats.org/drawingml/2006/main">
              <a:ext uri="{FF2B5EF4-FFF2-40B4-BE49-F238E27FC236}">
                <a16:creationId xmlns:a16="http://schemas.microsoft.com/office/drawing/2014/main" id="{337F22F8-CDFA-41C3-B008-7FD8F14174DE}"/>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ED6F8C7-427C-4C8E-9C1F-185ACD0C410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431B601-32DC-4A9C-8085-A8F1A2E5F8F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분리할 것</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예시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Data</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프로젝트·업무·기준일</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Content</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독자·핵심 질문·설명</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Style</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글꼴·색·간격·표</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Validation</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숫자·필수 페이지·렌더</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421712813"/>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C9B360-D514-4AAE-B1C4-96DC83847FE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7차시 · 15:50–16:40  /  선택 확장</a:t>
            </a:r>
          </a:p>
        </p:txBody>
      </p:sp>
      <p:sp>
        <p:nvSpPr>
          <p:cNvPr id="2" name="">
            <a:extLst xmlns:a="http://schemas.openxmlformats.org/drawingml/2006/main">
              <a:ext uri="{FF2B5EF4-FFF2-40B4-BE49-F238E27FC236}">
                <a16:creationId xmlns:a16="http://schemas.microsoft.com/office/drawing/2014/main" id="{64D64598-B751-4F72-B196-B66894AE9A72}"/>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배포 전 확인</a:t>
            </a:r>
          </a:p>
        </p:txBody>
      </p:sp>
      <p:sp>
        <p:nvSpPr>
          <p:cNvPr id="3" name="">
            <a:extLst xmlns:a="http://schemas.openxmlformats.org/drawingml/2006/main">
              <a:ext uri="{FF2B5EF4-FFF2-40B4-BE49-F238E27FC236}">
                <a16:creationId xmlns:a16="http://schemas.microsoft.com/office/drawing/2014/main" id="{821D5727-060B-4F40-A370-5E74CC866CC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E0D4C5A-9B6C-4C7A-9010-02631CFCD18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55D0057-B6D8-4171-B741-56E0066FAFC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166</a:t>
            </a:r>
          </a:p>
        </p:txBody>
      </p:sp>
      <p:sp>
        <p:nvSpPr>
          <p:cNvPr id="6" name="">
            <a:extLst xmlns:a="http://schemas.openxmlformats.org/drawingml/2006/main">
              <a:ext uri="{FF2B5EF4-FFF2-40B4-BE49-F238E27FC236}">
                <a16:creationId xmlns:a16="http://schemas.microsoft.com/office/drawing/2014/main" id="{A23D803A-5CD3-4911-BA1A-85D1B4F1B1A3}"/>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D2B0FFD1-9537-4755-BE77-94798388E153}"/>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개인정보와 비공개 프로젝트명 제거</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버전·기준일·출처의 표시</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메일·Drive 업로드는 별도 사람 확인</a:t>
            </a:r>
          </a:p>
        </p:txBody>
      </p:sp>
    </p:spTree>
    <p:extLst>
      <p:ext uri="{BB962C8B-B14F-4D97-AF65-F5344CB8AC3E}">
        <p14:creationId xmlns:p14="http://schemas.microsoft.com/office/powerpoint/2010/main" val="1901116659"/>
      </p:ext>
    </p:extLst>
  </p:cSld>
</p:sld>
</file>

<file path=ppt/slides/slide167.xml><?xml version="1.0" encoding="utf-8"?>
<p:sld xmlns:p="http://schemas.openxmlformats.org/presentationml/2006/main">
  <p:cSld>
    <p:bg>
      <p:bgPr>
        <a:solidFill xmlns:a="http://schemas.openxmlformats.org/drawingml/2006/main">
          <a:srgbClr val="1616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2CAEE1-86E4-46EC-AE2C-A0ED8ADA91D0}"/>
              </a:ext>
            </a:extLst>
          </p:cNvPr>
          <p:cNvSpPr>
            <a:spLocks xmlns:a="http://schemas.openxmlformats.org/drawingml/2006/main" noGrp="1"/>
          </p:cNvSpPr>
          <p:nvPr/>
        </p:nvSpPr>
        <p:spPr>
          <a:xfrm xmlns:a="http://schemas.openxmlformats.org/drawingml/2006/main">
            <a:off x="609600" y="476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4주차 8차시</a:t>
            </a:r>
          </a:p>
        </p:txBody>
      </p:sp>
      <p:sp>
        <p:nvSpPr>
          <p:cNvPr id="2" name="">
            <a:extLst xmlns:a="http://schemas.openxmlformats.org/drawingml/2006/main">
              <a:ext uri="{FF2B5EF4-FFF2-40B4-BE49-F238E27FC236}">
                <a16:creationId xmlns:a16="http://schemas.microsoft.com/office/drawing/2014/main" id="{B914C355-DCDF-438E-A8E4-5EE1D1BC9978}"/>
              </a:ext>
            </a:extLst>
          </p:cNvPr>
          <p:cNvSpPr>
            <a:spLocks xmlns:a="http://schemas.openxmlformats.org/drawingml/2006/main" noGrp="1"/>
          </p:cNvSpPr>
          <p:nvPr/>
        </p:nvSpPr>
        <p:spPr>
          <a:xfrm xmlns:a="http://schemas.openxmlformats.org/drawingml/2006/main">
            <a:off x="609600" y="132397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NanumGothic"/>
                <a:ea typeface="NanumGothic"/>
                <a:cs typeface="NanumGothic"/>
              </a:defRPr>
            </a:pPr>
            <a:r>
              <a:rPr sz="4950" b="1">
                <a:solidFill>
                  <a:srgbClr val="FFFFFF"/>
                </a:solidFill>
                <a:latin typeface="NanumGothic"/>
                <a:ea typeface="NanumGothic"/>
                <a:cs typeface="NanumGothic"/>
              </a:rPr>
              <a:t>16:40–17:30</a:t>
            </a:r>
          </a:p>
        </p:txBody>
      </p:sp>
      <p:sp>
        <p:nvSpPr>
          <p:cNvPr id="3" name="">
            <a:extLst xmlns:a="http://schemas.openxmlformats.org/drawingml/2006/main">
              <a:ext uri="{FF2B5EF4-FFF2-40B4-BE49-F238E27FC236}">
                <a16:creationId xmlns:a16="http://schemas.microsoft.com/office/drawing/2014/main" id="{B6B7C825-2AAE-4683-9425-96FF97779DDD}"/>
              </a:ext>
            </a:extLst>
          </p:cNvPr>
          <p:cNvSpPr>
            <a:spLocks xmlns:a="http://schemas.openxmlformats.org/drawingml/2006/main" noGrp="1"/>
          </p:cNvSpPr>
          <p:nvPr/>
        </p:nvSpPr>
        <p:spPr>
          <a:xfrm xmlns:a="http://schemas.openxmlformats.org/drawingml/2006/main">
            <a:off x="609600" y="24479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FFFFFF"/>
                </a:solidFill>
                <a:latin typeface="NanumGothic"/>
                <a:ea typeface="NanumGothic"/>
                <a:cs typeface="NanumGothic"/>
              </a:defRPr>
            </a:pPr>
            <a:r>
              <a:rPr sz="4125" b="1">
                <a:solidFill>
                  <a:srgbClr val="FFFFFF"/>
                </a:solidFill>
                <a:latin typeface="NanumGothic"/>
                <a:ea typeface="NanumGothic"/>
                <a:cs typeface="NanumGothic"/>
              </a:rPr>
              <a:t>업무 도구 통합과 개인 프로젝트</a:t>
            </a:r>
          </a:p>
        </p:txBody>
      </p:sp>
      <p:sp>
        <p:nvSpPr>
          <p:cNvPr id="4" name="">
            <a:extLst xmlns:a="http://schemas.openxmlformats.org/drawingml/2006/main">
              <a:ext uri="{FF2B5EF4-FFF2-40B4-BE49-F238E27FC236}">
                <a16:creationId xmlns:a16="http://schemas.microsoft.com/office/drawing/2014/main" id="{6212E72D-4953-42F6-A164-C37EB7825C11}"/>
              </a:ext>
            </a:extLst>
          </p:cNvPr>
          <p:cNvSpPr>
            <a:spLocks xmlns:a="http://schemas.openxmlformats.org/drawingml/2006/main" noGrp="1"/>
          </p:cNvSpPr>
          <p:nvPr/>
        </p:nvSpPr>
        <p:spPr>
          <a:xfrm xmlns:a="http://schemas.openxmlformats.org/drawingml/2006/main">
            <a:off x="60960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FFFFFF"/>
                </a:solidFill>
                <a:latin typeface="NanumGothic"/>
                <a:ea typeface="NanumGothic"/>
                <a:cs typeface="NanumGothic"/>
              </a:defRPr>
            </a:pPr>
            <a:r>
              <a:rPr sz="2325" b="0">
                <a:solidFill>
                  <a:srgbClr val="FFFFFF"/>
                </a:solidFill>
                <a:latin typeface="NanumGothic"/>
                <a:ea typeface="NanumGothic"/>
                <a:cs typeface="NanumGothic"/>
              </a:rPr>
              <a:t>반복 실행 가능한 패키지와 다음 주 제작 범위</a:t>
            </a:r>
          </a:p>
        </p:txBody>
      </p:sp>
      <p:sp>
        <p:nvSpPr>
          <p:cNvPr id="5" name="">
            <a:extLst xmlns:a="http://schemas.openxmlformats.org/drawingml/2006/main">
              <a:ext uri="{FF2B5EF4-FFF2-40B4-BE49-F238E27FC236}">
                <a16:creationId xmlns:a16="http://schemas.microsoft.com/office/drawing/2014/main" id="{4EC52F35-1747-4F4A-A1DC-25B2FB8247D4}"/>
              </a:ext>
            </a:extLst>
          </p:cNvPr>
          <p:cNvSpPr>
            <a:spLocks xmlns:a="http://schemas.openxmlformats.org/drawingml/2006/main" noGrp="1"/>
          </p:cNvSpPr>
          <p:nvPr/>
        </p:nvSpPr>
        <p:spPr>
          <a:xfrm xmlns:a="http://schemas.openxmlformats.org/drawingml/2006/main">
            <a:off x="609600" y="50101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FFFFFF"/>
                </a:solidFill>
                <a:latin typeface="NanumGothic"/>
                <a:ea typeface="NanumGothic"/>
                <a:cs typeface="NanumGothic"/>
              </a:defRPr>
            </a:pPr>
            <a:r>
              <a:rPr sz="2100" b="0">
                <a:solidFill>
                  <a:srgbClr val="FFFFFF"/>
                </a:solidFill>
                <a:latin typeface="NanumGothic"/>
                <a:ea typeface="NanumGothic"/>
                <a:cs typeface="NanumGothic"/>
              </a:rPr>
              <a:t>이론 10분  ·  시연 10분  ·  작업 25분  ·  확인 5분</a:t>
            </a:r>
          </a:p>
        </p:txBody>
      </p:sp>
      <p:sp>
        <p:nvSpPr>
          <p:cNvPr id="6" name="">
            <a:extLst xmlns:a="http://schemas.openxmlformats.org/drawingml/2006/main">
              <a:ext uri="{FF2B5EF4-FFF2-40B4-BE49-F238E27FC236}">
                <a16:creationId xmlns:a16="http://schemas.microsoft.com/office/drawing/2014/main" id="{5559C957-F0D3-4F6B-8D52-1142DE9D5BA1}"/>
              </a:ext>
            </a:extLst>
          </p:cNvPr>
          <p:cNvSpPr>
            <a:spLocks xmlns:a="http://schemas.openxmlformats.org/drawingml/2006/main" noGrp="1"/>
          </p:cNvSpPr>
          <p:nvPr/>
        </p:nvSpPr>
        <p:spPr>
          <a:xfrm xmlns:a="http://schemas.openxmlformats.org/drawingml/2006/main">
            <a:off x="609600" y="57245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FFFFFF"/>
                </a:solidFill>
                <a:latin typeface="NanumGothic"/>
                <a:ea typeface="NanumGothic"/>
                <a:cs typeface="NanumGothic"/>
              </a:defRPr>
            </a:pPr>
            <a:r>
              <a:rPr sz="1875" b="0">
                <a:solidFill>
                  <a:srgbClr val="FFFFFF"/>
                </a:solidFill>
                <a:latin typeface="NanumGothic"/>
                <a:ea typeface="NanumGothic"/>
                <a:cs typeface="NanumGothic"/>
              </a:rPr>
              <a:t>README.md · improvement.md · 실행 결과 폴더</a:t>
            </a:r>
          </a:p>
        </p:txBody>
      </p:sp>
      <p:sp>
        <p:nvSpPr>
          <p:cNvPr id="7" name="">
            <a:extLst xmlns:a="http://schemas.openxmlformats.org/drawingml/2006/main">
              <a:ext uri="{FF2B5EF4-FFF2-40B4-BE49-F238E27FC236}">
                <a16:creationId xmlns:a16="http://schemas.microsoft.com/office/drawing/2014/main" id="{007D3304-DC7F-4424-87C9-46914F08C41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555555"/>
            </a:solidFill>
          </a:ln>
        </p:spPr>
      </p:sp>
      <p:sp>
        <p:nvSpPr>
          <p:cNvPr id="8" name="">
            <a:extLst xmlns:a="http://schemas.openxmlformats.org/drawingml/2006/main">
              <a:ext uri="{FF2B5EF4-FFF2-40B4-BE49-F238E27FC236}">
                <a16:creationId xmlns:a16="http://schemas.microsoft.com/office/drawing/2014/main" id="{FAA2BF71-2BB0-43DD-A200-A75A7D1C20E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CCCCCC"/>
                </a:solidFill>
                <a:latin typeface="NanumGothic"/>
                <a:ea typeface="NanumGothic"/>
                <a:cs typeface="NanumGothic"/>
              </a:defRPr>
            </a:pPr>
            <a:r>
              <a:rPr sz="1350" b="0">
                <a:solidFill>
                  <a:srgbClr val="CCCCCC"/>
                </a:solidFill>
                <a:latin typeface="NanumGothic"/>
                <a:ea typeface="NanumGothic"/>
                <a:cs typeface="NanumGothic"/>
              </a:rPr>
              <a:t>LLM Agent · 업무 자동화</a:t>
            </a:r>
          </a:p>
        </p:txBody>
      </p:sp>
      <p:sp>
        <p:nvSpPr>
          <p:cNvPr id="9" name="">
            <a:extLst xmlns:a="http://schemas.openxmlformats.org/drawingml/2006/main">
              <a:ext uri="{FF2B5EF4-FFF2-40B4-BE49-F238E27FC236}">
                <a16:creationId xmlns:a16="http://schemas.microsoft.com/office/drawing/2014/main" id="{D71BC9A4-6B10-4B66-8EAA-E32FB0FAFF1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FFFFFF"/>
                </a:solidFill>
                <a:latin typeface="NanumGothic"/>
                <a:ea typeface="NanumGothic"/>
                <a:cs typeface="NanumGothic"/>
              </a:defRPr>
            </a:pPr>
            <a:r>
              <a:rPr sz="1500" b="0">
                <a:solidFill>
                  <a:srgbClr val="FFFFFF"/>
                </a:solidFill>
                <a:latin typeface="NanumGothic"/>
                <a:ea typeface="NanumGothic"/>
                <a:cs typeface="NanumGothic"/>
              </a:rPr>
              <a:t>167</a:t>
            </a:r>
          </a:p>
        </p:txBody>
      </p:sp>
    </p:spTree>
    <p:extLst>
      <p:ext uri="{BB962C8B-B14F-4D97-AF65-F5344CB8AC3E}">
        <p14:creationId xmlns:p14="http://schemas.microsoft.com/office/powerpoint/2010/main" val="1375354855"/>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A6E146-4EF8-4CF9-92DD-F2534DE6F99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2C97C3F9-6CB9-4603-9D7B-4887C4088C2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업무 자동화의 공통 구조</a:t>
            </a:r>
          </a:p>
        </p:txBody>
      </p:sp>
      <p:sp>
        <p:nvSpPr>
          <p:cNvPr id="3" name="">
            <a:extLst xmlns:a="http://schemas.openxmlformats.org/drawingml/2006/main">
              <a:ext uri="{FF2B5EF4-FFF2-40B4-BE49-F238E27FC236}">
                <a16:creationId xmlns:a16="http://schemas.microsoft.com/office/drawing/2014/main" id="{D713983A-3B2E-4E75-80D7-818C21BD7AC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5ACC63E-8380-43DF-BA9B-89A2F73B808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7989975-4291-42A9-B8A2-0C3F6D6E456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168</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단계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이번 예제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기준</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입력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PR·WBS·답안·경력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범위와 필수 값</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처리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리뷰·계산·문장 개선</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역할별 함수</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검증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테스트·수식·사실 비교</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기대한 변화와 오류</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출력</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HTML·XLSX·DOCX·PPTX</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실제 열기·편집</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전달</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개인 저장·선택 공유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사람이 대상 확인</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69664073"/>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EE0220-694B-47E9-BEA2-E314298646F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FD4A3FD1-7ACA-4AE4-B282-77F4B3A396C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서비스와 일회성 파일</a:t>
            </a:r>
          </a:p>
        </p:txBody>
      </p:sp>
      <p:sp>
        <p:nvSpPr>
          <p:cNvPr id="3" name="">
            <a:extLst xmlns:a="http://schemas.openxmlformats.org/drawingml/2006/main">
              <a:ext uri="{FF2B5EF4-FFF2-40B4-BE49-F238E27FC236}">
                <a16:creationId xmlns:a16="http://schemas.microsoft.com/office/drawing/2014/main" id="{18E3CC37-39D3-43E6-8354-8C3DEE5BCFB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E1CFA9C-3907-4E83-A393-A8F41A3CDD3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E2D436F-1B26-44CF-8C6C-1EA32730B5D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169</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구분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일회성 생성</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반복 가능한 도구</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입력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대화마다 다시 설명</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정해진 필드·양식</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실행</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작성자만 방법을 앎</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실행 명령·Notebook</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오류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대충 수정 후 진행</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메시지·복구 방법</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검증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한 번 눈으로 확인</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테스트 + 사람 확인</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전달</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파일만 공유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코드·안내·샘플 함께</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230923320"/>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9BEA8F-1528-4BF9-BB6E-C02F054A6B1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1081F2FA-69EC-4B39-8D85-25E747AB041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Agent가 필요한 지점</a:t>
            </a:r>
          </a:p>
        </p:txBody>
      </p:sp>
      <p:sp>
        <p:nvSpPr>
          <p:cNvPr id="3" name="">
            <a:extLst xmlns:a="http://schemas.openxmlformats.org/drawingml/2006/main">
              <a:ext uri="{FF2B5EF4-FFF2-40B4-BE49-F238E27FC236}">
                <a16:creationId xmlns:a16="http://schemas.microsoft.com/office/drawing/2014/main" id="{8F4D6116-26D5-446A-9B0A-EEF14E4F534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7E1D3FF-5419-497A-9933-9160C255FDF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7EFFF61-B599-4F2B-A9D3-FBA3836B11F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170</a:t>
            </a:r>
          </a:p>
        </p:txBody>
      </p:sp>
      <p:sp>
        <p:nvSpPr>
          <p:cNvPr id="6" name="">
            <a:extLst xmlns:a="http://schemas.openxmlformats.org/drawingml/2006/main">
              <a:ext uri="{FF2B5EF4-FFF2-40B4-BE49-F238E27FC236}">
                <a16:creationId xmlns:a16="http://schemas.microsoft.com/office/drawing/2014/main" id="{11AA6226-6A57-4ECC-BA7C-56FD1F8075D9}"/>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2C4211BD-6930-437A-9EC9-5AE41D253D8D}"/>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고정된 계산과 생성은 코드</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자료 탐색과 수정 제안은 AI</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필요한 도구 선택·반복·확인을 묶는 작업 흐름</a:t>
            </a:r>
          </a:p>
        </p:txBody>
      </p:sp>
    </p:spTree>
    <p:extLst>
      <p:ext uri="{BB962C8B-B14F-4D97-AF65-F5344CB8AC3E}">
        <p14:creationId xmlns:p14="http://schemas.microsoft.com/office/powerpoint/2010/main" val="824592120"/>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D0052F-7AEE-4780-81C1-C23BAE85B53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95F050A0-8590-4D76-ABDB-DB005B46DE7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완성 패키지</a:t>
            </a:r>
          </a:p>
        </p:txBody>
      </p:sp>
      <p:sp>
        <p:nvSpPr>
          <p:cNvPr id="3" name="">
            <a:extLst xmlns:a="http://schemas.openxmlformats.org/drawingml/2006/main">
              <a:ext uri="{FF2B5EF4-FFF2-40B4-BE49-F238E27FC236}">
                <a16:creationId xmlns:a16="http://schemas.microsoft.com/office/drawing/2014/main" id="{4314A8EF-9B62-4256-B83F-4958FCB258A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A1E8EFD-A3FD-4297-AC15-2297E91CB4C5}"/>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11489E28-6AE4-4F6C-84FE-469F4BF4AE3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파일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다른 사용자가 이해할 내용</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README.md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시작 명령·입력·결과</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requirements / package</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설치할 라이브러리</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sample + code</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안전한 연습 데이터와 구현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tests</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지켜야 할 정상·오류 규칙</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improvement.md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수정 전후와 남은 제한</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2015345919"/>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D2F3DA-E02E-418C-B561-8BC1CC637E3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시연</a:t>
            </a:r>
          </a:p>
        </p:txBody>
      </p:sp>
      <p:sp>
        <p:nvSpPr>
          <p:cNvPr id="2" name="">
            <a:extLst xmlns:a="http://schemas.openxmlformats.org/drawingml/2006/main">
              <a:ext uri="{FF2B5EF4-FFF2-40B4-BE49-F238E27FC236}">
                <a16:creationId xmlns:a16="http://schemas.microsoft.com/office/drawing/2014/main" id="{EEC730AE-0D16-47B4-B13F-96E36A7CDD0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필수 검증 실행</a:t>
            </a:r>
          </a:p>
        </p:txBody>
      </p:sp>
      <p:sp>
        <p:nvSpPr>
          <p:cNvPr id="3" name="">
            <a:extLst xmlns:a="http://schemas.openxmlformats.org/drawingml/2006/main">
              <a:ext uri="{FF2B5EF4-FFF2-40B4-BE49-F238E27FC236}">
                <a16:creationId xmlns:a16="http://schemas.microsoft.com/office/drawing/2014/main" id="{4DC68BE7-BB39-4F5B-B4EB-9A324DD7E61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243C0DB-8A44-43A7-BD53-69CB7830626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2570874-0669-498A-B0AC-198CEE24E68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172</a:t>
            </a:r>
          </a:p>
        </p:txBody>
      </p:sp>
      <p:sp>
        <p:nvSpPr>
          <p:cNvPr id="6" name="">
            <a:extLst xmlns:a="http://schemas.openxmlformats.org/drawingml/2006/main">
              <a:ext uri="{FF2B5EF4-FFF2-40B4-BE49-F238E27FC236}">
                <a16:creationId xmlns:a16="http://schemas.microsoft.com/office/drawing/2014/main" id="{A77B76F1-109F-4145-A3DD-524C595F7E4A}"/>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D75BD9-355F-4512-95EA-A200BB7457AB}"/>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python -m pytest -q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tests/test_day4_pr_review_lab.py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tests/test_day4_excel_lab.py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tests/test_day4_document_lab.py</a:t>
            </a:r>
          </a:p>
        </p:txBody>
      </p:sp>
      <p:sp>
        <p:nvSpPr>
          <p:cNvPr id="8" name="">
            <a:extLst xmlns:a="http://schemas.openxmlformats.org/drawingml/2006/main">
              <a:ext uri="{FF2B5EF4-FFF2-40B4-BE49-F238E27FC236}">
                <a16:creationId xmlns:a16="http://schemas.microsoft.com/office/drawing/2014/main" id="{229C2928-22C7-4D7A-82D3-A3CD2D9EED23}"/>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네트워크·유료 API 없는 기본 검증</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학생 수정 코드는 해당 실습 폴더에서 별도 검사</a:t>
            </a:r>
          </a:p>
        </p:txBody>
      </p:sp>
    </p:spTree>
    <p:extLst>
      <p:ext uri="{BB962C8B-B14F-4D97-AF65-F5344CB8AC3E}">
        <p14:creationId xmlns:p14="http://schemas.microsoft.com/office/powerpoint/2010/main" val="484977835"/>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9B179-A5CB-4FC0-89DA-2BC0F2A0348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시연</a:t>
            </a:r>
          </a:p>
        </p:txBody>
      </p:sp>
      <p:sp>
        <p:nvSpPr>
          <p:cNvPr id="2" name="">
            <a:extLst xmlns:a="http://schemas.openxmlformats.org/drawingml/2006/main">
              <a:ext uri="{FF2B5EF4-FFF2-40B4-BE49-F238E27FC236}">
                <a16:creationId xmlns:a16="http://schemas.microsoft.com/office/drawing/2014/main" id="{3CAA4EB6-7176-4765-AE48-E0BB5707E0A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Notebook의 결과 파일</a:t>
            </a:r>
          </a:p>
        </p:txBody>
      </p:sp>
      <p:sp>
        <p:nvSpPr>
          <p:cNvPr id="3" name="">
            <a:extLst xmlns:a="http://schemas.openxmlformats.org/drawingml/2006/main">
              <a:ext uri="{FF2B5EF4-FFF2-40B4-BE49-F238E27FC236}">
                <a16:creationId xmlns:a16="http://schemas.microsoft.com/office/drawing/2014/main" id="{69039610-80D4-497A-AFB5-1F0B91A87F6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20140D6-9B71-4998-9717-4AA50AF18C2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9EF903C-600D-4B87-8C57-C7A111AA020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7415d790bba4185"/>
          <a:stretch xmlns:a="http://schemas.openxmlformats.org/drawingml/2006/main"/>
        </p:blipFill>
        <p:spPr>
          <a:xfrm xmlns:a="http://schemas.openxmlformats.org/drawingml/2006/main">
            <a:off x="2511136" y="1666875"/>
            <a:ext cx="7169727" cy="3943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CD7CFF6-7C03-4647-97A8-CB5319A62405}"/>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161616"/>
                </a:solidFill>
                <a:latin typeface="NanumGothic"/>
                <a:ea typeface="NanumGothic"/>
                <a:cs typeface="NanumGothic"/>
              </a:defRPr>
            </a:pPr>
            <a:r>
              <a:rPr sz="1875" b="0">
                <a:solidFill>
                  <a:srgbClr val="161616"/>
                </a:solidFill>
                <a:latin typeface="NanumGothic"/>
                <a:ea typeface="NanumGothic"/>
                <a:cs typeface="NanumGothic"/>
              </a:rPr>
              <a:t>생성 파일 목록 일부 확대 · 전체 결과는 index.html에서 확인</a:t>
            </a:r>
          </a:p>
        </p:txBody>
      </p:sp>
    </p:spTree>
    <p:extLst>
      <p:ext uri="{BB962C8B-B14F-4D97-AF65-F5344CB8AC3E}">
        <p14:creationId xmlns:p14="http://schemas.microsoft.com/office/powerpoint/2010/main" val="627179906"/>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23F3EE-0A58-443E-9EB0-380F66952C9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1970EB2E-BC71-4545-8BBA-96849708A59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다음 주 3시간 제작</a:t>
            </a:r>
          </a:p>
        </p:txBody>
      </p:sp>
      <p:sp>
        <p:nvSpPr>
          <p:cNvPr id="3" name="">
            <a:extLst xmlns:a="http://schemas.openxmlformats.org/drawingml/2006/main">
              <a:ext uri="{FF2B5EF4-FFF2-40B4-BE49-F238E27FC236}">
                <a16:creationId xmlns:a16="http://schemas.microsoft.com/office/drawing/2014/main" id="{A2D9B501-BE73-4817-937A-2B70416DF1F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73C3AB7-7846-4B93-B5EC-CD333D00580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80DB5B5-2A5D-4443-B153-736444B46890}"/>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시간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개인 작업</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작업 범위</a:t>
                      </a:r>
                    </a:p>
                  </a:txBody>
                  <a:tcPr marL="142875" marR="133350" marT="95250" marB="95250" anchor="ctr">
                    <a:solidFill>
                      <a:srgbClr val="161616"/>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15:00–15:20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문제·입력·완료 기준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기능 하나 선택</a:t>
                      </a:r>
                    </a:p>
                  </a:txBody>
                  <a:tcPr marL="142875" marR="133350" marT="95250" marB="95250" anchor="ctr">
                    <a:solidFill>
                      <a:srgbClr val="FFFFFF"/>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15:20–16:00</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기능 구현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샘플로 실제 실행</a:t>
                      </a:r>
                    </a:p>
                  </a:txBody>
                  <a:tcPr marL="142875" marR="133350" marT="95250" marB="95250" anchor="ctr">
                    <a:solidFill>
                      <a:srgbClr val="F2F3F4"/>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16:00–16:40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오류·테스트·개선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수정 전후 비교</a:t>
                      </a:r>
                    </a:p>
                  </a:txBody>
                  <a:tcPr marL="142875" marR="133350" marT="95250" marB="95250" anchor="ctr">
                    <a:solidFill>
                      <a:srgbClr val="FFFFFF"/>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16:40–17:10</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화면·파일·사용 안내</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다른 사람이 실행</a:t>
                      </a:r>
                    </a:p>
                  </a:txBody>
                  <a:tcPr marL="142875" marR="133350" marT="95250" marB="95250" anchor="ctr">
                    <a:solidFill>
                      <a:srgbClr val="F2F3F4"/>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17:10–17:30</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패키지·개선 기록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미완료와 한계 구분</a:t>
                      </a:r>
                    </a:p>
                  </a:txBody>
                  <a:tcPr marL="142875" marR="133350" marT="95250" marB="95250" anchor="ctr">
                    <a:solidFill>
                      <a:srgbClr val="FFFFFF"/>
                    </a:solidFill>
                  </a:tcPr>
                </a:tc>
              </a:tr>
              <a:tr h="628650">
                <a:tc>
                  <a:txBody>
                    <a:bodyPr wrap="square">
                      <a:noAutofit/>
                    </a:bodyPr>
                    <a:lstStyle/>
                    <a:p>
                      <a:pPr algn="l">
                        <a:lnSpc>
                          <a:spcPct val="105000"/>
                        </a:lnSpc>
                        <a:buNone/>
                      </a:pPr>
                      <a:r>
                        <a:rPr sz="1950" b="1">
                          <a:solidFill>
                            <a:srgbClr val="161616"/>
                          </a:solidFill>
                          <a:latin typeface="NanumGothic"/>
                          <a:ea typeface="NanumGothic"/>
                          <a:cs typeface="NanumGothic"/>
                        </a:rPr>
                        <a:t>17:30–18:00</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쉬는 시간·Q&amp;A</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선택 공유·실습 복구</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35027042"/>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0E2D6B-0CD0-4876-95D7-1E9648BBAE8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503CBD04-3356-47C3-A188-23198A01BAF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제공 코드의 프로젝트 출발점</a:t>
            </a:r>
          </a:p>
        </p:txBody>
      </p:sp>
      <p:sp>
        <p:nvSpPr>
          <p:cNvPr id="3" name="">
            <a:extLst xmlns:a="http://schemas.openxmlformats.org/drawingml/2006/main">
              <a:ext uri="{FF2B5EF4-FFF2-40B4-BE49-F238E27FC236}">
                <a16:creationId xmlns:a16="http://schemas.microsoft.com/office/drawing/2014/main" id="{95136B39-9208-46A8-ABB5-D4C2E1505A9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C8E85BB-9DCB-4189-AB98-DF43BB5DAF0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00FF28E-104A-4282-A36A-474298AC0DB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175</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주제</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최소 기능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확인할 개선</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WBS 도우미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날짜·상태·간트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공휴일·선행 업무</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채점 도구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점수·오류·통계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배점·입력 검증</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이력서 편집기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사실 기반 DOCX</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문장 비교·과장 검사</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PR 리뷰 작업대</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diff·테스트·리뷰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근거·중복·버전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보고서 생성기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데이터의 PPT</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수치 일치·긴 문장</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478392554"/>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932D0F-B873-4677-B172-18001725205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795FF452-DD19-4BD7-839D-277DA2866D0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PM · 프로젝트 관리</a:t>
            </a:r>
          </a:p>
        </p:txBody>
      </p:sp>
      <p:sp>
        <p:nvSpPr>
          <p:cNvPr id="3" name="">
            <a:extLst xmlns:a="http://schemas.openxmlformats.org/drawingml/2006/main">
              <a:ext uri="{FF2B5EF4-FFF2-40B4-BE49-F238E27FC236}">
                <a16:creationId xmlns:a16="http://schemas.microsoft.com/office/drawing/2014/main" id="{B0802B08-4C87-497C-9D1D-B5F783B6D506}"/>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0FA2B5F-4A0E-4910-9423-854F81BAE43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B033AA02-2102-40DA-AD1B-85B37A09F67B}"/>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1508760">
                <a:tc>
                  <a:txBody>
                    <a:bodyPr wrap="square">
                      <a:noAutofit/>
                    </a:bodyPr>
                    <a:lstStyle/>
                    <a:p>
                      <a:pPr algn="l">
                        <a:lnSpc>
                          <a:spcPct val="105000"/>
                        </a:lnSpc>
                        <a:buNone/>
                      </a:pPr>
                      <a:r>
                        <a:rPr sz="1950" b="1">
                          <a:solidFill>
                            <a:srgbClr val="161616"/>
                          </a:solidFill>
                          <a:latin typeface="NanumGothic"/>
                          <a:ea typeface="NanumGothic"/>
                          <a:cs typeface="NanumGothic"/>
                        </a:rPr>
                        <a:t>PM01 일정·지연 점검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업무 JSON → WBS Excel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준비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PM02 주간 보고서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같은 WBS → 보고 PPT</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준비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PM03 변경 요청 대장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요청 CSV → 변경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PM04 위험 점검표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위험 CSV → 검토 HTML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946500423"/>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4AE978-E626-41E8-9DC5-119F41A6F33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84901AF3-C05F-4227-8AE3-9173222111B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고객지원 · 운영</a:t>
            </a:r>
          </a:p>
        </p:txBody>
      </p:sp>
      <p:sp>
        <p:nvSpPr>
          <p:cNvPr id="3" name="">
            <a:extLst xmlns:a="http://schemas.openxmlformats.org/drawingml/2006/main">
              <a:ext uri="{FF2B5EF4-FFF2-40B4-BE49-F238E27FC236}">
                <a16:creationId xmlns:a16="http://schemas.microsoft.com/office/drawing/2014/main" id="{D276D051-873D-4931-AB63-DD67A29E2F7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CEFD31D-9C7A-478D-A9E2-F14C904DC7E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33FA229-5F16-4143-9440-3250D828136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CS01 문의 분류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익명 문의 → 분류 CSV</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CS02 FAQ 답변 초안</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질문·FAQ → 근거 있는 MD</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CS03 상담 인계</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상담 기록 → 인계 DOCX</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CS04 VOC 집계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문의 목록 → 유형별 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573492962"/>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21E4EB-D25C-4AFB-A2EC-C73FACE9A73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B8A9EA98-25D8-4FFD-ABB2-7B94A0C3C00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영업 · 제안</a:t>
            </a:r>
          </a:p>
        </p:txBody>
      </p:sp>
      <p:sp>
        <p:nvSpPr>
          <p:cNvPr id="3" name="">
            <a:extLst xmlns:a="http://schemas.openxmlformats.org/drawingml/2006/main">
              <a:ext uri="{FF2B5EF4-FFF2-40B4-BE49-F238E27FC236}">
                <a16:creationId xmlns:a16="http://schemas.microsoft.com/office/drawing/2014/main" id="{56BFDB37-BFCC-463D-8206-6CDE3050E124}"/>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D35197F-47D6-4DEA-A0DE-1EDAC8D7C38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922DCD24-4EE3-4C83-ABB1-4716CF026F5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178</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SA01 후속 연락 점검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활동 CSV → 예정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SA02 견적 초안</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승인 단가 → 견적 DOCX</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SA03 미팅 후속 초안</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합의 사항 → 메일 MD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SA04 제안 조건 비교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조건 CSV → 비교 Excel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419539809"/>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3CE5A2-ACA4-4A20-8979-DC546EAB6B7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623553C6-E6EE-4330-A1CF-785B62A761B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콘텐츠 · 마케팅</a:t>
            </a:r>
          </a:p>
        </p:txBody>
      </p:sp>
      <p:sp>
        <p:nvSpPr>
          <p:cNvPr id="3" name="">
            <a:extLst xmlns:a="http://schemas.openxmlformats.org/drawingml/2006/main">
              <a:ext uri="{FF2B5EF4-FFF2-40B4-BE49-F238E27FC236}">
                <a16:creationId xmlns:a16="http://schemas.microsoft.com/office/drawing/2014/main" id="{80B34F97-E61D-4F87-9CFB-0707C6EC8AA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0703F81-FBF5-4F24-8633-F0D122492C9A}"/>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00FDC96-CF7C-494F-81CC-7BEC4B9ED24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179</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MK01 콘텐츠 일정</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게시 계획 → 일정 Excel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응용</a:t>
                      </a:r>
                    </a:p>
                  </a:txBody>
                  <a:tcPr marL="142875" marR="133350" marT="95250" marB="95250" anchor="ctr">
                    <a:solidFill>
                      <a:srgbClr val="FFFFFF"/>
                    </a:solidFill>
                  </a:tcPr>
                </a:tc>
              </a:tr>
              <a:tr h="1508760">
                <a:tc>
                  <a:txBody>
                    <a:bodyPr wrap="square">
                      <a:noAutofit/>
                    </a:bodyPr>
                    <a:lstStyle/>
                    <a:p>
                      <a:pPr algn="l">
                        <a:lnSpc>
                          <a:spcPct val="105000"/>
                        </a:lnSpc>
                        <a:buNone/>
                      </a:pPr>
                      <a:r>
                        <a:rPr sz="1950" b="1">
                          <a:solidFill>
                            <a:srgbClr val="161616"/>
                          </a:solidFill>
                          <a:latin typeface="NanumGothic"/>
                          <a:ea typeface="NanumGothic"/>
                          <a:cs typeface="NanumGothic"/>
                        </a:rPr>
                        <a:t>MK02 캠페인 URL 검사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링크 CSV → 오류 목록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MK03 광고 문구 검토</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문구·근거 → 확인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MK04 성과 보고</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지표 CSV → 요약 PPT</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출력 코드 응용</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963719162"/>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5A6ABF-AA91-4ED9-83FD-8D896DCAB17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24FA4AE5-4E6B-43AC-B6A7-AE7F0E5AFF5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HR · 개인 경력</a:t>
            </a:r>
          </a:p>
        </p:txBody>
      </p:sp>
      <p:sp>
        <p:nvSpPr>
          <p:cNvPr id="3" name="">
            <a:extLst xmlns:a="http://schemas.openxmlformats.org/drawingml/2006/main">
              <a:ext uri="{FF2B5EF4-FFF2-40B4-BE49-F238E27FC236}">
                <a16:creationId xmlns:a16="http://schemas.microsoft.com/office/drawing/2014/main" id="{E1B18DFA-8C40-467A-8464-A61847F4A48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02407555-DDF3-46A0-86F1-6A0CC7DDC44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4E55C8A-6DC5-4458-BF5B-C54E80471AA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HR01 경력 문서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경력 사실 → 이력서 Word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준비</a:t>
                      </a:r>
                    </a:p>
                  </a:txBody>
                  <a:tcPr marL="142875" marR="133350" marT="95250" marB="95250" anchor="ctr">
                    <a:solidFill>
                      <a:srgbClr val="FFFFFF"/>
                    </a:solidFill>
                  </a:tcPr>
                </a:tc>
              </a:tr>
              <a:tr h="1508760">
                <a:tc>
                  <a:txBody>
                    <a:bodyPr wrap="square">
                      <a:noAutofit/>
                    </a:bodyPr>
                    <a:lstStyle/>
                    <a:p>
                      <a:pPr algn="l">
                        <a:lnSpc>
                          <a:spcPct val="105000"/>
                        </a:lnSpc>
                        <a:buNone/>
                      </a:pPr>
                      <a:r>
                        <a:rPr sz="1950" b="1">
                          <a:solidFill>
                            <a:srgbClr val="161616"/>
                          </a:solidFill>
                          <a:latin typeface="NanumGothic"/>
                          <a:ea typeface="NanumGothic"/>
                          <a:cs typeface="NanumGothic"/>
                        </a:rPr>
                        <a:t>HR02 포트폴리오 목록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프로젝트 CSV → 소개 HTML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HR03 온보딩 안내</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업무 목록 → 체크리스트</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응용</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HR04 학습 계획</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자가 점검 → 학습 목록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07814476"/>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7D9124-7586-4677-AF7D-963C2771884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C9155983-13A6-4185-BDD4-2CEFC4572BE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교육 · 학습 운영</a:t>
            </a:r>
          </a:p>
        </p:txBody>
      </p:sp>
      <p:sp>
        <p:nvSpPr>
          <p:cNvPr id="3" name="">
            <a:extLst xmlns:a="http://schemas.openxmlformats.org/drawingml/2006/main">
              <a:ext uri="{FF2B5EF4-FFF2-40B4-BE49-F238E27FC236}">
                <a16:creationId xmlns:a16="http://schemas.microsoft.com/office/drawing/2014/main" id="{119F31F8-FF63-41A3-BBB1-AC3582A2428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420B6BF-9167-421F-8E49-8D87B0FB9E6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EAB7294-1D1B-4166-9C25-28642CDF21D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181</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ED01 객관식 채점</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합성 답안 → 채점 Excel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준비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ED02 문항 형식 검사</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문항 JSON → 오류 목록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ED03 학습 피드백</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교사 확인 항목 → Word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출력 코드 응용</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ED04 출결 집계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합성 출결 → 집계 Excel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586897211"/>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08DD41-3A5A-4C09-9545-5789E413445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FB170065-B580-4134-81AB-00E79A289FF9}"/>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경영지원 · 문서</a:t>
            </a:r>
          </a:p>
        </p:txBody>
      </p:sp>
      <p:sp>
        <p:nvSpPr>
          <p:cNvPr id="3" name="">
            <a:extLst xmlns:a="http://schemas.openxmlformats.org/drawingml/2006/main">
              <a:ext uri="{FF2B5EF4-FFF2-40B4-BE49-F238E27FC236}">
                <a16:creationId xmlns:a16="http://schemas.microsoft.com/office/drawing/2014/main" id="{A607B8AC-1E87-436A-B6FC-5F4028442A8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3A121795-E7C6-401F-AEA8-1960E0454EF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0E199F97-5FB7-4152-9065-FAF6C75C7D2C}"/>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182</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AD01 지출 자료 점검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지출 CSV → 누락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AD02 업무 인수인계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담당 업무 → 인계 Word</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출력 코드 응용</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AD03 문서 갱신 점검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기한 CSV → 예정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AD04 구매 조건 비교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제품 조건 → 비교 Excel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808169257"/>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7F9C39-A38B-4EEF-B335-CDBCB5396FF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7A16CDF4-6CB8-40B2-9B87-FB51027C124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개발 · 운영</a:t>
            </a:r>
          </a:p>
        </p:txBody>
      </p:sp>
      <p:sp>
        <p:nvSpPr>
          <p:cNvPr id="3" name="">
            <a:extLst xmlns:a="http://schemas.openxmlformats.org/drawingml/2006/main">
              <a:ext uri="{FF2B5EF4-FFF2-40B4-BE49-F238E27FC236}">
                <a16:creationId xmlns:a16="http://schemas.microsoft.com/office/drawing/2014/main" id="{97D38BEC-83A4-49D8-895C-683A3E51D3E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EEE8DE9D-30F4-4BB9-900A-8CA6DB80AD4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B7F0D72-37E2-4170-BA65-5F82BA11082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DV01 PR 리뷰 작업대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합성 diff → 리뷰 HTML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코드 준비</a:t>
                      </a:r>
                    </a:p>
                  </a:txBody>
                  <a:tcPr marL="142875" marR="133350" marT="95250" marB="95250" anchor="ctr">
                    <a:solidFill>
                      <a:srgbClr val="FFFFFF"/>
                    </a:solidFill>
                  </a:tcPr>
                </a:tc>
              </a:tr>
              <a:tr h="1508760">
                <a:tc>
                  <a:txBody>
                    <a:bodyPr wrap="square">
                      <a:noAutofit/>
                    </a:bodyPr>
                    <a:lstStyle/>
                    <a:p>
                      <a:pPr algn="l">
                        <a:lnSpc>
                          <a:spcPct val="105000"/>
                        </a:lnSpc>
                        <a:buNone/>
                      </a:pPr>
                      <a:r>
                        <a:rPr sz="1950" b="1">
                          <a:solidFill>
                            <a:srgbClr val="161616"/>
                          </a:solidFill>
                          <a:latin typeface="NanumGothic"/>
                          <a:ea typeface="NanumGothic"/>
                          <a:cs typeface="NanumGothic"/>
                        </a:rPr>
                        <a:t>DV02 테스트 실패 분류</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pytest 로그 → 오류 MD</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DV03 릴리스 점검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상태 JSON → 점검 HTML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DV04 실행 이력 보고</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로그 CSV → 실패 집계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214365244"/>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92F6DC-19C7-48E3-9EDD-35FE008136F5}"/>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선택 참고</a:t>
            </a:r>
          </a:p>
        </p:txBody>
      </p:sp>
      <p:sp>
        <p:nvSpPr>
          <p:cNvPr id="2" name="">
            <a:extLst xmlns:a="http://schemas.openxmlformats.org/drawingml/2006/main">
              <a:ext uri="{FF2B5EF4-FFF2-40B4-BE49-F238E27FC236}">
                <a16:creationId xmlns:a16="http://schemas.microsoft.com/office/drawing/2014/main" id="{7708A3F3-4210-4730-92B4-93B84A8AEF04}"/>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지식 · 회의</a:t>
            </a:r>
          </a:p>
        </p:txBody>
      </p:sp>
      <p:sp>
        <p:nvSpPr>
          <p:cNvPr id="3" name="">
            <a:extLst xmlns:a="http://schemas.openxmlformats.org/drawingml/2006/main">
              <a:ext uri="{FF2B5EF4-FFF2-40B4-BE49-F238E27FC236}">
                <a16:creationId xmlns:a16="http://schemas.microsoft.com/office/drawing/2014/main" id="{573E76C6-571D-4553-9E1B-355E9A4ED44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77E45238-B6D7-4F45-87CA-9593A4EE7F75}"/>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C31728FB-AE86-4C61-8780-74BAFD6E972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184</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프로젝트</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입력과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출발 상태</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KN01 회의 할 일</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회의 TXT → 할 일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2주차 코드 응용</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KN02 결정 변경 비교</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신·구 기록 → 차이 MD</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KN03 자료 찾아보기</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허용 MD → 검색 HTML</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FFFFF"/>
                    </a:solidFill>
                  </a:tcPr>
                </a:tc>
              </a:tr>
              <a:tr h="1508760">
                <a:tc>
                  <a:txBody>
                    <a:bodyPr wrap="square">
                      <a:noAutofit/>
                    </a:bodyPr>
                    <a:lstStyle/>
                    <a:p>
                      <a:pPr algn="l">
                        <a:lnSpc>
                          <a:spcPct val="105000"/>
                        </a:lnSpc>
                        <a:buNone/>
                      </a:pPr>
                      <a:r>
                        <a:rPr sz="1950" b="1">
                          <a:solidFill>
                            <a:srgbClr val="161616"/>
                          </a:solidFill>
                          <a:latin typeface="NanumGothic"/>
                          <a:ea typeface="NanumGothic"/>
                          <a:cs typeface="NanumGothic"/>
                        </a:rPr>
                        <a:t>KN04 회의 사전 브리프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지정 자료 → 근거 목록</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로직 구현</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2083197568"/>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9066EE8-A059-4144-AF50-8F19208B2B2C}"/>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작업 정의</a:t>
            </a:r>
          </a:p>
        </p:txBody>
      </p:sp>
      <p:sp>
        <p:nvSpPr>
          <p:cNvPr id="2" name="">
            <a:extLst xmlns:a="http://schemas.openxmlformats.org/drawingml/2006/main">
              <a:ext uri="{FF2B5EF4-FFF2-40B4-BE49-F238E27FC236}">
                <a16:creationId xmlns:a16="http://schemas.microsoft.com/office/drawing/2014/main" id="{4598D7D5-D72D-4C05-A21A-2D08EF17BEC3}"/>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개인 과제의 범위</a:t>
            </a:r>
          </a:p>
        </p:txBody>
      </p:sp>
      <p:sp>
        <p:nvSpPr>
          <p:cNvPr id="3" name="">
            <a:extLst xmlns:a="http://schemas.openxmlformats.org/drawingml/2006/main">
              <a:ext uri="{FF2B5EF4-FFF2-40B4-BE49-F238E27FC236}">
                <a16:creationId xmlns:a16="http://schemas.microsoft.com/office/drawing/2014/main" id="{19BD58AE-75E7-48F3-BD7F-880794D9893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55E3C57-EA68-49C2-B1F5-D08FD0D7A035}"/>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5A67A23-F238-431A-B727-ADD94A96C23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185</a:t>
            </a:r>
          </a:p>
        </p:txBody>
      </p:sp>
      <p:sp>
        <p:nvSpPr>
          <p:cNvPr id="6" name="">
            <a:extLst xmlns:a="http://schemas.openxmlformats.org/drawingml/2006/main">
              <a:ext uri="{FF2B5EF4-FFF2-40B4-BE49-F238E27FC236}">
                <a16:creationId xmlns:a16="http://schemas.microsoft.com/office/drawing/2014/main" id="{BAF9A70F-E238-437A-A6F6-29097E7DD689}"/>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76EE79AA-0652-477E-9069-CECBA3234E6F}"/>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다음 주 만들고 싶은 도구 하나 선택</a:t>
            </a:r>
          </a:p>
        </p:txBody>
      </p:sp>
      <p:sp>
        <p:nvSpPr>
          <p:cNvPr id="8" name="">
            <a:extLst xmlns:a="http://schemas.openxmlformats.org/drawingml/2006/main">
              <a:ext uri="{FF2B5EF4-FFF2-40B4-BE49-F238E27FC236}">
                <a16:creationId xmlns:a16="http://schemas.microsoft.com/office/drawing/2014/main" id="{00D74147-5059-4058-92D7-172574B187AE}"/>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12D8E0F5-69DC-42A9-B028-3147303D57C6}"/>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사용자·입력·결과를 README에 작성</a:t>
            </a:r>
          </a:p>
        </p:txBody>
      </p:sp>
      <p:sp>
        <p:nvSpPr>
          <p:cNvPr id="10" name="">
            <a:extLst xmlns:a="http://schemas.openxmlformats.org/drawingml/2006/main">
              <a:ext uri="{FF2B5EF4-FFF2-40B4-BE49-F238E27FC236}">
                <a16:creationId xmlns:a16="http://schemas.microsoft.com/office/drawing/2014/main" id="{CF82DB19-0FE6-4DEC-9C93-28B654D3DCC3}"/>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BC3B1AF2-392B-48C5-A009-1F9215585DD9}"/>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정상 사례 1개·실패 사례 2개 정의</a:t>
            </a:r>
          </a:p>
        </p:txBody>
      </p:sp>
      <p:sp>
        <p:nvSpPr>
          <p:cNvPr id="12" name="">
            <a:extLst xmlns:a="http://schemas.openxmlformats.org/drawingml/2006/main">
              <a:ext uri="{FF2B5EF4-FFF2-40B4-BE49-F238E27FC236}">
                <a16:creationId xmlns:a16="http://schemas.microsoft.com/office/drawing/2014/main" id="{43FD63AD-A04C-43AF-8015-8681E3351364}"/>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AE75BF40-CD59-4CFB-AD73-04EB0E380922}"/>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materials/day5/미니프로젝트_사전안내.md</a:t>
            </a:r>
          </a:p>
        </p:txBody>
      </p:sp>
      <p:sp>
        <p:nvSpPr>
          <p:cNvPr id="14" name="">
            <a:extLst xmlns:a="http://schemas.openxmlformats.org/drawingml/2006/main">
              <a:ext uri="{FF2B5EF4-FFF2-40B4-BE49-F238E27FC236}">
                <a16:creationId xmlns:a16="http://schemas.microsoft.com/office/drawing/2014/main" id="{B8538FA6-5DD3-4715-B804-3AD6DFE2D9DD}"/>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무엇이 실행되면 완료인지 명확한 문장</a:t>
            </a:r>
          </a:p>
        </p:txBody>
      </p:sp>
    </p:spTree>
    <p:extLst>
      <p:ext uri="{BB962C8B-B14F-4D97-AF65-F5344CB8AC3E}">
        <p14:creationId xmlns:p14="http://schemas.microsoft.com/office/powerpoint/2010/main" val="1873247037"/>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87FBCC-81BA-43A0-B2F4-7588344C87E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3BC72594-D02C-4136-8540-18186A924C3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사용자 한 명의 반복 업무</a:t>
            </a:r>
          </a:p>
        </p:txBody>
      </p:sp>
      <p:sp>
        <p:nvSpPr>
          <p:cNvPr id="3" name="">
            <a:extLst xmlns:a="http://schemas.openxmlformats.org/drawingml/2006/main">
              <a:ext uri="{FF2B5EF4-FFF2-40B4-BE49-F238E27FC236}">
                <a16:creationId xmlns:a16="http://schemas.microsoft.com/office/drawing/2014/main" id="{67DCDD38-C9A2-45F7-83D1-1D73CCD005A1}"/>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DAEE47C-3D69-4DD9-8437-BD1B6430459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47B6E5C3-0BDD-4554-9FD1-E62267C417C7}"/>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186</a:t>
            </a:r>
          </a:p>
        </p:txBody>
      </p:sp>
      <p:sp>
        <p:nvSpPr>
          <p:cNvPr id="6" name="">
            <a:extLst xmlns:a="http://schemas.openxmlformats.org/drawingml/2006/main">
              <a:ext uri="{FF2B5EF4-FFF2-40B4-BE49-F238E27FC236}">
                <a16:creationId xmlns:a16="http://schemas.microsoft.com/office/drawing/2014/main" id="{A09E6E5C-0282-4C5B-A04F-7ACD5372CA26}"/>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8EB61DC2-1F52-4978-AD82-C26C25C15F0B}"/>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PM 민지: 매주 WBS에서 지연 업무 확인</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입력: 업무 14개와 이번 기준일</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첫 결과: 확인이 필요한 업무의 로컬 목록</a:t>
            </a:r>
          </a:p>
        </p:txBody>
      </p:sp>
    </p:spTree>
    <p:extLst>
      <p:ext uri="{BB962C8B-B14F-4D97-AF65-F5344CB8AC3E}">
        <p14:creationId xmlns:p14="http://schemas.microsoft.com/office/powerpoint/2010/main" val="1288193469"/>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F99215-B17E-49EC-8666-7578CC6CE0E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범위 선택</a:t>
            </a:r>
          </a:p>
        </p:txBody>
      </p:sp>
      <p:sp>
        <p:nvSpPr>
          <p:cNvPr id="2" name="">
            <a:extLst xmlns:a="http://schemas.openxmlformats.org/drawingml/2006/main">
              <a:ext uri="{FF2B5EF4-FFF2-40B4-BE49-F238E27FC236}">
                <a16:creationId xmlns:a16="http://schemas.microsoft.com/office/drawing/2014/main" id="{9243773B-009B-4E3E-B168-3E482A91FA9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첫 버전과 이후 확장</a:t>
            </a:r>
          </a:p>
        </p:txBody>
      </p:sp>
      <p:sp>
        <p:nvSpPr>
          <p:cNvPr id="3" name="">
            <a:extLst xmlns:a="http://schemas.openxmlformats.org/drawingml/2006/main">
              <a:ext uri="{FF2B5EF4-FFF2-40B4-BE49-F238E27FC236}">
                <a16:creationId xmlns:a16="http://schemas.microsoft.com/office/drawing/2014/main" id="{0CD7B50C-F1CB-46E8-B8A3-09AF8C3FB040}"/>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1DFC440-1611-46F8-A6D7-A5ACC97626F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30ED1BB-CF79-4FCF-A237-C0A973BD966F}"/>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구분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첫 버전</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나중의 개선</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입력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지정한 파일 한 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여러 시스템 수집</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판단</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날짜·상태의 명시적 규칙</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AI의 원인 설명</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결과</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새 로컬 CSV 한 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메일·Slack 전달</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확인</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정상 1건·실패 2건</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다중 사용자·운영 로그</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720159883"/>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896825-1B29-4F49-83F8-4F36D30F9FA3}"/>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Ideation · 입력 설계</a:t>
            </a:r>
          </a:p>
        </p:txBody>
      </p:sp>
      <p:sp>
        <p:nvSpPr>
          <p:cNvPr id="2" name="">
            <a:extLst xmlns:a="http://schemas.openxmlformats.org/drawingml/2006/main">
              <a:ext uri="{FF2B5EF4-FFF2-40B4-BE49-F238E27FC236}">
                <a16:creationId xmlns:a16="http://schemas.microsoft.com/office/drawing/2014/main" id="{6E593DD5-9B2F-48B9-8685-7431961C4531}"/>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입력 파일의 세 가지 상태</a:t>
            </a:r>
          </a:p>
        </p:txBody>
      </p:sp>
      <p:sp>
        <p:nvSpPr>
          <p:cNvPr id="3" name="">
            <a:extLst xmlns:a="http://schemas.openxmlformats.org/drawingml/2006/main">
              <a:ext uri="{FF2B5EF4-FFF2-40B4-BE49-F238E27FC236}">
                <a16:creationId xmlns:a16="http://schemas.microsoft.com/office/drawing/2014/main" id="{B093BB3D-A4D4-4129-B4DD-D4AFB50100B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0CD5FEF-A8A2-4269-9DC9-8F51954945EC}"/>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26DF91B-59A7-4572-9D8C-B9407176DE0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188</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619500"/>
                <a:gridCol w="4000500"/>
                <a:gridCol w="335280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파일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준비 내용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확인할 차이</a:t>
                      </a:r>
                    </a:p>
                  </a:txBody>
                  <a:tcPr marL="142875" marR="133350" marT="95250" marB="95250" anchor="ctr">
                    <a:solidFill>
                      <a:srgbClr val="161616"/>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sample_normal.json</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형식이 맞는 업무 목록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기본 결과 생성</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sample_bad_date.json</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끝 날짜가 시작보다 빠름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날짜 오류 거절</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sample_bad_id.json</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존재하지 않는 선행 ID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관계 오류 거절</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471083372"/>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BDE538-F000-478C-8F3C-9C9F72D0A3AE}"/>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시연</a:t>
            </a:r>
          </a:p>
        </p:txBody>
      </p:sp>
      <p:sp>
        <p:nvSpPr>
          <p:cNvPr id="2" name="">
            <a:extLst xmlns:a="http://schemas.openxmlformats.org/drawingml/2006/main">
              <a:ext uri="{FF2B5EF4-FFF2-40B4-BE49-F238E27FC236}">
                <a16:creationId xmlns:a16="http://schemas.microsoft.com/office/drawing/2014/main" id="{A065E2A8-385C-4EA2-8629-B06CD8A83A25}"/>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첫 제작 요청</a:t>
            </a:r>
          </a:p>
        </p:txBody>
      </p:sp>
      <p:sp>
        <p:nvSpPr>
          <p:cNvPr id="3" name="">
            <a:extLst xmlns:a="http://schemas.openxmlformats.org/drawingml/2006/main">
              <a:ext uri="{FF2B5EF4-FFF2-40B4-BE49-F238E27FC236}">
                <a16:creationId xmlns:a16="http://schemas.microsoft.com/office/drawing/2014/main" id="{9228FDB0-564E-48BD-B893-F1042E29FFD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0BF0D26-33B0-45F5-958F-1E46E6C81BB8}"/>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24F0F627-6547-4948-8EE4-2C54170DBE36}"/>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189</a:t>
            </a:r>
          </a:p>
        </p:txBody>
      </p:sp>
      <p:sp>
        <p:nvSpPr>
          <p:cNvPr id="6" name="">
            <a:extLst xmlns:a="http://schemas.openxmlformats.org/drawingml/2006/main">
              <a:ext uri="{FF2B5EF4-FFF2-40B4-BE49-F238E27FC236}">
                <a16:creationId xmlns:a16="http://schemas.microsoft.com/office/drawing/2014/main" id="{2C945ABB-35F6-44EC-AA0B-17857948E1F2}"/>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84056EB4-C785-4C3F-B6AC-82850659FBCD}"/>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54C857-5BA6-4DC4-B060-93CF08727CB9}"/>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wbs_tasks.json과 student_excel.py를 읽어 줘. PM이 이번 기준일의 지연 업무만 보는 로컬 목록이 필요해. 입력 파일은 보존하고, calculate_wbs의 결과를 필터링하는 작은 함수를 제안해 줘. 파일 생성과 실행 전에 변경 위치·정상 사례·실패 사례 두 가지를 먼저 보여 줘. 외부 연결과 게시 기능은 제외해 줘.</a:t>
            </a:r>
          </a:p>
        </p:txBody>
      </p:sp>
      <p:sp>
        <p:nvSpPr>
          <p:cNvPr id="9" name="">
            <a:extLst xmlns:a="http://schemas.openxmlformats.org/drawingml/2006/main">
              <a:ext uri="{FF2B5EF4-FFF2-40B4-BE49-F238E27FC236}">
                <a16:creationId xmlns:a16="http://schemas.microsoft.com/office/drawing/2014/main" id="{230D9EFA-B9AC-4179-B612-A9CC12520317}"/>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F1E05993-6210-4044-9553-5C6B0DD1A5A1}"/>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사용자 · 입력 경로 · 최소 함수 · 금지 행동</a:t>
            </a:r>
          </a:p>
        </p:txBody>
      </p:sp>
    </p:spTree>
    <p:extLst>
      <p:ext uri="{BB962C8B-B14F-4D97-AF65-F5344CB8AC3E}">
        <p14:creationId xmlns:p14="http://schemas.microsoft.com/office/powerpoint/2010/main" val="1765081894"/>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D4C3DA-6127-44FD-AD7E-BD9EA7ADD75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시연</a:t>
            </a:r>
          </a:p>
        </p:txBody>
      </p:sp>
      <p:sp>
        <p:nvSpPr>
          <p:cNvPr id="2" name="">
            <a:extLst xmlns:a="http://schemas.openxmlformats.org/drawingml/2006/main">
              <a:ext uri="{FF2B5EF4-FFF2-40B4-BE49-F238E27FC236}">
                <a16:creationId xmlns:a16="http://schemas.microsoft.com/office/drawing/2014/main" id="{FD68D3C2-C16D-4469-9E75-2103D2FAB3CE}"/>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계획과 구현 결과의 구분</a:t>
            </a:r>
          </a:p>
        </p:txBody>
      </p:sp>
      <p:sp>
        <p:nvSpPr>
          <p:cNvPr id="3" name="">
            <a:extLst xmlns:a="http://schemas.openxmlformats.org/drawingml/2006/main">
              <a:ext uri="{FF2B5EF4-FFF2-40B4-BE49-F238E27FC236}">
                <a16:creationId xmlns:a16="http://schemas.microsoft.com/office/drawing/2014/main" id="{3C72C424-BDDD-4050-B29A-69F7A2EDFF62}"/>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A4920E04-2F42-429A-A96F-ADA93318A92B}"/>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A3C481E-CB68-4AD0-9750-7B61A6098519}"/>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190</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대화 응답</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아직 확인할 것</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다음 요청</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구현 계획만 제시</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실제 코드 변경 여부</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계획한 함수의 코드 작성</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코드 블록 제시</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저장 위치·호출 방법</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파일 저장과 실행 명령</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테스트 통과 주장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실제 명령과 출력</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정상·오류 결과 제시</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CSV 생성 완료</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파일 내용·열 구조</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직접 열어 입력과 대조</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1955884546"/>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D58036E-6DAC-4BFC-8D86-F21CCF8BC22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코드·파일 작업</a:t>
            </a:r>
          </a:p>
        </p:txBody>
      </p:sp>
      <p:sp>
        <p:nvSpPr>
          <p:cNvPr id="2" name="">
            <a:extLst xmlns:a="http://schemas.openxmlformats.org/drawingml/2006/main">
              <a:ext uri="{FF2B5EF4-FFF2-40B4-BE49-F238E27FC236}">
                <a16:creationId xmlns:a16="http://schemas.microsoft.com/office/drawing/2014/main" id="{CE281D9D-E124-4956-AA28-A92DF66F84D8}"/>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개선 기능의 첫 구현</a:t>
            </a:r>
          </a:p>
        </p:txBody>
      </p:sp>
      <p:sp>
        <p:nvSpPr>
          <p:cNvPr id="3" name="">
            <a:extLst xmlns:a="http://schemas.openxmlformats.org/drawingml/2006/main">
              <a:ext uri="{FF2B5EF4-FFF2-40B4-BE49-F238E27FC236}">
                <a16:creationId xmlns:a16="http://schemas.microsoft.com/office/drawing/2014/main" id="{30DA60D1-CA2B-4B13-A1F3-49C1F8A0BFB9}"/>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656CBF5E-41C5-4CD8-91E5-EB934DF99A8E}"/>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347076D-00A2-4D68-817A-27F818604C23}"/>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191</a:t>
            </a:r>
          </a:p>
        </p:txBody>
      </p:sp>
      <p:sp>
        <p:nvSpPr>
          <p:cNvPr id="6" name="">
            <a:extLst xmlns:a="http://schemas.openxmlformats.org/drawingml/2006/main">
              <a:ext uri="{FF2B5EF4-FFF2-40B4-BE49-F238E27FC236}">
                <a16:creationId xmlns:a16="http://schemas.microsoft.com/office/drawing/2014/main" id="{76C72E3C-9698-4EBD-BB42-83D4AA35F692}"/>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94621C55-3AAA-4760-8F3F-2D5753802667}"/>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이번 코드에서 작은 기능 한 가지 선택</a:t>
            </a:r>
          </a:p>
        </p:txBody>
      </p:sp>
      <p:sp>
        <p:nvSpPr>
          <p:cNvPr id="8" name="">
            <a:extLst xmlns:a="http://schemas.openxmlformats.org/drawingml/2006/main">
              <a:ext uri="{FF2B5EF4-FFF2-40B4-BE49-F238E27FC236}">
                <a16:creationId xmlns:a16="http://schemas.microsoft.com/office/drawing/2014/main" id="{7CFB5508-BB38-409C-89F1-58AC92564518}"/>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7A0B6D82-5BF1-4F60-994F-6A686FA38D99}"/>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Codex에 함수·테스트의 수정 계획 요청</a:t>
            </a:r>
          </a:p>
        </p:txBody>
      </p:sp>
      <p:sp>
        <p:nvSpPr>
          <p:cNvPr id="10" name="">
            <a:extLst xmlns:a="http://schemas.openxmlformats.org/drawingml/2006/main">
              <a:ext uri="{FF2B5EF4-FFF2-40B4-BE49-F238E27FC236}">
                <a16:creationId xmlns:a16="http://schemas.microsoft.com/office/drawing/2014/main" id="{B714531A-B514-4608-8CB8-5ABF24975EB6}"/>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E3884483-7E76-4455-8033-D62D8AE2E284}"/>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코드를 수정하고 해당 테스트 실행</a:t>
            </a:r>
          </a:p>
        </p:txBody>
      </p:sp>
      <p:sp>
        <p:nvSpPr>
          <p:cNvPr id="12" name="">
            <a:extLst xmlns:a="http://schemas.openxmlformats.org/drawingml/2006/main">
              <a:ext uri="{FF2B5EF4-FFF2-40B4-BE49-F238E27FC236}">
                <a16:creationId xmlns:a16="http://schemas.microsoft.com/office/drawing/2014/main" id="{4332BF67-0B4A-4E20-BB0B-147B2BCAE8BF}"/>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2FA4DF42-9CD9-4C66-A9CE-D6C1032BA32A}"/>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내 개인 연습 폴더</a:t>
            </a:r>
          </a:p>
        </p:txBody>
      </p:sp>
      <p:sp>
        <p:nvSpPr>
          <p:cNvPr id="14" name="">
            <a:extLst xmlns:a="http://schemas.openxmlformats.org/drawingml/2006/main">
              <a:ext uri="{FF2B5EF4-FFF2-40B4-BE49-F238E27FC236}">
                <a16:creationId xmlns:a16="http://schemas.microsoft.com/office/drawing/2014/main" id="{807C1964-FF3C-4623-8779-C0E7ACBD442F}"/>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실제 변경 diff와 실행 결과</a:t>
            </a:r>
          </a:p>
        </p:txBody>
      </p:sp>
    </p:spTree>
    <p:extLst>
      <p:ext uri="{BB962C8B-B14F-4D97-AF65-F5344CB8AC3E}">
        <p14:creationId xmlns:p14="http://schemas.microsoft.com/office/powerpoint/2010/main" val="426840841"/>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8791E3-F45A-4E2E-A421-37CE8CF3B556}"/>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코드·파일 작업</a:t>
            </a:r>
          </a:p>
        </p:txBody>
      </p:sp>
      <p:sp>
        <p:nvSpPr>
          <p:cNvPr id="2" name="">
            <a:extLst xmlns:a="http://schemas.openxmlformats.org/drawingml/2006/main">
              <a:ext uri="{FF2B5EF4-FFF2-40B4-BE49-F238E27FC236}">
                <a16:creationId xmlns:a16="http://schemas.microsoft.com/office/drawing/2014/main" id="{4E55FD09-83A9-4DC6-BC70-19A1154A6CB6}"/>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기존 계산의 재사용</a:t>
            </a:r>
          </a:p>
        </p:txBody>
      </p:sp>
      <p:sp>
        <p:nvSpPr>
          <p:cNvPr id="3" name="">
            <a:extLst xmlns:a="http://schemas.openxmlformats.org/drawingml/2006/main">
              <a:ext uri="{FF2B5EF4-FFF2-40B4-BE49-F238E27FC236}">
                <a16:creationId xmlns:a16="http://schemas.microsoft.com/office/drawing/2014/main" id="{2EE31838-8F8B-4DA9-A4C6-962DE191AA0F}"/>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B6FA3E57-8267-4A6B-84C1-FE6044C9E196}"/>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FCF1B4F4-141E-4123-8D45-C4D04E26EEF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192</a:t>
            </a:r>
          </a:p>
        </p:txBody>
      </p:sp>
      <p:sp>
        <p:nvSpPr>
          <p:cNvPr id="6" name="">
            <a:extLst xmlns:a="http://schemas.openxmlformats.org/drawingml/2006/main">
              <a:ext uri="{FF2B5EF4-FFF2-40B4-BE49-F238E27FC236}">
                <a16:creationId xmlns:a16="http://schemas.microsoft.com/office/drawing/2014/main" id="{3F12268E-8036-46E5-9579-2484DB9E5F8C}"/>
              </a:ext>
            </a:extLst>
          </p:cNvPr>
          <p:cNvSpPr>
            <a:spLocks xmlns:a="http://schemas.openxmlformats.org/drawingml/2006/main" noGrp="1"/>
          </p:cNvSpPr>
          <p:nvPr/>
        </p:nvSpPr>
        <p:spPr>
          <a:xfrm xmlns:a="http://schemas.openxmlformats.org/drawingml/2006/main">
            <a:off x="609600" y="1752600"/>
            <a:ext cx="10972800" cy="3400425"/>
          </a:xfrm>
          <a:prstGeom xmlns:a="http://schemas.openxmlformats.org/drawingml/2006/main" prst="rect">
            <a:avLst/>
          </a:prstGeom>
          <a:solidFill xmlns:a="http://schemas.openxmlformats.org/drawingml/2006/main">
            <a:srgbClr val="1616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DA5547-4E4B-4C27-A8DE-96FC43A1ECE0}"/>
              </a:ext>
            </a:extLst>
          </p:cNvPr>
          <p:cNvSpPr>
            <a:spLocks xmlns:a="http://schemas.openxmlformats.org/drawingml/2006/main" noGrp="1"/>
          </p:cNvSpPr>
          <p:nvPr/>
        </p:nvSpPr>
        <p:spPr>
          <a:xfrm xmlns:a="http://schemas.openxmlformats.org/drawingml/2006/main">
            <a:off x="838200" y="1981200"/>
            <a:ext cx="105156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from labs.day4.office_lab.sheets.student_excel import (</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load_sample, calculate_wbs</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def delayed_tasks(tasks, as_of):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rows = calculate_wbs(tasks, as_of)</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return [row for row in rows if row["status"] == "지연"]</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items = delayed_tasks(load_sample("wbs_tasks.json"),</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                      "2026-09-25")</a:t>
            </a:r>
          </a:p>
          <a:p xmlns:a="http://schemas.openxmlformats.org/drawingml/2006/main">
            <a:pPr algn="l">
              <a:lnSpc>
                <a:spcPct val="112000"/>
              </a:lnSpc>
              <a:buNone/>
              <a:defRPr sz="1800" b="0">
                <a:solidFill>
                  <a:srgbClr val="FFFFFF"/>
                </a:solidFill>
                <a:latin typeface="Menlo"/>
                <a:ea typeface="Menlo"/>
                <a:cs typeface="Menlo"/>
              </a:defRPr>
            </a:pPr>
            <a:r>
              <a:rPr sz="1800" b="0">
                <a:solidFill>
                  <a:srgbClr val="FFFFFF"/>
                </a:solidFill>
                <a:latin typeface="Menlo"/>
                <a:ea typeface="Menlo"/>
                <a:cs typeface="Menlo"/>
              </a:rPr>
              <a:t>print([row["id"] for row in items])</a:t>
            </a:r>
          </a:p>
        </p:txBody>
      </p:sp>
      <p:sp>
        <p:nvSpPr>
          <p:cNvPr id="8" name="">
            <a:extLst xmlns:a="http://schemas.openxmlformats.org/drawingml/2006/main">
              <a:ext uri="{FF2B5EF4-FFF2-40B4-BE49-F238E27FC236}">
                <a16:creationId xmlns:a16="http://schemas.microsoft.com/office/drawing/2014/main" id="{7C39F983-957C-4081-9914-DBF3A52B9B1F}"/>
              </a:ext>
            </a:extLst>
          </p:cNvPr>
          <p:cNvSpPr>
            <a:spLocks xmlns:a="http://schemas.openxmlformats.org/drawingml/2006/main" noGrp="1"/>
          </p:cNvSpPr>
          <p:nvPr/>
        </p:nvSpPr>
        <p:spPr>
          <a:xfrm xmlns:a="http://schemas.openxmlformats.org/drawingml/2006/main">
            <a:off x="609600" y="5372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기본 입력: 지연 업무 2개</a:t>
            </a:r>
          </a:p>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새 함수는 계산을 다시 만들지 않고 결과를 선택</a:t>
            </a:r>
          </a:p>
        </p:txBody>
      </p:sp>
    </p:spTree>
    <p:extLst>
      <p:ext uri="{BB962C8B-B14F-4D97-AF65-F5344CB8AC3E}">
        <p14:creationId xmlns:p14="http://schemas.microsoft.com/office/powerpoint/2010/main" val="1966151728"/>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77AE89-1044-48E8-AFD8-A3AF7777F4B0}"/>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코드·파일 작업</a:t>
            </a:r>
          </a:p>
        </p:txBody>
      </p:sp>
      <p:sp>
        <p:nvSpPr>
          <p:cNvPr id="2" name="">
            <a:extLst xmlns:a="http://schemas.openxmlformats.org/drawingml/2006/main">
              <a:ext uri="{FF2B5EF4-FFF2-40B4-BE49-F238E27FC236}">
                <a16:creationId xmlns:a16="http://schemas.microsoft.com/office/drawing/2014/main" id="{500C1F46-3E51-4452-936B-0B2E6C6674C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직접 확인할 세 가지 결과</a:t>
            </a:r>
          </a:p>
        </p:txBody>
      </p:sp>
      <p:sp>
        <p:nvSpPr>
          <p:cNvPr id="3" name="">
            <a:extLst xmlns:a="http://schemas.openxmlformats.org/drawingml/2006/main">
              <a:ext uri="{FF2B5EF4-FFF2-40B4-BE49-F238E27FC236}">
                <a16:creationId xmlns:a16="http://schemas.microsoft.com/office/drawing/2014/main" id="{2B752EF9-1C83-43BC-ABA8-084045573DA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5C6A7A51-C595-4975-A634-1F45806206D7}"/>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D361C0F7-2122-4986-AE57-A0B0FB49871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193</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2476500"/>
                <a:gridCol w="4133850"/>
                <a:gridCol w="4362450"/>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입력</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기대 결과</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제공 업무·09/25</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W04·W05 선택</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ID와 원본 행 비교</a:t>
                      </a:r>
                    </a:p>
                  </a:txBody>
                  <a:tcPr marL="142875" marR="133350" marT="95250" marB="95250" anchor="ctr">
                    <a:solidFill>
                      <a:srgbClr val="FFFFFF"/>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종료일 역전</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 오류로 중단</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오류 코드와 위치 확인</a:t>
                      </a:r>
                    </a:p>
                  </a:txBody>
                  <a:tcPr marL="142875" marR="133350" marT="95250" marB="95250" anchor="ctr">
                    <a:solidFill>
                      <a:srgbClr val="F2F3F4"/>
                    </a:solidFill>
                  </a:tcPr>
                </a:tc>
              </a:tr>
              <a:tr h="1257300">
                <a:tc>
                  <a:txBody>
                    <a:bodyPr wrap="square">
                      <a:noAutofit/>
                    </a:bodyPr>
                    <a:lstStyle/>
                    <a:p>
                      <a:pPr algn="l">
                        <a:lnSpc>
                          <a:spcPct val="105000"/>
                        </a:lnSpc>
                        <a:buNone/>
                      </a:pPr>
                      <a:r>
                        <a:rPr sz="1950" b="1">
                          <a:solidFill>
                            <a:srgbClr val="161616"/>
                          </a:solidFill>
                          <a:latin typeface="NanumGothic"/>
                          <a:ea typeface="NanumGothic"/>
                          <a:cs typeface="NanumGothic"/>
                        </a:rPr>
                        <a:t>없는 선행 ID</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 오류로 중단</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해당 ID 복구 후 재실행</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365499001"/>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D066AB-BF2D-4322-ADB1-CADEECB2A7E2}"/>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코드·파일 작업</a:t>
            </a:r>
          </a:p>
        </p:txBody>
      </p:sp>
      <p:sp>
        <p:nvSpPr>
          <p:cNvPr id="2" name="">
            <a:extLst xmlns:a="http://schemas.openxmlformats.org/drawingml/2006/main">
              <a:ext uri="{FF2B5EF4-FFF2-40B4-BE49-F238E27FC236}">
                <a16:creationId xmlns:a16="http://schemas.microsoft.com/office/drawing/2014/main" id="{337104BB-9B62-487F-8931-CB9BD93EE890}"/>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파일 저장과 재실행 요청</a:t>
            </a:r>
          </a:p>
        </p:txBody>
      </p:sp>
      <p:sp>
        <p:nvSpPr>
          <p:cNvPr id="3" name="">
            <a:extLst xmlns:a="http://schemas.openxmlformats.org/drawingml/2006/main">
              <a:ext uri="{FF2B5EF4-FFF2-40B4-BE49-F238E27FC236}">
                <a16:creationId xmlns:a16="http://schemas.microsoft.com/office/drawing/2014/main" id="{FAF67837-DEF0-49D5-853C-D589D5D6032D}"/>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F75C5010-7912-42B1-9389-E249ACB7F9B2}"/>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92453A0-BF94-49E0-9BB8-F43F982A79B4}"/>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194</a:t>
            </a:r>
          </a:p>
        </p:txBody>
      </p:sp>
      <p:sp>
        <p:nvSpPr>
          <p:cNvPr id="6" name="">
            <a:extLst xmlns:a="http://schemas.openxmlformats.org/drawingml/2006/main">
              <a:ext uri="{FF2B5EF4-FFF2-40B4-BE49-F238E27FC236}">
                <a16:creationId xmlns:a16="http://schemas.microsoft.com/office/drawing/2014/main" id="{978B7DFE-5C44-4322-B77F-C72A9D7715E0}"/>
              </a:ext>
            </a:extLst>
          </p:cNvPr>
          <p:cNvSpPr>
            <a:spLocks xmlns:a="http://schemas.openxmlformats.org/drawingml/2006/main" noGrp="1"/>
          </p:cNvSpPr>
          <p:nvPr/>
        </p:nvSpPr>
        <p:spPr>
          <a:xfrm xmlns:a="http://schemas.openxmlformats.org/drawingml/2006/main">
            <a:off x="609600" y="17430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대화 입력 예시</a:t>
            </a:r>
          </a:p>
        </p:txBody>
      </p:sp>
      <p:sp>
        <p:nvSpPr>
          <p:cNvPr id="7" name="">
            <a:extLst xmlns:a="http://schemas.openxmlformats.org/drawingml/2006/main">
              <a:ext uri="{FF2B5EF4-FFF2-40B4-BE49-F238E27FC236}">
                <a16:creationId xmlns:a16="http://schemas.microsoft.com/office/drawing/2014/main" id="{71CED418-4ABD-4691-90D1-114B2263F739}"/>
              </a:ext>
            </a:extLst>
          </p:cNvPr>
          <p:cNvSpPr>
            <a:spLocks xmlns:a="http://schemas.openxmlformats.org/drawingml/2006/main" noGrp="1"/>
          </p:cNvSpPr>
          <p:nvPr/>
        </p:nvSpPr>
        <p:spPr>
          <a:xfrm xmlns:a="http://schemas.openxmlformats.org/drawingml/2006/main">
            <a:off x="609600" y="2305050"/>
            <a:ext cx="10972800" cy="2686050"/>
          </a:xfrm>
          <a:prstGeom xmlns:a="http://schemas.openxmlformats.org/drawingml/2006/main" prst="rect">
            <a:avLst/>
          </a:prstGeom>
          <a:solidFill xmlns:a="http://schemas.openxmlformats.org/drawingml/2006/main">
            <a:srgbClr val="F2F3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200091-4627-44FD-83AD-209533455CA6}"/>
              </a:ext>
            </a:extLst>
          </p:cNvPr>
          <p:cNvSpPr>
            <a:spLocks xmlns:a="http://schemas.openxmlformats.org/drawingml/2006/main" noGrp="1"/>
          </p:cNvSpPr>
          <p:nvPr/>
        </p:nvSpPr>
        <p:spPr>
          <a:xfrm xmlns:a="http://schemas.openxmlformats.org/drawingml/2006/main">
            <a:off x="838200" y="2533650"/>
            <a:ext cx="105156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확인한 delayed_tasks 결과를 새 CSV로 저장해 줘. 입력 파일의 작업 폴더 밖 접근과 기존 출력 파일 덮어쓰기는 막아 줘. 정상 입력, 날짜 오류, 없는 선행 ID를 테스트하고 실제 명령과 결과를 남겨 줘. README에는 설치·입력·실행·결과 경로만 먼저 적어 줘. 내가 CSV를 열어 확인한 뒤 다음 기능을 정할게.</a:t>
            </a:r>
          </a:p>
        </p:txBody>
      </p:sp>
      <p:sp>
        <p:nvSpPr>
          <p:cNvPr id="9" name="">
            <a:extLst xmlns:a="http://schemas.openxmlformats.org/drawingml/2006/main">
              <a:ext uri="{FF2B5EF4-FFF2-40B4-BE49-F238E27FC236}">
                <a16:creationId xmlns:a16="http://schemas.microsoft.com/office/drawing/2014/main" id="{1586E597-92E7-4B41-B034-38575E5F05C3}"/>
              </a:ext>
            </a:extLst>
          </p:cNvPr>
          <p:cNvSpPr>
            <a:spLocks xmlns:a="http://schemas.openxmlformats.org/drawingml/2006/main" noGrp="1"/>
          </p:cNvSpPr>
          <p:nvPr/>
        </p:nvSpPr>
        <p:spPr>
          <a:xfrm xmlns:a="http://schemas.openxmlformats.org/drawingml/2006/main">
            <a:off x="609600" y="5305425"/>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61616"/>
                </a:solidFill>
                <a:latin typeface="NanumGothic"/>
                <a:ea typeface="NanumGothic"/>
                <a:cs typeface="NanumGothic"/>
              </a:defRPr>
            </a:pPr>
            <a:r>
              <a:rPr sz="2100" b="1">
                <a:solidFill>
                  <a:srgbClr val="161616"/>
                </a:solidFill>
                <a:latin typeface="NanumGothic"/>
                <a:ea typeface="NanumGothic"/>
                <a:cs typeface="NanumGothic"/>
              </a:rPr>
              <a:t>확인할 내용</a:t>
            </a:r>
          </a:p>
        </p:txBody>
      </p:sp>
      <p:sp>
        <p:nvSpPr>
          <p:cNvPr id="10" name="">
            <a:extLst xmlns:a="http://schemas.openxmlformats.org/drawingml/2006/main">
              <a:ext uri="{FF2B5EF4-FFF2-40B4-BE49-F238E27FC236}">
                <a16:creationId xmlns:a16="http://schemas.microsoft.com/office/drawing/2014/main" id="{7B0D1A4E-D624-49D1-9B78-34DA1DB37CE6}"/>
              </a:ext>
            </a:extLst>
          </p:cNvPr>
          <p:cNvSpPr>
            <a:spLocks xmlns:a="http://schemas.openxmlformats.org/drawingml/2006/main" noGrp="1"/>
          </p:cNvSpPr>
          <p:nvPr/>
        </p:nvSpPr>
        <p:spPr>
          <a:xfrm xmlns:a="http://schemas.openxmlformats.org/drawingml/2006/main">
            <a:off x="2714625" y="5305425"/>
            <a:ext cx="886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61616"/>
                </a:solidFill>
                <a:latin typeface="NanumGothic"/>
                <a:ea typeface="NanumGothic"/>
                <a:cs typeface="NanumGothic"/>
              </a:defRPr>
            </a:pPr>
            <a:r>
              <a:rPr sz="2175" b="0">
                <a:solidFill>
                  <a:srgbClr val="161616"/>
                </a:solidFill>
                <a:latin typeface="NanumGothic"/>
                <a:ea typeface="NanumGothic"/>
                <a:cs typeface="NanumGothic"/>
              </a:rPr>
              <a:t>실제 CSV · 테스트 출력 · 새 폴더 재실행</a:t>
            </a:r>
          </a:p>
        </p:txBody>
      </p:sp>
    </p:spTree>
    <p:extLst>
      <p:ext uri="{BB962C8B-B14F-4D97-AF65-F5344CB8AC3E}">
        <p14:creationId xmlns:p14="http://schemas.microsoft.com/office/powerpoint/2010/main" val="1531896573"/>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474242-6D20-4196-8805-9D92C470C7E9}"/>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코드·파일 작업</a:t>
            </a:r>
          </a:p>
        </p:txBody>
      </p:sp>
      <p:sp>
        <p:nvSpPr>
          <p:cNvPr id="2" name="">
            <a:extLst xmlns:a="http://schemas.openxmlformats.org/drawingml/2006/main">
              <a:ext uri="{FF2B5EF4-FFF2-40B4-BE49-F238E27FC236}">
                <a16:creationId xmlns:a16="http://schemas.microsoft.com/office/drawing/2014/main" id="{379EBD36-0B1E-402F-95DC-AA26E09BB7AF}"/>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실행 안내의 검증</a:t>
            </a:r>
          </a:p>
        </p:txBody>
      </p:sp>
      <p:sp>
        <p:nvSpPr>
          <p:cNvPr id="3" name="">
            <a:extLst xmlns:a="http://schemas.openxmlformats.org/drawingml/2006/main">
              <a:ext uri="{FF2B5EF4-FFF2-40B4-BE49-F238E27FC236}">
                <a16:creationId xmlns:a16="http://schemas.microsoft.com/office/drawing/2014/main" id="{C2178C75-2761-4A49-91DE-C504471BD748}"/>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9D4EE8A5-BBF7-498D-A78C-87A11C0D3809}"/>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31250715-AFD2-45AB-A5C8-1196303C585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195</a:t>
            </a:r>
          </a:p>
        </p:txBody>
      </p:sp>
      <p:sp>
        <p:nvSpPr>
          <p:cNvPr id="6" name="">
            <a:extLst xmlns:a="http://schemas.openxmlformats.org/drawingml/2006/main">
              <a:ext uri="{FF2B5EF4-FFF2-40B4-BE49-F238E27FC236}">
                <a16:creationId xmlns:a16="http://schemas.microsoft.com/office/drawing/2014/main" id="{7B4161EB-BF8D-43F3-96FD-59C4E1868AF3}"/>
              </a:ext>
            </a:extLst>
          </p:cNvPr>
          <p:cNvSpPr>
            <a:spLocks xmlns:a="http://schemas.openxmlformats.org/drawingml/2006/main" noGrp="1"/>
          </p:cNvSpPr>
          <p:nvPr/>
        </p:nvSpPr>
        <p:spPr>
          <a:xfrm xmlns:a="http://schemas.openxmlformats.org/drawingml/2006/main">
            <a:off x="609600" y="181927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01</a:t>
            </a:r>
          </a:p>
        </p:txBody>
      </p:sp>
      <p:sp>
        <p:nvSpPr>
          <p:cNvPr id="7" name="">
            <a:extLst xmlns:a="http://schemas.openxmlformats.org/drawingml/2006/main">
              <a:ext uri="{FF2B5EF4-FFF2-40B4-BE49-F238E27FC236}">
                <a16:creationId xmlns:a16="http://schemas.microsoft.com/office/drawing/2014/main" id="{ABA21BF2-006B-4720-9894-89AF7E29E6B6}"/>
              </a:ext>
            </a:extLst>
          </p:cNvPr>
          <p:cNvSpPr>
            <a:spLocks xmlns:a="http://schemas.openxmlformats.org/drawingml/2006/main" noGrp="1"/>
          </p:cNvSpPr>
          <p:nvPr/>
        </p:nvSpPr>
        <p:spPr>
          <a:xfrm xmlns:a="http://schemas.openxmlformats.org/drawingml/2006/main">
            <a:off x="1800225" y="188595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README의 명령을 그대로 복사</a:t>
            </a:r>
          </a:p>
        </p:txBody>
      </p:sp>
      <p:sp>
        <p:nvSpPr>
          <p:cNvPr id="8" name="">
            <a:extLst xmlns:a="http://schemas.openxmlformats.org/drawingml/2006/main">
              <a:ext uri="{FF2B5EF4-FFF2-40B4-BE49-F238E27FC236}">
                <a16:creationId xmlns:a16="http://schemas.microsoft.com/office/drawing/2014/main" id="{9C79177E-D9B6-4B17-8460-C4D0B128B622}"/>
              </a:ext>
            </a:extLst>
          </p:cNvPr>
          <p:cNvSpPr>
            <a:spLocks xmlns:a="http://schemas.openxmlformats.org/drawingml/2006/main" noGrp="1"/>
          </p:cNvSpPr>
          <p:nvPr/>
        </p:nvSpPr>
        <p:spPr>
          <a:xfrm xmlns:a="http://schemas.openxmlformats.org/drawingml/2006/main">
            <a:off x="609600" y="2800350"/>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02</a:t>
            </a:r>
          </a:p>
        </p:txBody>
      </p:sp>
      <p:sp>
        <p:nvSpPr>
          <p:cNvPr id="9" name="">
            <a:extLst xmlns:a="http://schemas.openxmlformats.org/drawingml/2006/main">
              <a:ext uri="{FF2B5EF4-FFF2-40B4-BE49-F238E27FC236}">
                <a16:creationId xmlns:a16="http://schemas.microsoft.com/office/drawing/2014/main" id="{31DD1335-ECB0-48ED-922F-23C2288747B1}"/>
              </a:ext>
            </a:extLst>
          </p:cNvPr>
          <p:cNvSpPr>
            <a:spLocks xmlns:a="http://schemas.openxmlformats.org/drawingml/2006/main" noGrp="1"/>
          </p:cNvSpPr>
          <p:nvPr/>
        </p:nvSpPr>
        <p:spPr>
          <a:xfrm xmlns:a="http://schemas.openxmlformats.org/drawingml/2006/main">
            <a:off x="1800225" y="2867025"/>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새 출력 폴더에 결과 생성</a:t>
            </a:r>
          </a:p>
        </p:txBody>
      </p:sp>
      <p:sp>
        <p:nvSpPr>
          <p:cNvPr id="10" name="">
            <a:extLst xmlns:a="http://schemas.openxmlformats.org/drawingml/2006/main">
              <a:ext uri="{FF2B5EF4-FFF2-40B4-BE49-F238E27FC236}">
                <a16:creationId xmlns:a16="http://schemas.microsoft.com/office/drawing/2014/main" id="{B57C056B-72D7-4BC2-B241-BA1FF3C4EBB9}"/>
              </a:ext>
            </a:extLst>
          </p:cNvPr>
          <p:cNvSpPr>
            <a:spLocks xmlns:a="http://schemas.openxmlformats.org/drawingml/2006/main" noGrp="1"/>
          </p:cNvSpPr>
          <p:nvPr/>
        </p:nvSpPr>
        <p:spPr>
          <a:xfrm xmlns:a="http://schemas.openxmlformats.org/drawingml/2006/main">
            <a:off x="609600" y="3781425"/>
            <a:ext cx="1000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525" b="1">
                <a:solidFill>
                  <a:srgbClr val="161616"/>
                </a:solidFill>
                <a:latin typeface="NanumGothic"/>
                <a:ea typeface="NanumGothic"/>
                <a:cs typeface="NanumGothic"/>
              </a:defRPr>
            </a:pPr>
            <a:r>
              <a:rPr sz="3525" b="1">
                <a:solidFill>
                  <a:srgbClr val="161616"/>
                </a:solidFill>
                <a:latin typeface="NanumGothic"/>
                <a:ea typeface="NanumGothic"/>
                <a:cs typeface="NanumGothic"/>
              </a:rPr>
              <a:t>03</a:t>
            </a:r>
          </a:p>
        </p:txBody>
      </p:sp>
      <p:sp>
        <p:nvSpPr>
          <p:cNvPr id="11" name="">
            <a:extLst xmlns:a="http://schemas.openxmlformats.org/drawingml/2006/main">
              <a:ext uri="{FF2B5EF4-FFF2-40B4-BE49-F238E27FC236}">
                <a16:creationId xmlns:a16="http://schemas.microsoft.com/office/drawing/2014/main" id="{F96C25ED-B28E-4572-9C1F-FDDC6C61EBD6}"/>
              </a:ext>
            </a:extLst>
          </p:cNvPr>
          <p:cNvSpPr>
            <a:spLocks xmlns:a="http://schemas.openxmlformats.org/drawingml/2006/main" noGrp="1"/>
          </p:cNvSpPr>
          <p:nvPr/>
        </p:nvSpPr>
        <p:spPr>
          <a:xfrm xmlns:a="http://schemas.openxmlformats.org/drawingml/2006/main">
            <a:off x="1800225" y="3848100"/>
            <a:ext cx="9782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161616"/>
                </a:solidFill>
                <a:latin typeface="NanumGothic"/>
                <a:ea typeface="NanumGothic"/>
                <a:cs typeface="NanumGothic"/>
              </a:defRPr>
            </a:pPr>
            <a:r>
              <a:rPr sz="2400" b="0">
                <a:solidFill>
                  <a:srgbClr val="161616"/>
                </a:solidFill>
                <a:latin typeface="NanumGothic"/>
                <a:ea typeface="NanumGothic"/>
                <a:cs typeface="NanumGothic"/>
              </a:rPr>
              <a:t>다른 파일을 덮지 않는지 확인</a:t>
            </a:r>
          </a:p>
        </p:txBody>
      </p:sp>
      <p:sp>
        <p:nvSpPr>
          <p:cNvPr id="12" name="">
            <a:extLst xmlns:a="http://schemas.openxmlformats.org/drawingml/2006/main">
              <a:ext uri="{FF2B5EF4-FFF2-40B4-BE49-F238E27FC236}">
                <a16:creationId xmlns:a16="http://schemas.microsoft.com/office/drawing/2014/main" id="{FB83D8A9-394B-4028-814C-E7728140A4C9}"/>
              </a:ext>
            </a:extLst>
          </p:cNvPr>
          <p:cNvSpPr>
            <a:spLocks xmlns:a="http://schemas.openxmlformats.org/drawingml/2006/main" noGrp="1"/>
          </p:cNvSpPr>
          <p:nvPr/>
        </p:nvSpPr>
        <p:spPr>
          <a:xfrm xmlns:a="http://schemas.openxmlformats.org/drawingml/2006/main">
            <a:off x="609600" y="488632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13" name="">
            <a:extLst xmlns:a="http://schemas.openxmlformats.org/drawingml/2006/main">
              <a:ext uri="{FF2B5EF4-FFF2-40B4-BE49-F238E27FC236}">
                <a16:creationId xmlns:a16="http://schemas.microsoft.com/office/drawing/2014/main" id="{ADD00C7B-FF25-4096-866C-19D9A47E6550}"/>
              </a:ext>
            </a:extLst>
          </p:cNvPr>
          <p:cNvSpPr>
            <a:spLocks xmlns:a="http://schemas.openxmlformats.org/drawingml/2006/main" noGrp="1"/>
          </p:cNvSpPr>
          <p:nvPr/>
        </p:nvSpPr>
        <p:spPr>
          <a:xfrm xmlns:a="http://schemas.openxmlformats.org/drawingml/2006/main">
            <a:off x="609600" y="51149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95959"/>
                </a:solidFill>
                <a:latin typeface="NanumGothic"/>
                <a:ea typeface="NanumGothic"/>
                <a:cs typeface="NanumGothic"/>
              </a:defRPr>
            </a:pPr>
            <a:r>
              <a:rPr sz="1950" b="0">
                <a:solidFill>
                  <a:srgbClr val="595959"/>
                </a:solidFill>
                <a:latin typeface="NanumGothic"/>
                <a:ea typeface="NanumGothic"/>
                <a:cs typeface="NanumGothic"/>
              </a:rPr>
              <a:t>README.md + 새 출력 폴더</a:t>
            </a:r>
          </a:p>
        </p:txBody>
      </p:sp>
      <p:sp>
        <p:nvSpPr>
          <p:cNvPr id="14" name="">
            <a:extLst xmlns:a="http://schemas.openxmlformats.org/drawingml/2006/main">
              <a:ext uri="{FF2B5EF4-FFF2-40B4-BE49-F238E27FC236}">
                <a16:creationId xmlns:a16="http://schemas.microsoft.com/office/drawing/2014/main" id="{D2AA5F6E-7009-42EC-89ED-32F04775BF23}"/>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61616"/>
                </a:solidFill>
                <a:latin typeface="NanumGothic"/>
                <a:ea typeface="NanumGothic"/>
                <a:cs typeface="NanumGothic"/>
              </a:defRPr>
            </a:pPr>
            <a:r>
              <a:rPr sz="2175" b="1">
                <a:solidFill>
                  <a:srgbClr val="161616"/>
                </a:solidFill>
                <a:latin typeface="NanumGothic"/>
                <a:ea typeface="NanumGothic"/>
                <a:cs typeface="NanumGothic"/>
              </a:rPr>
              <a:t>설명 없이 명령만으로 재실행 가능</a:t>
            </a:r>
          </a:p>
        </p:txBody>
      </p:sp>
    </p:spTree>
    <p:extLst>
      <p:ext uri="{BB962C8B-B14F-4D97-AF65-F5344CB8AC3E}">
        <p14:creationId xmlns:p14="http://schemas.microsoft.com/office/powerpoint/2010/main" val="437302048"/>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EECC3D-C7C6-42D8-8EC0-4E10FA40AD01}"/>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이론</a:t>
            </a:r>
          </a:p>
        </p:txBody>
      </p:sp>
      <p:sp>
        <p:nvSpPr>
          <p:cNvPr id="2" name="">
            <a:extLst xmlns:a="http://schemas.openxmlformats.org/drawingml/2006/main">
              <a:ext uri="{FF2B5EF4-FFF2-40B4-BE49-F238E27FC236}">
                <a16:creationId xmlns:a16="http://schemas.microsoft.com/office/drawing/2014/main" id="{40AFD769-3EF5-4DE0-9510-B530D1D8C92A}"/>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개선 기록</a:t>
            </a:r>
          </a:p>
        </p:txBody>
      </p:sp>
      <p:sp>
        <p:nvSpPr>
          <p:cNvPr id="3" name="">
            <a:extLst xmlns:a="http://schemas.openxmlformats.org/drawingml/2006/main">
              <a:ext uri="{FF2B5EF4-FFF2-40B4-BE49-F238E27FC236}">
                <a16:creationId xmlns:a16="http://schemas.microsoft.com/office/drawing/2014/main" id="{C909F430-1D54-4AE9-8B23-927466999677}"/>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89F88E20-3D25-4B39-A7A7-61A416B9925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6C281D5C-A18E-446D-B439-6E589C9108C8}"/>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196</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작성 내용</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Before</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기존의 불편과 재현 입력</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Change</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바꾼 함수·수식·문장</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Evidence</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테스트 출력·결과 화면</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After</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확인한 변화</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Limit</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아직 못한 일과 사용 조건</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554485440"/>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FB8038-65A9-47E4-9EC9-9B230054799A}"/>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결과 확인</a:t>
            </a:r>
          </a:p>
        </p:txBody>
      </p:sp>
      <p:sp>
        <p:nvSpPr>
          <p:cNvPr id="2" name="">
            <a:extLst xmlns:a="http://schemas.openxmlformats.org/drawingml/2006/main">
              <a:ext uri="{FF2B5EF4-FFF2-40B4-BE49-F238E27FC236}">
                <a16:creationId xmlns:a16="http://schemas.microsoft.com/office/drawing/2014/main" id="{89E8EB46-7222-477F-8352-65D0E83DF4EC}"/>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하루의 최종 확인</a:t>
            </a:r>
          </a:p>
        </p:txBody>
      </p:sp>
      <p:sp>
        <p:nvSpPr>
          <p:cNvPr id="3" name="">
            <a:extLst xmlns:a="http://schemas.openxmlformats.org/drawingml/2006/main">
              <a:ext uri="{FF2B5EF4-FFF2-40B4-BE49-F238E27FC236}">
                <a16:creationId xmlns:a16="http://schemas.microsoft.com/office/drawing/2014/main" id="{34D03B4E-681C-4339-92C6-DBF29BF6E6A3}"/>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D3CDF407-2B97-426B-B450-A4D51885ADF4}"/>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A86B1CC6-19D6-4360-BB02-9C323CCEF2AA}"/>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197</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확인 항목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확인 방법</a:t>
                      </a:r>
                    </a:p>
                  </a:txBody>
                  <a:tcPr marL="142875" marR="133350" marT="95250" marB="95250" anchor="ctr">
                    <a:solidFill>
                      <a:srgbClr val="161616"/>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PR</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코드 수정·테스트·게시 미리보기</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Excel</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입력 변경·재계산·오류 복구</a:t>
                      </a:r>
                    </a:p>
                  </a:txBody>
                  <a:tcPr marL="142875" marR="133350" marT="95250" marB="95250" anchor="ctr">
                    <a:solidFill>
                      <a:srgbClr val="F2F3F4"/>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Word·PPT</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실제 파일 생성·내용·화면 확인</a:t>
                      </a:r>
                    </a:p>
                  </a:txBody>
                  <a:tcPr marL="142875" marR="133350" marT="95250" marB="95250" anchor="ctr">
                    <a:solidFill>
                      <a:srgbClr val="FFFFFF"/>
                    </a:solidFill>
                  </a:tcPr>
                </a:tc>
              </a:tr>
              <a:tr h="942975">
                <a:tc>
                  <a:txBody>
                    <a:bodyPr wrap="square">
                      <a:noAutofit/>
                    </a:bodyPr>
                    <a:lstStyle/>
                    <a:p>
                      <a:pPr algn="l">
                        <a:lnSpc>
                          <a:spcPct val="105000"/>
                        </a:lnSpc>
                        <a:buNone/>
                      </a:pPr>
                      <a:r>
                        <a:rPr sz="1950" b="1">
                          <a:solidFill>
                            <a:srgbClr val="161616"/>
                          </a:solidFill>
                          <a:latin typeface="NanumGothic"/>
                          <a:ea typeface="NanumGothic"/>
                          <a:cs typeface="NanumGothic"/>
                        </a:rPr>
                        <a:t>다음 주</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한 기능의 개인 과제와 테스트 초안</a:t>
                      </a:r>
                    </a:p>
                  </a:txBody>
                  <a:tcPr marL="142875" marR="133350" marT="95250" marB="95250" anchor="ctr">
                    <a:solidFill>
                      <a:srgbClr val="F2F3F4"/>
                    </a:solidFill>
                  </a:tcPr>
                </a:tc>
              </a:tr>
            </a:tbl>
          </a:graphicData>
        </a:graphic>
      </p:graphicFrame>
    </p:spTree>
    <p:extLst>
      <p:ext uri="{BB962C8B-B14F-4D97-AF65-F5344CB8AC3E}">
        <p14:creationId xmlns:p14="http://schemas.microsoft.com/office/powerpoint/2010/main" val="954545671"/>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F4CA39-9399-457B-BD64-C4C10F3BD96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선택 확장</a:t>
            </a:r>
          </a:p>
        </p:txBody>
      </p:sp>
      <p:sp>
        <p:nvSpPr>
          <p:cNvPr id="2" name="">
            <a:extLst xmlns:a="http://schemas.openxmlformats.org/drawingml/2006/main">
              <a:ext uri="{FF2B5EF4-FFF2-40B4-BE49-F238E27FC236}">
                <a16:creationId xmlns:a16="http://schemas.microsoft.com/office/drawing/2014/main" id="{4833B499-86DC-4D18-B079-A9598BDC655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작은 도구의 운영</a:t>
            </a:r>
          </a:p>
        </p:txBody>
      </p:sp>
      <p:sp>
        <p:nvSpPr>
          <p:cNvPr id="3" name="">
            <a:extLst xmlns:a="http://schemas.openxmlformats.org/drawingml/2006/main">
              <a:ext uri="{FF2B5EF4-FFF2-40B4-BE49-F238E27FC236}">
                <a16:creationId xmlns:a16="http://schemas.microsoft.com/office/drawing/2014/main" id="{086D78C7-3766-412C-849E-3591CC3F516B}"/>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B7F69BEB-1C68-449F-BC92-4853116EFC63}"/>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ECCAEDB8-2C3F-4088-BFED-3C9543C30FD2}"/>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198</a:t>
            </a:r>
          </a:p>
        </p:txBody>
      </p:sp>
      <p:graphicFrame>
        <p:nvGraphicFramePr>
          <p:cNvPr id="12" name=""/>
          <p:cNvGraphicFramePr/>
          <p:nvPr/>
        </p:nvGraphicFramePr>
        <p:xfrm>
          <a:off xmlns:a="http://schemas.openxmlformats.org/drawingml/2006/main" x="609600" y="1752600"/>
          <a:ext xmlns:a="http://schemas.openxmlformats.org/drawingml/2006/main" cx="10972800" cy="4362450"/>
        </p:xfrm>
        <a:graphic xmlns:a="http://schemas.openxmlformats.org/drawingml/2006/main">
          <a:graphicData uri="http://schemas.openxmlformats.org/drawingml/2006/table">
            <a:tbl>
              <a:tblPr firstRow="1" firstCol="0" lastCol="0" bandRow="0"/>
              <a:tblGrid>
                <a:gridCol w="3476625"/>
                <a:gridCol w="7496175"/>
              </a:tblGrid>
              <a:tr h="590550">
                <a:tc>
                  <a:txBody>
                    <a:bodyPr wrap="square">
                      <a:noAutofit/>
                    </a:bodyPr>
                    <a:lstStyle/>
                    <a:p>
                      <a:pPr algn="l">
                        <a:lnSpc>
                          <a:spcPct val="105000"/>
                        </a:lnSpc>
                        <a:buNone/>
                      </a:pPr>
                      <a:r>
                        <a:rPr sz="1950" b="1">
                          <a:solidFill>
                            <a:srgbClr val="FFFFFF"/>
                          </a:solidFill>
                          <a:latin typeface="NanumGothic"/>
                          <a:ea typeface="NanumGothic"/>
                          <a:cs typeface="NanumGothic"/>
                        </a:rPr>
                        <a:t>상황</a:t>
                      </a:r>
                    </a:p>
                  </a:txBody>
                  <a:tcPr marL="142875" marR="133350" marT="95250" marB="95250" anchor="ctr">
                    <a:solidFill>
                      <a:srgbClr val="161616"/>
                    </a:solidFill>
                  </a:tcPr>
                </a:tc>
                <a:tc>
                  <a:txBody>
                    <a:bodyPr wrap="square">
                      <a:noAutofit/>
                    </a:bodyPr>
                    <a:lstStyle/>
                    <a:p>
                      <a:pPr algn="l">
                        <a:lnSpc>
                          <a:spcPct val="105000"/>
                        </a:lnSpc>
                        <a:buNone/>
                      </a:pPr>
                      <a:r>
                        <a:rPr sz="1950" b="1">
                          <a:solidFill>
                            <a:srgbClr val="FFFFFF"/>
                          </a:solidFill>
                          <a:latin typeface="NanumGothic"/>
                          <a:ea typeface="NanumGothic"/>
                          <a:cs typeface="NanumGothic"/>
                        </a:rPr>
                        <a:t>다음 개선</a:t>
                      </a:r>
                    </a:p>
                  </a:txBody>
                  <a:tcPr marL="142875" marR="133350" marT="95250" marB="95250" anchor="ctr">
                    <a:solidFill>
                      <a:srgbClr val="161616"/>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입력 형식 변경</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버전 표시·변환 함수</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다른 PC에서 실패</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설치·폰트·경로 검사</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반복 오류</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에러 코드·재현 샘플</a:t>
                      </a:r>
                    </a:p>
                  </a:txBody>
                  <a:tcPr marL="142875" marR="133350" marT="95250" marB="95250" anchor="ctr">
                    <a:solidFill>
                      <a:srgbClr val="FFFFFF"/>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여러 명 사용</a:t>
                      </a:r>
                    </a:p>
                  </a:txBody>
                  <a:tcPr marL="142875" marR="133350" marT="95250" marB="95250" anchor="ctr">
                    <a:solidFill>
                      <a:srgbClr val="F2F3F4"/>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권한·동시 실행·개인정보</a:t>
                      </a:r>
                    </a:p>
                  </a:txBody>
                  <a:tcPr marL="142875" marR="133350" marT="95250" marB="95250" anchor="ctr">
                    <a:solidFill>
                      <a:srgbClr val="F2F3F4"/>
                    </a:solidFill>
                  </a:tcPr>
                </a:tc>
              </a:tr>
              <a:tr h="754380">
                <a:tc>
                  <a:txBody>
                    <a:bodyPr wrap="square">
                      <a:noAutofit/>
                    </a:bodyPr>
                    <a:lstStyle/>
                    <a:p>
                      <a:pPr algn="l">
                        <a:lnSpc>
                          <a:spcPct val="105000"/>
                        </a:lnSpc>
                        <a:buNone/>
                      </a:pPr>
                      <a:r>
                        <a:rPr sz="1950" b="1">
                          <a:solidFill>
                            <a:srgbClr val="161616"/>
                          </a:solidFill>
                          <a:latin typeface="NanumGothic"/>
                          <a:ea typeface="NanumGothic"/>
                          <a:cs typeface="NanumGothic"/>
                        </a:rPr>
                        <a:t>배포 요청</a:t>
                      </a:r>
                    </a:p>
                  </a:txBody>
                  <a:tcPr marL="142875" marR="133350" marT="95250" marB="95250" anchor="ctr">
                    <a:solidFill>
                      <a:srgbClr val="FFFFFF"/>
                    </a:solidFill>
                  </a:tcPr>
                </a:tc>
                <a:tc>
                  <a:txBody>
                    <a:bodyPr wrap="square">
                      <a:noAutofit/>
                    </a:bodyPr>
                    <a:lstStyle/>
                    <a:p>
                      <a:pPr algn="l">
                        <a:lnSpc>
                          <a:spcPct val="105000"/>
                        </a:lnSpc>
                        <a:buNone/>
                      </a:pPr>
                      <a:r>
                        <a:rPr sz="1950" b="0">
                          <a:solidFill>
                            <a:srgbClr val="161616"/>
                          </a:solidFill>
                          <a:latin typeface="NanumGothic"/>
                          <a:ea typeface="NanumGothic"/>
                          <a:cs typeface="NanumGothic"/>
                        </a:rPr>
                        <a:t>사람 확인·되돌리기 방법</a:t>
                      </a:r>
                    </a:p>
                  </a:txBody>
                  <a:tcPr marL="142875" marR="133350" marT="95250" marB="95250" anchor="ctr">
                    <a:solidFill>
                      <a:srgbClr val="FFFFFF"/>
                    </a:solidFill>
                  </a:tcPr>
                </a:tc>
              </a:tr>
            </a:tbl>
          </a:graphicData>
        </a:graphic>
      </p:graphicFrame>
    </p:spTree>
    <p:extLst>
      <p:ext uri="{BB962C8B-B14F-4D97-AF65-F5344CB8AC3E}">
        <p14:creationId xmlns:p14="http://schemas.microsoft.com/office/powerpoint/2010/main" val="1045314638"/>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039E2A-B908-4BCB-B52F-912923039654}"/>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8차시 · 16:40–17:30  /  선택 확장</a:t>
            </a:r>
          </a:p>
        </p:txBody>
      </p:sp>
      <p:sp>
        <p:nvSpPr>
          <p:cNvPr id="2" name="">
            <a:extLst xmlns:a="http://schemas.openxmlformats.org/drawingml/2006/main">
              <a:ext uri="{FF2B5EF4-FFF2-40B4-BE49-F238E27FC236}">
                <a16:creationId xmlns:a16="http://schemas.microsoft.com/office/drawing/2014/main" id="{8B68C96A-04DB-473D-96F5-EBB287506C6D}"/>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추가 학습 경로</a:t>
            </a:r>
          </a:p>
        </p:txBody>
      </p:sp>
      <p:sp>
        <p:nvSpPr>
          <p:cNvPr id="3" name="">
            <a:extLst xmlns:a="http://schemas.openxmlformats.org/drawingml/2006/main">
              <a:ext uri="{FF2B5EF4-FFF2-40B4-BE49-F238E27FC236}">
                <a16:creationId xmlns:a16="http://schemas.microsoft.com/office/drawing/2014/main" id="{0B354608-BEA0-4816-9092-AC71FA6DD43C}"/>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C39B563E-3695-4F3D-A560-AFE73DE36100}"/>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89BB70F2-4233-46A8-9F57-A0944F33ED01}"/>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199</a:t>
            </a:r>
          </a:p>
        </p:txBody>
      </p:sp>
      <p:sp>
        <p:nvSpPr>
          <p:cNvPr id="6" name="">
            <a:extLst xmlns:a="http://schemas.openxmlformats.org/drawingml/2006/main">
              <a:ext uri="{FF2B5EF4-FFF2-40B4-BE49-F238E27FC236}">
                <a16:creationId xmlns:a16="http://schemas.microsoft.com/office/drawing/2014/main" id="{1E56E1AB-9C11-4352-93EF-A6A998EFCE34}"/>
              </a:ext>
            </a:extLst>
          </p:cNvPr>
          <p:cNvSpPr>
            <a:spLocks xmlns:a="http://schemas.openxmlformats.org/drawingml/2006/main" noGrp="1"/>
          </p:cNvSpPr>
          <p:nvPr/>
        </p:nvSpPr>
        <p:spPr>
          <a:xfrm xmlns:a="http://schemas.openxmlformats.org/drawingml/2006/main">
            <a:off x="609600" y="1895475"/>
            <a:ext cx="10972800" cy="0"/>
          </a:xfrm>
          <a:prstGeom xmlns:a="http://schemas.openxmlformats.org/drawingml/2006/main" prst="line">
            <a:avLst/>
          </a:prstGeom>
          <a:noFill xmlns:a="http://schemas.openxmlformats.org/drawingml/2006/main"/>
          <a:ln xmlns:a="http://schemas.openxmlformats.org/drawingml/2006/main" w="9525">
            <a:solidFill>
              <a:srgbClr val="161616"/>
            </a:solidFill>
          </a:ln>
        </p:spPr>
      </p:sp>
      <p:sp>
        <p:nvSpPr>
          <p:cNvPr id="7" name="">
            <a:extLst xmlns:a="http://schemas.openxmlformats.org/drawingml/2006/main">
              <a:ext uri="{FF2B5EF4-FFF2-40B4-BE49-F238E27FC236}">
                <a16:creationId xmlns:a16="http://schemas.microsoft.com/office/drawing/2014/main" id="{DE995DD1-0BB2-4DE7-961C-3FCFFB9C85CB}"/>
              </a:ext>
            </a:extLst>
          </p:cNvPr>
          <p:cNvSpPr>
            <a:spLocks xmlns:a="http://schemas.openxmlformats.org/drawingml/2006/main" noGrp="1"/>
          </p:cNvSpPr>
          <p:nvPr/>
        </p:nvSpPr>
        <p:spPr>
          <a:xfrm xmlns:a="http://schemas.openxmlformats.org/drawingml/2006/main">
            <a:off x="723900" y="2419350"/>
            <a:ext cx="1057275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GitHub: 테스트와 리뷰의 자동 실행</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Google Sheets: 수식·Apps Script·입력 검증</a:t>
            </a:r>
          </a:p>
          <a:p xmlns:a="http://schemas.openxmlformats.org/drawingml/2006/main">
            <a:pPr marL="304800" indent="-152400" algn="l">
              <a:lnSpc>
                <a:spcPct val="118000"/>
              </a:lnSpc>
              <a:spcAft>
                <a:spcPts val="3000"/>
              </a:spcAft>
              <a:buNone/>
              <a:defRPr sz="2700" b="0">
                <a:solidFill>
                  <a:srgbClr val="161616"/>
                </a:solidFill>
                <a:latin typeface="NanumGothic"/>
                <a:ea typeface="NanumGothic"/>
                <a:cs typeface="NanumGothic"/>
              </a:defRPr>
            </a:pPr>
            <a:r>
              <a:rPr sz="2700" b="0">
                <a:solidFill>
                  <a:srgbClr val="161616"/>
                </a:solidFill>
                <a:latin typeface="NanumGothic"/>
                <a:ea typeface="NanumGothic"/>
                <a:cs typeface="NanumGothic"/>
              </a:rPr>
              <a:t>문서 도구: 구조·스타일·렌더 검증</a:t>
            </a:r>
          </a:p>
        </p:txBody>
      </p:sp>
    </p:spTree>
    <p:extLst>
      <p:ext uri="{BB962C8B-B14F-4D97-AF65-F5344CB8AC3E}">
        <p14:creationId xmlns:p14="http://schemas.microsoft.com/office/powerpoint/2010/main" val="395301922"/>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D72B6F-DCCA-490B-B988-7987CC86B0ED}"/>
              </a:ext>
            </a:extLst>
          </p:cNvPr>
          <p:cNvSpPr>
            <a:spLocks xmlns:a="http://schemas.openxmlformats.org/drawingml/2006/main" noGrp="1"/>
          </p:cNvSpPr>
          <p:nvPr/>
        </p:nvSpPr>
        <p:spPr>
          <a:xfrm xmlns:a="http://schemas.openxmlformats.org/drawingml/2006/main">
            <a:off x="609600" y="257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595959"/>
                </a:solidFill>
                <a:latin typeface="NanumGothic"/>
                <a:ea typeface="NanumGothic"/>
                <a:cs typeface="NanumGothic"/>
              </a:defRPr>
            </a:pPr>
            <a:r>
              <a:rPr sz="1725" b="1">
                <a:solidFill>
                  <a:srgbClr val="595959"/>
                </a:solidFill>
                <a:latin typeface="NanumGothic"/>
                <a:ea typeface="NanumGothic"/>
                <a:cs typeface="NanumGothic"/>
              </a:rPr>
              <a:t>4주차 수업 종료</a:t>
            </a:r>
          </a:p>
        </p:txBody>
      </p:sp>
      <p:sp>
        <p:nvSpPr>
          <p:cNvPr id="2" name="">
            <a:extLst xmlns:a="http://schemas.openxmlformats.org/drawingml/2006/main">
              <a:ext uri="{FF2B5EF4-FFF2-40B4-BE49-F238E27FC236}">
                <a16:creationId xmlns:a16="http://schemas.microsoft.com/office/drawing/2014/main" id="{25A12006-2BBC-435E-9DEA-2C137C77C337}"/>
              </a:ext>
            </a:extLst>
          </p:cNvPr>
          <p:cNvSpPr>
            <a:spLocks xmlns:a="http://schemas.openxmlformats.org/drawingml/2006/main" noGrp="1"/>
          </p:cNvSpPr>
          <p:nvPr/>
        </p:nvSpPr>
        <p:spPr>
          <a:xfrm xmlns:a="http://schemas.openxmlformats.org/drawingml/2006/main">
            <a:off x="609600" y="7810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750" b="1">
                <a:solidFill>
                  <a:srgbClr val="161616"/>
                </a:solidFill>
                <a:latin typeface="NanumGothic"/>
                <a:ea typeface="NanumGothic"/>
                <a:cs typeface="NanumGothic"/>
              </a:defRPr>
            </a:pPr>
            <a:r>
              <a:rPr sz="3750" b="1">
                <a:solidFill>
                  <a:srgbClr val="161616"/>
                </a:solidFill>
                <a:latin typeface="NanumGothic"/>
                <a:ea typeface="NanumGothic"/>
                <a:cs typeface="NanumGothic"/>
              </a:rPr>
              <a:t>쉬는 시간 · Q&amp;A</a:t>
            </a:r>
          </a:p>
        </p:txBody>
      </p:sp>
      <p:sp>
        <p:nvSpPr>
          <p:cNvPr id="3" name="">
            <a:extLst xmlns:a="http://schemas.openxmlformats.org/drawingml/2006/main">
              <a:ext uri="{FF2B5EF4-FFF2-40B4-BE49-F238E27FC236}">
                <a16:creationId xmlns:a16="http://schemas.microsoft.com/office/drawing/2014/main" id="{AE49B193-0B98-491B-A431-105AF09730CA}"/>
              </a:ext>
            </a:extLst>
          </p:cNvPr>
          <p:cNvSpPr>
            <a:spLocks xmlns:a="http://schemas.openxmlformats.org/drawingml/2006/main" noGrp="1"/>
          </p:cNvSpPr>
          <p:nvPr/>
        </p:nvSpPr>
        <p:spPr>
          <a:xfrm xmlns:a="http://schemas.openxmlformats.org/drawingml/2006/main">
            <a:off x="609600" y="6429375"/>
            <a:ext cx="109728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4" name="">
            <a:extLst xmlns:a="http://schemas.openxmlformats.org/drawingml/2006/main">
              <a:ext uri="{FF2B5EF4-FFF2-40B4-BE49-F238E27FC236}">
                <a16:creationId xmlns:a16="http://schemas.microsoft.com/office/drawing/2014/main" id="{1660915A-622D-4472-BEEB-FE42E78741CF}"/>
              </a:ext>
            </a:extLst>
          </p:cNvPr>
          <p:cNvSpPr>
            <a:spLocks xmlns:a="http://schemas.openxmlformats.org/drawingml/2006/main" noGrp="1"/>
          </p:cNvSpPr>
          <p:nvPr/>
        </p:nvSpPr>
        <p:spPr>
          <a:xfrm xmlns:a="http://schemas.openxmlformats.org/drawingml/2006/main">
            <a:off x="609600" y="65341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95959"/>
                </a:solidFill>
                <a:latin typeface="NanumGothic"/>
                <a:ea typeface="NanumGothic"/>
                <a:cs typeface="NanumGothic"/>
              </a:defRPr>
            </a:pPr>
            <a:r>
              <a:rPr sz="1350" b="0">
                <a:solidFill>
                  <a:srgbClr val="595959"/>
                </a:solidFill>
                <a:latin typeface="NanumGothic"/>
                <a:ea typeface="NanumGothic"/>
                <a:cs typeface="NanumGothic"/>
              </a:rPr>
              <a:t>LLM Agent · 업무 자동화</a:t>
            </a:r>
          </a:p>
        </p:txBody>
      </p:sp>
      <p:sp>
        <p:nvSpPr>
          <p:cNvPr id="5" name="">
            <a:extLst xmlns:a="http://schemas.openxmlformats.org/drawingml/2006/main">
              <a:ext uri="{FF2B5EF4-FFF2-40B4-BE49-F238E27FC236}">
                <a16:creationId xmlns:a16="http://schemas.microsoft.com/office/drawing/2014/main" id="{71044356-2E41-46E7-86E2-DE2423F55C25}"/>
              </a:ext>
            </a:extLst>
          </p:cNvPr>
          <p:cNvSpPr>
            <a:spLocks xmlns:a="http://schemas.openxmlformats.org/drawingml/2006/main" noGrp="1"/>
          </p:cNvSpPr>
          <p:nvPr/>
        </p:nvSpPr>
        <p:spPr>
          <a:xfrm xmlns:a="http://schemas.openxmlformats.org/drawingml/2006/main">
            <a:off x="10629900" y="65055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161616"/>
                </a:solidFill>
                <a:latin typeface="NanumGothic"/>
                <a:ea typeface="NanumGothic"/>
                <a:cs typeface="NanumGothic"/>
              </a:defRPr>
            </a:pPr>
            <a:r>
              <a:rPr sz="1500" b="0">
                <a:solidFill>
                  <a:srgbClr val="161616"/>
                </a:solidFill>
                <a:latin typeface="NanumGothic"/>
                <a:ea typeface="NanumGothic"/>
                <a:cs typeface="NanumGothic"/>
              </a:rPr>
              <a:t>200</a:t>
            </a:r>
          </a:p>
        </p:txBody>
      </p:sp>
      <p:sp>
        <p:nvSpPr>
          <p:cNvPr id="6" name="">
            <a:extLst xmlns:a="http://schemas.openxmlformats.org/drawingml/2006/main">
              <a:ext uri="{FF2B5EF4-FFF2-40B4-BE49-F238E27FC236}">
                <a16:creationId xmlns:a16="http://schemas.microsoft.com/office/drawing/2014/main" id="{15200C5E-2141-457D-B9D9-17781A6CF1AA}"/>
              </a:ext>
            </a:extLst>
          </p:cNvPr>
          <p:cNvSpPr>
            <a:spLocks xmlns:a="http://schemas.openxmlformats.org/drawingml/2006/main" noGrp="1"/>
          </p:cNvSpPr>
          <p:nvPr/>
        </p:nvSpPr>
        <p:spPr>
          <a:xfrm xmlns:a="http://schemas.openxmlformats.org/drawingml/2006/main">
            <a:off x="609600" y="2152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100" b="1">
                <a:solidFill>
                  <a:srgbClr val="161616"/>
                </a:solidFill>
                <a:latin typeface="NanumGothic"/>
                <a:ea typeface="NanumGothic"/>
                <a:cs typeface="NanumGothic"/>
              </a:defRPr>
            </a:pPr>
            <a:r>
              <a:rPr sz="5100" b="1">
                <a:solidFill>
                  <a:srgbClr val="161616"/>
                </a:solidFill>
                <a:latin typeface="NanumGothic"/>
                <a:ea typeface="NanumGothic"/>
                <a:cs typeface="NanumGothic"/>
              </a:rPr>
              <a:t>17:30–18:00</a:t>
            </a:r>
          </a:p>
        </p:txBody>
      </p:sp>
      <p:sp>
        <p:nvSpPr>
          <p:cNvPr id="7" name="">
            <a:extLst xmlns:a="http://schemas.openxmlformats.org/drawingml/2006/main">
              <a:ext uri="{FF2B5EF4-FFF2-40B4-BE49-F238E27FC236}">
                <a16:creationId xmlns:a16="http://schemas.microsoft.com/office/drawing/2014/main" id="{30FBF03C-7704-46B0-8599-77A9C7601C67}"/>
              </a:ext>
            </a:extLst>
          </p:cNvPr>
          <p:cNvSpPr>
            <a:spLocks xmlns:a="http://schemas.openxmlformats.org/drawingml/2006/main" noGrp="1"/>
          </p:cNvSpPr>
          <p:nvPr/>
        </p:nvSpPr>
        <p:spPr>
          <a:xfrm xmlns:a="http://schemas.openxmlformats.org/drawingml/2006/main">
            <a:off x="609600" y="37719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850" b="0">
                <a:solidFill>
                  <a:srgbClr val="161616"/>
                </a:solidFill>
                <a:latin typeface="NanumGothic"/>
                <a:ea typeface="NanumGothic"/>
                <a:cs typeface="NanumGothic"/>
              </a:defRPr>
            </a:pPr>
            <a:r>
              <a:rPr sz="2850" b="0">
                <a:solidFill>
                  <a:srgbClr val="161616"/>
                </a:solidFill>
                <a:latin typeface="NanumGothic"/>
                <a:ea typeface="NanumGothic"/>
                <a:cs typeface="NanumGothic"/>
              </a:rPr>
              <a:t>질문 · 실행 오류 복구 · 다음 주 개인 과제</a:t>
            </a:r>
          </a:p>
        </p:txBody>
      </p:sp>
    </p:spTree>
    <p:extLst>
      <p:ext uri="{BB962C8B-B14F-4D97-AF65-F5344CB8AC3E}">
        <p14:creationId xmlns:p14="http://schemas.microsoft.com/office/powerpoint/2010/main" val="226990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2026-09-12T22:32:39.9940000Z</dcterms:created>
  <dcterms:modified xsi:type="dcterms:W3CDTF">2026-09-12T22:32:39.9940000Z</dcterms:modified>
</coreProperties>
</file>